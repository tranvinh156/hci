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slide+xml" PartName="/ppt/slides/slide15.xml"/>
  <Override ContentType="application/vnd.openxmlformats-officedocument.presentationml.slide+xml" PartName="/ppt/slides/slide16.xml"/>
  <Override ContentType="application/vnd.openxmlformats-officedocument.presentationml.slide+xml" PartName="/ppt/slides/slide17.xml"/>
  <Override ContentType="application/vnd.openxmlformats-officedocument.presentationml.slide+xml" PartName="/ppt/slides/slide18.xml"/>
  <Override ContentType="application/vnd.openxmlformats-officedocument.presentationml.slide+xml" PartName="/ppt/slides/slide19.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22.xml"/>
  <Override ContentType="application/vnd.openxmlformats-officedocument.presentationml.slide+xml" PartName="/ppt/slides/slide23.xml"/>
  <Override ContentType="application/vnd.openxmlformats-officedocument.presentationml.slide+xml" PartName="/ppt/slides/slide24.xml"/>
  <Override ContentType="application/vnd.openxmlformats-officedocument.presentationml.slide+xml" PartName="/ppt/slides/slide25.xml"/>
  <Override ContentType="application/vnd.openxmlformats-officedocument.presentationml.slide+xml" PartName="/ppt/slides/slide26.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Lst>
  <p:sldSz cx="18288000" cy="10287000"/>
  <p:notesSz cx="6858000" cy="9144000"/>
  <p:embeddedFontLst>
    <p:embeddedFont>
      <p:font typeface="Agrandir Bold" charset="1" panose="00000800000000000000"/>
      <p:regular r:id="rId32"/>
    </p:embeddedFont>
    <p:embeddedFont>
      <p:font typeface="Agrandir" charset="1" panose="00000500000000000000"/>
      <p:regular r:id="rId33"/>
    </p:embeddedFont>
    <p:embeddedFont>
      <p:font typeface="Agrandir Grand" charset="1" panose="00000507000000000000"/>
      <p:regular r:id="rId34"/>
    </p:embeddedFont>
    <p:embeddedFont>
      <p:font typeface="Agrandir Grand Bold" charset="1" panose="00000807000000000000"/>
      <p:regular r:id="rId35"/>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19" Target="slides/slide14.xml" Type="http://schemas.openxmlformats.org/officeDocument/2006/relationships/slide"/><Relationship Id="rId2" Target="presProps.xml" Type="http://schemas.openxmlformats.org/officeDocument/2006/relationships/presProps"/><Relationship Id="rId20" Target="slides/slide15.xml" Type="http://schemas.openxmlformats.org/officeDocument/2006/relationships/slide"/><Relationship Id="rId21" Target="slides/slide16.xml" Type="http://schemas.openxmlformats.org/officeDocument/2006/relationships/slide"/><Relationship Id="rId22" Target="slides/slide17.xml" Type="http://schemas.openxmlformats.org/officeDocument/2006/relationships/slide"/><Relationship Id="rId23" Target="slides/slide18.xml" Type="http://schemas.openxmlformats.org/officeDocument/2006/relationships/slide"/><Relationship Id="rId24" Target="slides/slide19.xml" Type="http://schemas.openxmlformats.org/officeDocument/2006/relationships/slide"/><Relationship Id="rId25" Target="slides/slide20.xml" Type="http://schemas.openxmlformats.org/officeDocument/2006/relationships/slide"/><Relationship Id="rId26" Target="slides/slide21.xml" Type="http://schemas.openxmlformats.org/officeDocument/2006/relationships/slide"/><Relationship Id="rId27" Target="slides/slide22.xml" Type="http://schemas.openxmlformats.org/officeDocument/2006/relationships/slide"/><Relationship Id="rId28" Target="slides/slide23.xml" Type="http://schemas.openxmlformats.org/officeDocument/2006/relationships/slide"/><Relationship Id="rId29" Target="slides/slide24.xml" Type="http://schemas.openxmlformats.org/officeDocument/2006/relationships/slide"/><Relationship Id="rId3" Target="viewProps.xml" Type="http://schemas.openxmlformats.org/officeDocument/2006/relationships/viewProps"/><Relationship Id="rId30" Target="slides/slide25.xml" Type="http://schemas.openxmlformats.org/officeDocument/2006/relationships/slide"/><Relationship Id="rId31" Target="slides/slide26.xml" Type="http://schemas.openxmlformats.org/officeDocument/2006/relationships/slide"/><Relationship Id="rId32" Target="fonts/font32.fntdata" Type="http://schemas.openxmlformats.org/officeDocument/2006/relationships/font"/><Relationship Id="rId33" Target="fonts/font33.fntdata" Type="http://schemas.openxmlformats.org/officeDocument/2006/relationships/font"/><Relationship Id="rId34" Target="fonts/font34.fntdata" Type="http://schemas.openxmlformats.org/officeDocument/2006/relationships/font"/><Relationship Id="rId35" Target="fonts/font35.fntdata" Type="http://schemas.openxmlformats.org/officeDocument/2006/relationships/font"/><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2.pn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 Id="rId3" Target="../media/image4.sv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5.png" Type="http://schemas.openxmlformats.org/officeDocument/2006/relationships/image"/><Relationship Id="rId3" Target="../media/image6.sv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 Id="rId3" Target="../media/image4.svg" Type="http://schemas.openxmlformats.org/officeDocument/2006/relationships/image"/><Relationship Id="rId4" Target="../media/image7.png" Type="http://schemas.openxmlformats.org/officeDocument/2006/relationships/image"/><Relationship Id="rId5" Target="../media/image8.sv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 Id="rId3" Target="../media/image4.svg" Type="http://schemas.openxmlformats.org/officeDocument/2006/relationships/image"/><Relationship Id="rId4" Target="../media/image7.png" Type="http://schemas.openxmlformats.org/officeDocument/2006/relationships/image"/><Relationship Id="rId5" Target="../media/image8.svg" Type="http://schemas.openxmlformats.org/officeDocument/2006/relationships/image"/><Relationship Id="rId6" Target="../media/image9.png" Type="http://schemas.openxmlformats.org/officeDocument/2006/relationships/image"/><Relationship Id="rId7" Target="../media/image10.sv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 Id="rId3" Target="../media/image4.svg" Type="http://schemas.openxmlformats.org/officeDocument/2006/relationships/image"/><Relationship Id="rId4" Target="../media/image9.png" Type="http://schemas.openxmlformats.org/officeDocument/2006/relationships/image"/><Relationship Id="rId5" Target="../media/image10.svg" Type="http://schemas.openxmlformats.org/officeDocument/2006/relationships/image"/><Relationship Id="rId6" Target="../media/image5.png" Type="http://schemas.openxmlformats.org/officeDocument/2006/relationships/image"/><Relationship Id="rId7" Target="../media/image6.sv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 Id="rId3" Target="../media/image4.svg" Type="http://schemas.openxmlformats.org/officeDocument/2006/relationships/image"/><Relationship Id="rId4" Target="../media/image11.png" Type="http://schemas.openxmlformats.org/officeDocument/2006/relationships/image"/><Relationship Id="rId5" Target="../media/image12.sv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 Id="rId3" Target="../media/image4.sv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 Id="rId3" Target="../media/image4.sv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 Id="rId3" Target="../media/image4.svg" Type="http://schemas.openxmlformats.org/officeDocument/2006/relationships/image"/><Relationship Id="rId4" Target="../media/image7.png" Type="http://schemas.openxmlformats.org/officeDocument/2006/relationships/image"/><Relationship Id="rId5" Target="../media/image8.svg" Type="http://schemas.openxmlformats.org/officeDocument/2006/relationships/image"/><Relationship Id="rId6" Target="../media/image9.png" Type="http://schemas.openxmlformats.org/officeDocument/2006/relationships/image"/><Relationship Id="rId7" Target="../media/image10.sv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 Id="rId3" Target="../media/image4.svg" Type="http://schemas.openxmlformats.org/officeDocument/2006/relationships/image"/><Relationship Id="rId4" Target="../media/image7.png" Type="http://schemas.openxmlformats.org/officeDocument/2006/relationships/image"/><Relationship Id="rId5" Target="../media/image8.sv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 Id="rId3" Target="../media/image4.svg" Type="http://schemas.openxmlformats.org/officeDocument/2006/relationships/image"/><Relationship Id="rId4" Target="../media/image9.png" Type="http://schemas.openxmlformats.org/officeDocument/2006/relationships/image"/><Relationship Id="rId5" Target="../media/image10.svg" Type="http://schemas.openxmlformats.org/officeDocument/2006/relationships/image"/></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 Id="rId3" Target="../media/image4.svg" Type="http://schemas.openxmlformats.org/officeDocument/2006/relationships/image"/><Relationship Id="rId4" Target="../media/image9.png" Type="http://schemas.openxmlformats.org/officeDocument/2006/relationships/image"/><Relationship Id="rId5" Target="../media/image10.svg" Type="http://schemas.openxmlformats.org/officeDocument/2006/relationships/image"/></Relationships>
</file>

<file path=ppt/slides/_rels/slide1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 Id="rId3" Target="../media/image4.svg" Type="http://schemas.openxmlformats.org/officeDocument/2006/relationships/image"/><Relationship Id="rId4" Target="../media/image9.png" Type="http://schemas.openxmlformats.org/officeDocument/2006/relationships/image"/><Relationship Id="rId5" Target="../media/image10.svg" Type="http://schemas.openxmlformats.org/officeDocument/2006/relationships/image"/></Relationships>
</file>

<file path=ppt/slides/_rels/slide1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 Id="rId3" Target="../media/image4.svg" Type="http://schemas.openxmlformats.org/officeDocument/2006/relationships/image"/><Relationship Id="rId4" Target="../media/image9.png" Type="http://schemas.openxmlformats.org/officeDocument/2006/relationships/image"/><Relationship Id="rId5" Target="../media/image10.svg" Type="http://schemas.openxmlformats.org/officeDocument/2006/relationships/image"/></Relationships>
</file>

<file path=ppt/slides/_rels/slide1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 Id="rId3" Target="../media/image4.svg" Type="http://schemas.openxmlformats.org/officeDocument/2006/relationships/image"/><Relationship Id="rId4" Target="../media/image9.png" Type="http://schemas.openxmlformats.org/officeDocument/2006/relationships/image"/><Relationship Id="rId5" Target="../media/image10.svg" Type="http://schemas.openxmlformats.org/officeDocument/2006/relationships/image"/></Relationships>
</file>

<file path=ppt/slides/_rels/slide1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 Id="rId3" Target="../media/image4.svg" Type="http://schemas.openxmlformats.org/officeDocument/2006/relationships/image"/><Relationship Id="rId4" Target="../media/image9.png" Type="http://schemas.openxmlformats.org/officeDocument/2006/relationships/image"/><Relationship Id="rId5" Target="../media/image10.svg" Type="http://schemas.openxmlformats.org/officeDocument/2006/relationships/image"/></Relationships>
</file>

<file path=ppt/slides/_rels/slide1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 Id="rId3" Target="../media/image4.svg" Type="http://schemas.openxmlformats.org/officeDocument/2006/relationships/image"/><Relationship Id="rId4" Target="../media/image9.png" Type="http://schemas.openxmlformats.org/officeDocument/2006/relationships/image"/><Relationship Id="rId5" Target="../media/image10.svg" Type="http://schemas.openxmlformats.org/officeDocument/2006/relationships/image"/></Relationships>
</file>

<file path=ppt/slides/_rels/slide1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 Id="rId3" Target="../media/image4.svg" Type="http://schemas.openxmlformats.org/officeDocument/2006/relationships/image"/><Relationship Id="rId4" Target="../media/image9.png" Type="http://schemas.openxmlformats.org/officeDocument/2006/relationships/image"/><Relationship Id="rId5" Target="../media/image10.svg" Type="http://schemas.openxmlformats.org/officeDocument/2006/relationships/image"/></Relationships>
</file>

<file path=ppt/slides/_rels/slide2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 Id="rId3" Target="../media/image4.svg" Type="http://schemas.openxmlformats.org/officeDocument/2006/relationships/image"/><Relationship Id="rId4" Target="../media/image13.png" Type="http://schemas.openxmlformats.org/officeDocument/2006/relationships/image"/><Relationship Id="rId5" Target="../media/image14.svg" Type="http://schemas.openxmlformats.org/officeDocument/2006/relationships/image"/></Relationships>
</file>

<file path=ppt/slides/_rels/slide2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 Id="rId3" Target="../media/image4.svg" Type="http://schemas.openxmlformats.org/officeDocument/2006/relationships/image"/></Relationships>
</file>

<file path=ppt/slides/_rels/slide2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 Id="rId3" Target="../media/image4.svg" Type="http://schemas.openxmlformats.org/officeDocument/2006/relationships/image"/></Relationships>
</file>

<file path=ppt/slides/_rels/slide2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 Id="rId3" Target="../media/image4.svg" Type="http://schemas.openxmlformats.org/officeDocument/2006/relationships/image"/><Relationship Id="rId4" Target="../media/image13.png" Type="http://schemas.openxmlformats.org/officeDocument/2006/relationships/image"/><Relationship Id="rId5" Target="../media/image14.svg" Type="http://schemas.openxmlformats.org/officeDocument/2006/relationships/image"/></Relationships>
</file>

<file path=ppt/slides/_rels/slide2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 Id="rId3" Target="../media/image4.svg" Type="http://schemas.openxmlformats.org/officeDocument/2006/relationships/image"/></Relationships>
</file>

<file path=ppt/slides/_rels/slide2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 Id="rId3" Target="../media/image4.svg" Type="http://schemas.openxmlformats.org/officeDocument/2006/relationships/image"/><Relationship Id="rId4" Target="../media/image2.png" Type="http://schemas.openxmlformats.org/officeDocument/2006/relationships/image"/></Relationships>
</file>

<file path=ppt/slides/_rels/slide2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5.png" Type="http://schemas.openxmlformats.org/officeDocument/2006/relationships/image"/><Relationship Id="rId3" Target="../media/image16.sv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22" r="0" b="-9222"/>
            </a:stretch>
          </a:blipFill>
        </p:spPr>
      </p:sp>
      <p:grpSp>
        <p:nvGrpSpPr>
          <p:cNvPr name="Group 3" id="3"/>
          <p:cNvGrpSpPr/>
          <p:nvPr/>
        </p:nvGrpSpPr>
        <p:grpSpPr>
          <a:xfrm rot="0">
            <a:off x="15958661" y="-1019379"/>
            <a:ext cx="3853113" cy="3853113"/>
            <a:chOff x="0" y="0"/>
            <a:chExt cx="812800" cy="812800"/>
          </a:xfrm>
        </p:grpSpPr>
        <p:sp>
          <p:nvSpPr>
            <p:cNvPr name="Freeform 4" id="4"/>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F28EC"/>
            </a:solidFill>
          </p:spPr>
        </p:sp>
        <p:sp>
          <p:nvSpPr>
            <p:cNvPr name="TextBox 5" id="5"/>
            <p:cNvSpPr txBox="true"/>
            <p:nvPr/>
          </p:nvSpPr>
          <p:spPr>
            <a:xfrm>
              <a:off x="76200" y="38100"/>
              <a:ext cx="660400" cy="698500"/>
            </a:xfrm>
            <a:prstGeom prst="rect">
              <a:avLst/>
            </a:prstGeom>
          </p:spPr>
          <p:txBody>
            <a:bodyPr anchor="ctr" rtlCol="false" tIns="50800" lIns="50800" bIns="50800" rIns="50800"/>
            <a:lstStyle/>
            <a:p>
              <a:pPr algn="ctr">
                <a:lnSpc>
                  <a:spcPts val="2659"/>
                </a:lnSpc>
                <a:spcBef>
                  <a:spcPct val="0"/>
                </a:spcBef>
              </a:pPr>
            </a:p>
          </p:txBody>
        </p:sp>
      </p:grpSp>
      <p:grpSp>
        <p:nvGrpSpPr>
          <p:cNvPr name="Group 6" id="6"/>
          <p:cNvGrpSpPr/>
          <p:nvPr/>
        </p:nvGrpSpPr>
        <p:grpSpPr>
          <a:xfrm rot="0">
            <a:off x="-1076288" y="628650"/>
            <a:ext cx="9658350" cy="9658350"/>
            <a:chOff x="0" y="0"/>
            <a:chExt cx="812800" cy="812800"/>
          </a:xfrm>
        </p:grpSpPr>
        <p:sp>
          <p:nvSpPr>
            <p:cNvPr name="Freeform 7" id="7"/>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F28EC"/>
            </a:solidFill>
          </p:spPr>
        </p:sp>
        <p:sp>
          <p:nvSpPr>
            <p:cNvPr name="TextBox 8" id="8"/>
            <p:cNvSpPr txBox="true"/>
            <p:nvPr/>
          </p:nvSpPr>
          <p:spPr>
            <a:xfrm>
              <a:off x="76200" y="38100"/>
              <a:ext cx="660400" cy="698500"/>
            </a:xfrm>
            <a:prstGeom prst="rect">
              <a:avLst/>
            </a:prstGeom>
          </p:spPr>
          <p:txBody>
            <a:bodyPr anchor="ctr" rtlCol="false" tIns="50800" lIns="50800" bIns="50800" rIns="50800"/>
            <a:lstStyle/>
            <a:p>
              <a:pPr algn="ctr">
                <a:lnSpc>
                  <a:spcPts val="2659"/>
                </a:lnSpc>
                <a:spcBef>
                  <a:spcPct val="0"/>
                </a:spcBef>
              </a:pPr>
            </a:p>
          </p:txBody>
        </p:sp>
      </p:grpSp>
      <p:grpSp>
        <p:nvGrpSpPr>
          <p:cNvPr name="Group 9" id="9"/>
          <p:cNvGrpSpPr/>
          <p:nvPr/>
        </p:nvGrpSpPr>
        <p:grpSpPr>
          <a:xfrm rot="0">
            <a:off x="17509719" y="9508719"/>
            <a:ext cx="778281" cy="778281"/>
            <a:chOff x="0" y="0"/>
            <a:chExt cx="204979" cy="204979"/>
          </a:xfrm>
        </p:grpSpPr>
        <p:sp>
          <p:nvSpPr>
            <p:cNvPr name="Freeform 10" id="10"/>
            <p:cNvSpPr/>
            <p:nvPr/>
          </p:nvSpPr>
          <p:spPr>
            <a:xfrm flipH="false" flipV="false" rot="0">
              <a:off x="0" y="0"/>
              <a:ext cx="204979" cy="204979"/>
            </a:xfrm>
            <a:custGeom>
              <a:avLst/>
              <a:gdLst/>
              <a:ahLst/>
              <a:cxnLst/>
              <a:rect r="r" b="b" t="t" l="l"/>
              <a:pathLst>
                <a:path h="204979" w="204979">
                  <a:moveTo>
                    <a:pt x="0" y="0"/>
                  </a:moveTo>
                  <a:lnTo>
                    <a:pt x="204979" y="0"/>
                  </a:lnTo>
                  <a:lnTo>
                    <a:pt x="204979" y="204979"/>
                  </a:lnTo>
                  <a:lnTo>
                    <a:pt x="0" y="204979"/>
                  </a:lnTo>
                  <a:close/>
                </a:path>
              </a:pathLst>
            </a:custGeom>
            <a:solidFill>
              <a:srgbClr val="0F28EC"/>
            </a:solidFill>
          </p:spPr>
        </p:sp>
        <p:sp>
          <p:nvSpPr>
            <p:cNvPr name="TextBox 11" id="11"/>
            <p:cNvSpPr txBox="true"/>
            <p:nvPr/>
          </p:nvSpPr>
          <p:spPr>
            <a:xfrm>
              <a:off x="0" y="-85725"/>
              <a:ext cx="204979" cy="290704"/>
            </a:xfrm>
            <a:prstGeom prst="rect">
              <a:avLst/>
            </a:prstGeom>
          </p:spPr>
          <p:txBody>
            <a:bodyPr anchor="ctr" rtlCol="false" tIns="50800" lIns="50800" bIns="50800" rIns="50800"/>
            <a:lstStyle/>
            <a:p>
              <a:pPr algn="ctr">
                <a:lnSpc>
                  <a:spcPts val="2659"/>
                </a:lnSpc>
              </a:pPr>
            </a:p>
          </p:txBody>
        </p:sp>
      </p:grpSp>
      <p:sp>
        <p:nvSpPr>
          <p:cNvPr name="TextBox 12" id="12"/>
          <p:cNvSpPr txBox="true"/>
          <p:nvPr/>
        </p:nvSpPr>
        <p:spPr>
          <a:xfrm rot="0">
            <a:off x="716660" y="3766820"/>
            <a:ext cx="7568706" cy="3105785"/>
          </a:xfrm>
          <a:prstGeom prst="rect">
            <a:avLst/>
          </a:prstGeom>
        </p:spPr>
        <p:txBody>
          <a:bodyPr anchor="t" rtlCol="false" tIns="0" lIns="0" bIns="0" rIns="0">
            <a:spAutoFit/>
          </a:bodyPr>
          <a:lstStyle/>
          <a:p>
            <a:pPr algn="l">
              <a:lnSpc>
                <a:spcPts val="7840"/>
              </a:lnSpc>
              <a:spcBef>
                <a:spcPct val="0"/>
              </a:spcBef>
            </a:pPr>
            <a:r>
              <a:rPr lang="en-US" b="true" sz="5600">
                <a:solidFill>
                  <a:srgbClr val="FFFFFF"/>
                </a:solidFill>
                <a:latin typeface="Agrandir Bold"/>
                <a:ea typeface="Agrandir Bold"/>
                <a:cs typeface="Agrandir Bold"/>
                <a:sym typeface="Agrandir Bold"/>
              </a:rPr>
              <a:t>Hệ thống giúp trẻ khiếm khuyết học ngôn ngữ ký hiệu</a:t>
            </a:r>
          </a:p>
        </p:txBody>
      </p:sp>
      <p:sp>
        <p:nvSpPr>
          <p:cNvPr name="TextBox 13" id="13"/>
          <p:cNvSpPr txBox="true"/>
          <p:nvPr/>
        </p:nvSpPr>
        <p:spPr>
          <a:xfrm rot="0">
            <a:off x="17736317" y="9669577"/>
            <a:ext cx="382236" cy="370840"/>
          </a:xfrm>
          <a:prstGeom prst="rect">
            <a:avLst/>
          </a:prstGeom>
        </p:spPr>
        <p:txBody>
          <a:bodyPr anchor="t" rtlCol="false" tIns="0" lIns="0" bIns="0" rIns="0">
            <a:spAutoFit/>
          </a:bodyPr>
          <a:lstStyle/>
          <a:p>
            <a:pPr algn="l">
              <a:lnSpc>
                <a:spcPts val="2659"/>
              </a:lnSpc>
              <a:spcBef>
                <a:spcPct val="0"/>
              </a:spcBef>
            </a:pPr>
            <a:r>
              <a:rPr lang="en-US" b="true" sz="1899">
                <a:solidFill>
                  <a:srgbClr val="FFFFFF"/>
                </a:solidFill>
                <a:latin typeface="Agrandir Bold"/>
                <a:ea typeface="Agrandir Bold"/>
                <a:cs typeface="Agrandir Bold"/>
                <a:sym typeface="Agrandir Bold"/>
              </a:rPr>
              <a:t>01</a:t>
            </a:r>
          </a:p>
        </p:txBody>
      </p:sp>
      <p:sp>
        <p:nvSpPr>
          <p:cNvPr name="Freeform 14" id="14"/>
          <p:cNvSpPr/>
          <p:nvPr/>
        </p:nvSpPr>
        <p:spPr>
          <a:xfrm flipH="false" flipV="false" rot="0">
            <a:off x="10464628" y="1726422"/>
            <a:ext cx="7462806" cy="7462806"/>
          </a:xfrm>
          <a:custGeom>
            <a:avLst/>
            <a:gdLst/>
            <a:ahLst/>
            <a:cxnLst/>
            <a:rect r="r" b="b" t="t" l="l"/>
            <a:pathLst>
              <a:path h="7462806" w="7462806">
                <a:moveTo>
                  <a:pt x="0" y="0"/>
                </a:moveTo>
                <a:lnTo>
                  <a:pt x="7462807" y="0"/>
                </a:lnTo>
                <a:lnTo>
                  <a:pt x="7462807" y="7462806"/>
                </a:lnTo>
                <a:lnTo>
                  <a:pt x="0" y="7462806"/>
                </a:lnTo>
                <a:lnTo>
                  <a:pt x="0" y="0"/>
                </a:lnTo>
                <a:close/>
              </a:path>
            </a:pathLst>
          </a:custGeom>
          <a:blipFill>
            <a:blip r:embed="rId3"/>
            <a:stretch>
              <a:fillRect l="0" t="0" r="0" b="0"/>
            </a:stretch>
          </a:blipFill>
        </p:spPr>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bg>
      <p:bgPr>
        <a:solidFill>
          <a:srgbClr val="C7D3FF"/>
        </a:solidFill>
      </p:bgPr>
    </p:bg>
    <p:spTree>
      <p:nvGrpSpPr>
        <p:cNvPr id="1" name=""/>
        <p:cNvGrpSpPr/>
        <p:nvPr/>
      </p:nvGrpSpPr>
      <p:grpSpPr>
        <a:xfrm>
          <a:off x="0" y="0"/>
          <a:ext cx="0" cy="0"/>
          <a:chOff x="0" y="0"/>
          <a:chExt cx="0" cy="0"/>
        </a:xfrm>
      </p:grpSpPr>
      <p:grpSp>
        <p:nvGrpSpPr>
          <p:cNvPr name="Group 2" id="2"/>
          <p:cNvGrpSpPr/>
          <p:nvPr/>
        </p:nvGrpSpPr>
        <p:grpSpPr>
          <a:xfrm rot="0">
            <a:off x="-217699" y="525326"/>
            <a:ext cx="17904046" cy="1338906"/>
            <a:chOff x="0" y="0"/>
            <a:chExt cx="4715469" cy="352634"/>
          </a:xfrm>
        </p:grpSpPr>
        <p:sp>
          <p:nvSpPr>
            <p:cNvPr name="Freeform 3" id="3"/>
            <p:cNvSpPr/>
            <p:nvPr/>
          </p:nvSpPr>
          <p:spPr>
            <a:xfrm flipH="false" flipV="false" rot="0">
              <a:off x="0" y="0"/>
              <a:ext cx="4715469" cy="352634"/>
            </a:xfrm>
            <a:custGeom>
              <a:avLst/>
              <a:gdLst/>
              <a:ahLst/>
              <a:cxnLst/>
              <a:rect r="r" b="b" t="t" l="l"/>
              <a:pathLst>
                <a:path h="352634" w="4715469">
                  <a:moveTo>
                    <a:pt x="0" y="0"/>
                  </a:moveTo>
                  <a:lnTo>
                    <a:pt x="4715469" y="0"/>
                  </a:lnTo>
                  <a:lnTo>
                    <a:pt x="4715469" y="352634"/>
                  </a:lnTo>
                  <a:lnTo>
                    <a:pt x="0" y="352634"/>
                  </a:lnTo>
                  <a:close/>
                </a:path>
              </a:pathLst>
            </a:custGeom>
            <a:solidFill>
              <a:srgbClr val="1022B1"/>
            </a:solidFill>
          </p:spPr>
        </p:sp>
        <p:sp>
          <p:nvSpPr>
            <p:cNvPr name="TextBox 4" id="4"/>
            <p:cNvSpPr txBox="true"/>
            <p:nvPr/>
          </p:nvSpPr>
          <p:spPr>
            <a:xfrm>
              <a:off x="0" y="-85725"/>
              <a:ext cx="4715469" cy="438359"/>
            </a:xfrm>
            <a:prstGeom prst="rect">
              <a:avLst/>
            </a:prstGeom>
          </p:spPr>
          <p:txBody>
            <a:bodyPr anchor="ctr" rtlCol="false" tIns="50800" lIns="50800" bIns="50800" rIns="50800"/>
            <a:lstStyle/>
            <a:p>
              <a:pPr algn="ctr">
                <a:lnSpc>
                  <a:spcPts val="2659"/>
                </a:lnSpc>
              </a:pPr>
            </a:p>
          </p:txBody>
        </p:sp>
      </p:grpSp>
      <p:grpSp>
        <p:nvGrpSpPr>
          <p:cNvPr name="Group 5" id="5"/>
          <p:cNvGrpSpPr/>
          <p:nvPr/>
        </p:nvGrpSpPr>
        <p:grpSpPr>
          <a:xfrm rot="0">
            <a:off x="15958661" y="-1019379"/>
            <a:ext cx="3853113" cy="3853113"/>
            <a:chOff x="0" y="0"/>
            <a:chExt cx="812800" cy="812800"/>
          </a:xfrm>
        </p:grpSpPr>
        <p:sp>
          <p:nvSpPr>
            <p:cNvPr name="Freeform 6" id="6"/>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F28EC"/>
            </a:solidFill>
          </p:spPr>
        </p:sp>
        <p:sp>
          <p:nvSpPr>
            <p:cNvPr name="TextBox 7" id="7"/>
            <p:cNvSpPr txBox="true"/>
            <p:nvPr/>
          </p:nvSpPr>
          <p:spPr>
            <a:xfrm>
              <a:off x="76200" y="38100"/>
              <a:ext cx="660400" cy="698500"/>
            </a:xfrm>
            <a:prstGeom prst="rect">
              <a:avLst/>
            </a:prstGeom>
          </p:spPr>
          <p:txBody>
            <a:bodyPr anchor="ctr" rtlCol="false" tIns="50800" lIns="50800" bIns="50800" rIns="50800"/>
            <a:lstStyle/>
            <a:p>
              <a:pPr algn="ctr">
                <a:lnSpc>
                  <a:spcPts val="2659"/>
                </a:lnSpc>
                <a:spcBef>
                  <a:spcPct val="0"/>
                </a:spcBef>
              </a:pPr>
            </a:p>
          </p:txBody>
        </p:sp>
      </p:grpSp>
      <p:sp>
        <p:nvSpPr>
          <p:cNvPr name="Freeform 8" id="8"/>
          <p:cNvSpPr/>
          <p:nvPr/>
        </p:nvSpPr>
        <p:spPr>
          <a:xfrm flipH="false" flipV="false" rot="0">
            <a:off x="17259300" y="1052847"/>
            <a:ext cx="427047" cy="427047"/>
          </a:xfrm>
          <a:custGeom>
            <a:avLst/>
            <a:gdLst/>
            <a:ahLst/>
            <a:cxnLst/>
            <a:rect r="r" b="b" t="t" l="l"/>
            <a:pathLst>
              <a:path h="427047" w="427047">
                <a:moveTo>
                  <a:pt x="0" y="0"/>
                </a:moveTo>
                <a:lnTo>
                  <a:pt x="427047" y="0"/>
                </a:lnTo>
                <a:lnTo>
                  <a:pt x="427047" y="427047"/>
                </a:lnTo>
                <a:lnTo>
                  <a:pt x="0" y="427047"/>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9" id="9"/>
          <p:cNvGrpSpPr/>
          <p:nvPr/>
        </p:nvGrpSpPr>
        <p:grpSpPr>
          <a:xfrm rot="0">
            <a:off x="17509719" y="9508719"/>
            <a:ext cx="778281" cy="778281"/>
            <a:chOff x="0" y="0"/>
            <a:chExt cx="204979" cy="204979"/>
          </a:xfrm>
        </p:grpSpPr>
        <p:sp>
          <p:nvSpPr>
            <p:cNvPr name="Freeform 10" id="10"/>
            <p:cNvSpPr/>
            <p:nvPr/>
          </p:nvSpPr>
          <p:spPr>
            <a:xfrm flipH="false" flipV="false" rot="0">
              <a:off x="0" y="0"/>
              <a:ext cx="204979" cy="204979"/>
            </a:xfrm>
            <a:custGeom>
              <a:avLst/>
              <a:gdLst/>
              <a:ahLst/>
              <a:cxnLst/>
              <a:rect r="r" b="b" t="t" l="l"/>
              <a:pathLst>
                <a:path h="204979" w="204979">
                  <a:moveTo>
                    <a:pt x="0" y="0"/>
                  </a:moveTo>
                  <a:lnTo>
                    <a:pt x="204979" y="0"/>
                  </a:lnTo>
                  <a:lnTo>
                    <a:pt x="204979" y="204979"/>
                  </a:lnTo>
                  <a:lnTo>
                    <a:pt x="0" y="204979"/>
                  </a:lnTo>
                  <a:close/>
                </a:path>
              </a:pathLst>
            </a:custGeom>
            <a:solidFill>
              <a:srgbClr val="0F28EC"/>
            </a:solidFill>
          </p:spPr>
        </p:sp>
        <p:sp>
          <p:nvSpPr>
            <p:cNvPr name="TextBox 11" id="11"/>
            <p:cNvSpPr txBox="true"/>
            <p:nvPr/>
          </p:nvSpPr>
          <p:spPr>
            <a:xfrm>
              <a:off x="0" y="-85725"/>
              <a:ext cx="204979" cy="290704"/>
            </a:xfrm>
            <a:prstGeom prst="rect">
              <a:avLst/>
            </a:prstGeom>
          </p:spPr>
          <p:txBody>
            <a:bodyPr anchor="ctr" rtlCol="false" tIns="50800" lIns="50800" bIns="50800" rIns="50800"/>
            <a:lstStyle/>
            <a:p>
              <a:pPr algn="ctr">
                <a:lnSpc>
                  <a:spcPts val="2659"/>
                </a:lnSpc>
              </a:pPr>
            </a:p>
          </p:txBody>
        </p:sp>
      </p:grpSp>
      <p:graphicFrame>
        <p:nvGraphicFramePr>
          <p:cNvPr name="Table 12" id="12"/>
          <p:cNvGraphicFramePr>
            <a:graphicFrameLocks noGrp="true"/>
          </p:cNvGraphicFramePr>
          <p:nvPr/>
        </p:nvGraphicFramePr>
        <p:xfrm>
          <a:off x="1720059" y="3000375"/>
          <a:ext cx="14449773" cy="6076950"/>
        </p:xfrm>
        <a:graphic>
          <a:graphicData uri="http://schemas.openxmlformats.org/drawingml/2006/table">
            <a:tbl>
              <a:tblPr/>
              <a:tblGrid>
                <a:gridCol w="1899702"/>
                <a:gridCol w="3204100"/>
                <a:gridCol w="7355527"/>
                <a:gridCol w="1990444"/>
              </a:tblGrid>
              <a:tr h="1217307">
                <a:tc>
                  <a:txBody>
                    <a:bodyPr anchor="t" rtlCol="false"/>
                    <a:lstStyle/>
                    <a:p>
                      <a:pPr algn="ctr">
                        <a:lnSpc>
                          <a:spcPts val="2939"/>
                        </a:lnSpc>
                        <a:defRPr/>
                      </a:pPr>
                      <a:r>
                        <a:rPr lang="en-US" sz="2099" b="true">
                          <a:solidFill>
                            <a:srgbClr val="000000"/>
                          </a:solidFill>
                          <a:latin typeface="Agrandir Bold"/>
                          <a:ea typeface="Agrandir Bold"/>
                          <a:cs typeface="Agrandir Bold"/>
                          <a:sym typeface="Agrandir Bold"/>
                        </a:rPr>
                        <a:t>Mã sinh viên</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2939"/>
                        </a:lnSpc>
                        <a:defRPr/>
                      </a:pPr>
                      <a:r>
                        <a:rPr lang="en-US" sz="2099" b="true">
                          <a:solidFill>
                            <a:srgbClr val="000000"/>
                          </a:solidFill>
                          <a:latin typeface="Agrandir Bold"/>
                          <a:ea typeface="Agrandir Bold"/>
                          <a:cs typeface="Agrandir Bold"/>
                          <a:sym typeface="Agrandir Bold"/>
                        </a:rPr>
                        <a:t>Họ và tên</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2939"/>
                        </a:lnSpc>
                        <a:defRPr/>
                      </a:pPr>
                      <a:r>
                        <a:rPr lang="en-US" sz="2099" b="true">
                          <a:solidFill>
                            <a:srgbClr val="000000"/>
                          </a:solidFill>
                          <a:latin typeface="Agrandir Bold"/>
                          <a:ea typeface="Agrandir Bold"/>
                          <a:cs typeface="Agrandir Bold"/>
                          <a:sym typeface="Agrandir Bold"/>
                        </a:rPr>
                        <a:t>Công việc</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2939"/>
                        </a:lnSpc>
                        <a:defRPr/>
                      </a:pPr>
                      <a:r>
                        <a:rPr lang="en-US" sz="2099" b="true">
                          <a:solidFill>
                            <a:srgbClr val="000000"/>
                          </a:solidFill>
                          <a:latin typeface="Agrandir Bold"/>
                          <a:ea typeface="Agrandir Bold"/>
                          <a:cs typeface="Agrandir Bold"/>
                          <a:sym typeface="Agrandir Bold"/>
                        </a:rPr>
                        <a:t>Đánh giá</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r>
              <a:tr h="1025605">
                <a:tc>
                  <a:txBody>
                    <a:bodyPr anchor="t" rtlCol="false"/>
                    <a:lstStyle/>
                    <a:p>
                      <a:pPr algn="ctr">
                        <a:lnSpc>
                          <a:spcPts val="2939"/>
                        </a:lnSpc>
                        <a:defRPr/>
                      </a:pPr>
                      <a:r>
                        <a:rPr lang="en-US" sz="2099">
                          <a:solidFill>
                            <a:srgbClr val="000000"/>
                          </a:solidFill>
                          <a:latin typeface="Agrandir"/>
                          <a:ea typeface="Agrandir"/>
                          <a:cs typeface="Agrandir"/>
                          <a:sym typeface="Agrandir"/>
                        </a:rPr>
                        <a:t>23021657</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2939"/>
                        </a:lnSpc>
                        <a:defRPr/>
                      </a:pPr>
                      <a:r>
                        <a:rPr lang="en-US" sz="2099">
                          <a:solidFill>
                            <a:srgbClr val="000000"/>
                          </a:solidFill>
                          <a:latin typeface="Agrandir"/>
                          <a:ea typeface="Agrandir"/>
                          <a:cs typeface="Agrandir"/>
                          <a:sym typeface="Agrandir"/>
                        </a:rPr>
                        <a:t>Trần Xuân Phong</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l">
                        <a:lnSpc>
                          <a:spcPts val="2939"/>
                        </a:lnSpc>
                        <a:defRPr/>
                      </a:pPr>
                      <a:r>
                        <a:rPr lang="en-US" sz="2099">
                          <a:solidFill>
                            <a:srgbClr val="000000"/>
                          </a:solidFill>
                          <a:latin typeface="Agrandir"/>
                          <a:ea typeface="Agrandir"/>
                          <a:cs typeface="Agrandir"/>
                          <a:sym typeface="Agrandir"/>
                        </a:rPr>
                        <a:t>rage bait</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2939"/>
                        </a:lnSpc>
                        <a:defRPr/>
                      </a:pPr>
                      <a:r>
                        <a:rPr lang="en-US" sz="2099">
                          <a:solidFill>
                            <a:srgbClr val="000000"/>
                          </a:solidFill>
                          <a:latin typeface="Agrandir"/>
                          <a:ea typeface="Agrandir"/>
                          <a:cs typeface="Agrandir"/>
                          <a:sym typeface="Agrandir"/>
                        </a:rPr>
                        <a:t>0</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r>
              <a:tr h="1591126">
                <a:tc>
                  <a:txBody>
                    <a:bodyPr anchor="t" rtlCol="false"/>
                    <a:lstStyle/>
                    <a:p>
                      <a:pPr algn="ctr">
                        <a:lnSpc>
                          <a:spcPts val="2939"/>
                        </a:lnSpc>
                        <a:defRPr/>
                      </a:pPr>
                      <a:r>
                        <a:rPr lang="en-US" sz="2099">
                          <a:solidFill>
                            <a:srgbClr val="000000"/>
                          </a:solidFill>
                          <a:latin typeface="Agrandir"/>
                          <a:ea typeface="Agrandir"/>
                          <a:cs typeface="Agrandir"/>
                          <a:sym typeface="Agrandir"/>
                        </a:rPr>
                        <a:t>23021669</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2939"/>
                        </a:lnSpc>
                        <a:defRPr/>
                      </a:pPr>
                      <a:r>
                        <a:rPr lang="en-US" sz="2099">
                          <a:solidFill>
                            <a:srgbClr val="000000"/>
                          </a:solidFill>
                          <a:latin typeface="Agrandir"/>
                          <a:ea typeface="Agrandir"/>
                          <a:cs typeface="Agrandir"/>
                          <a:sym typeface="Agrandir"/>
                        </a:rPr>
                        <a:t>Bùi Minh Quang</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l">
                        <a:lnSpc>
                          <a:spcPts val="2939"/>
                        </a:lnSpc>
                        <a:defRPr/>
                      </a:pPr>
                      <a:r>
                        <a:rPr lang="en-US" sz="2099">
                          <a:solidFill>
                            <a:srgbClr val="000000"/>
                          </a:solidFill>
                          <a:latin typeface="Agrandir"/>
                          <a:ea typeface="Agrandir"/>
                          <a:cs typeface="Agrandir"/>
                          <a:sym typeface="Agrandir"/>
                        </a:rPr>
                        <a:t>- Phát triển chức năng học theo Topic, Quiz</a:t>
                      </a:r>
                      <a:endParaRPr lang="en-US" sz="1100"/>
                    </a:p>
                    <a:p>
                      <a:pPr algn="l">
                        <a:lnSpc>
                          <a:spcPts val="2939"/>
                        </a:lnSpc>
                      </a:pPr>
                      <a:r>
                        <a:rPr lang="en-US" sz="2099">
                          <a:solidFill>
                            <a:srgbClr val="000000"/>
                          </a:solidFill>
                          <a:latin typeface="Agrandir"/>
                          <a:ea typeface="Agrandir"/>
                          <a:cs typeface="Agrandir"/>
                          <a:sym typeface="Agrandir"/>
                        </a:rPr>
                        <a:t>- Phát triển chức năng Flashcard</a:t>
                      </a:r>
                    </a:p>
                    <a:p>
                      <a:pPr algn="l">
                        <a:lnSpc>
                          <a:spcPts val="2939"/>
                        </a:lnSpc>
                      </a:pPr>
                      <a:r>
                        <a:rPr lang="en-US" sz="2099">
                          <a:solidFill>
                            <a:srgbClr val="000000"/>
                          </a:solidFill>
                          <a:latin typeface="Agrandir"/>
                          <a:ea typeface="Agrandir"/>
                          <a:cs typeface="Agrandir"/>
                          <a:sym typeface="Agrandir"/>
                        </a:rPr>
                        <a:t>- Làm slide</a:t>
                      </a:r>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2939"/>
                        </a:lnSpc>
                        <a:defRPr/>
                      </a:pPr>
                      <a:r>
                        <a:rPr lang="en-US" sz="2099">
                          <a:solidFill>
                            <a:srgbClr val="000000"/>
                          </a:solidFill>
                          <a:latin typeface="Agrandir"/>
                          <a:ea typeface="Agrandir"/>
                          <a:cs typeface="Agrandir"/>
                          <a:sym typeface="Agrandir"/>
                        </a:rPr>
                        <a:t>200%</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r>
              <a:tr h="1025605">
                <a:tc>
                  <a:txBody>
                    <a:bodyPr anchor="t" rtlCol="false"/>
                    <a:lstStyle/>
                    <a:p>
                      <a:pPr algn="ctr">
                        <a:lnSpc>
                          <a:spcPts val="2939"/>
                        </a:lnSpc>
                        <a:defRPr/>
                      </a:pP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2939"/>
                        </a:lnSpc>
                        <a:defRPr/>
                      </a:pPr>
                      <a:r>
                        <a:rPr lang="en-US" sz="2099">
                          <a:solidFill>
                            <a:srgbClr val="000000"/>
                          </a:solidFill>
                          <a:latin typeface="Agrandir"/>
                          <a:ea typeface="Agrandir"/>
                          <a:cs typeface="Agrandir"/>
                          <a:sym typeface="Agrandir"/>
                        </a:rPr>
                        <a:t>Phạm Minh Quân</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l">
                        <a:lnSpc>
                          <a:spcPts val="2939"/>
                        </a:lnSpc>
                        <a:defRPr/>
                      </a:pP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2939"/>
                        </a:lnSpc>
                        <a:defRPr/>
                      </a:pP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r>
              <a:tr h="1217307">
                <a:tc>
                  <a:txBody>
                    <a:bodyPr anchor="t" rtlCol="false"/>
                    <a:lstStyle/>
                    <a:p>
                      <a:pPr algn="ctr">
                        <a:lnSpc>
                          <a:spcPts val="2939"/>
                        </a:lnSpc>
                        <a:defRPr/>
                      </a:pPr>
                      <a:r>
                        <a:rPr lang="en-US" sz="2099">
                          <a:solidFill>
                            <a:srgbClr val="000000"/>
                          </a:solidFill>
                          <a:latin typeface="Agrandir"/>
                          <a:ea typeface="Agrandir"/>
                          <a:cs typeface="Agrandir"/>
                          <a:sym typeface="Agrandir"/>
                        </a:rPr>
                        <a:t>23021749</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2939"/>
                        </a:lnSpc>
                        <a:defRPr/>
                      </a:pPr>
                      <a:r>
                        <a:rPr lang="en-US" sz="2099">
                          <a:solidFill>
                            <a:srgbClr val="000000"/>
                          </a:solidFill>
                          <a:latin typeface="Agrandir"/>
                          <a:ea typeface="Agrandir"/>
                          <a:cs typeface="Agrandir"/>
                          <a:sym typeface="Agrandir"/>
                        </a:rPr>
                        <a:t>Trần Văn Vinh</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l">
                        <a:lnSpc>
                          <a:spcPts val="2939"/>
                        </a:lnSpc>
                        <a:defRPr/>
                      </a:pPr>
                      <a:r>
                        <a:rPr lang="en-US" sz="2099">
                          <a:solidFill>
                            <a:srgbClr val="000000"/>
                          </a:solidFill>
                          <a:latin typeface="Agrandir"/>
                          <a:ea typeface="Agrandir"/>
                          <a:cs typeface="Agrandir"/>
                          <a:sym typeface="Agrandir"/>
                        </a:rPr>
                        <a:t>- Phát triển chức năng dịch sign to text</a:t>
                      </a:r>
                      <a:endParaRPr lang="en-US" sz="1100"/>
                    </a:p>
                    <a:p>
                      <a:pPr algn="l">
                        <a:lnSpc>
                          <a:spcPts val="2939"/>
                        </a:lnSpc>
                      </a:pPr>
                      <a:r>
                        <a:rPr lang="en-US" sz="2099">
                          <a:solidFill>
                            <a:srgbClr val="000000"/>
                          </a:solidFill>
                          <a:latin typeface="Agrandir"/>
                          <a:ea typeface="Agrandir"/>
                          <a:cs typeface="Agrandir"/>
                          <a:sym typeface="Agrandir"/>
                        </a:rPr>
                        <a:t>- CRUD backend</a:t>
                      </a:r>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2939"/>
                        </a:lnSpc>
                        <a:defRPr/>
                      </a:pPr>
                      <a:r>
                        <a:rPr lang="en-US" sz="2099">
                          <a:solidFill>
                            <a:srgbClr val="000000"/>
                          </a:solidFill>
                          <a:latin typeface="Agrandir"/>
                          <a:ea typeface="Agrandir"/>
                          <a:cs typeface="Agrandir"/>
                          <a:sym typeface="Agrandir"/>
                        </a:rPr>
                        <a:t>200%</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r>
            </a:tbl>
          </a:graphicData>
        </a:graphic>
      </p:graphicFrame>
      <p:sp>
        <p:nvSpPr>
          <p:cNvPr name="TextBox 13" id="13"/>
          <p:cNvSpPr txBox="true"/>
          <p:nvPr/>
        </p:nvSpPr>
        <p:spPr>
          <a:xfrm rot="0">
            <a:off x="17736317" y="9669577"/>
            <a:ext cx="382236" cy="370840"/>
          </a:xfrm>
          <a:prstGeom prst="rect">
            <a:avLst/>
          </a:prstGeom>
        </p:spPr>
        <p:txBody>
          <a:bodyPr anchor="t" rtlCol="false" tIns="0" lIns="0" bIns="0" rIns="0">
            <a:spAutoFit/>
          </a:bodyPr>
          <a:lstStyle/>
          <a:p>
            <a:pPr algn="l">
              <a:lnSpc>
                <a:spcPts val="2659"/>
              </a:lnSpc>
              <a:spcBef>
                <a:spcPct val="0"/>
              </a:spcBef>
            </a:pPr>
            <a:r>
              <a:rPr lang="en-US" b="true" sz="1899">
                <a:solidFill>
                  <a:srgbClr val="FFFFFF"/>
                </a:solidFill>
                <a:latin typeface="Agrandir Bold"/>
                <a:ea typeface="Agrandir Bold"/>
                <a:cs typeface="Agrandir Bold"/>
                <a:sym typeface="Agrandir Bold"/>
              </a:rPr>
              <a:t>04</a:t>
            </a:r>
          </a:p>
        </p:txBody>
      </p:sp>
      <p:sp>
        <p:nvSpPr>
          <p:cNvPr name="TextBox 14" id="14"/>
          <p:cNvSpPr txBox="true"/>
          <p:nvPr/>
        </p:nvSpPr>
        <p:spPr>
          <a:xfrm rot="0">
            <a:off x="561398" y="397611"/>
            <a:ext cx="10951639" cy="1350274"/>
          </a:xfrm>
          <a:prstGeom prst="rect">
            <a:avLst/>
          </a:prstGeom>
        </p:spPr>
        <p:txBody>
          <a:bodyPr anchor="t" rtlCol="false" tIns="0" lIns="0" bIns="0" rIns="0">
            <a:spAutoFit/>
          </a:bodyPr>
          <a:lstStyle/>
          <a:p>
            <a:pPr algn="l">
              <a:lnSpc>
                <a:spcPts val="9575"/>
              </a:lnSpc>
              <a:spcBef>
                <a:spcPct val="0"/>
              </a:spcBef>
            </a:pPr>
            <a:r>
              <a:rPr lang="en-US" b="true" sz="6839">
                <a:solidFill>
                  <a:srgbClr val="FFFFFF"/>
                </a:solidFill>
                <a:latin typeface="Agrandir Bold"/>
                <a:ea typeface="Agrandir Bold"/>
                <a:cs typeface="Agrandir Bold"/>
                <a:sym typeface="Agrandir Bold"/>
              </a:rPr>
              <a:t>Đóng góp thành viên</a:t>
            </a:r>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bg>
      <p:bgPr>
        <a:solidFill>
          <a:srgbClr val="C7D3FF"/>
        </a:solidFill>
      </p:bgPr>
    </p:bg>
    <p:spTree>
      <p:nvGrpSpPr>
        <p:cNvPr id="1" name=""/>
        <p:cNvGrpSpPr/>
        <p:nvPr/>
      </p:nvGrpSpPr>
      <p:grpSpPr>
        <a:xfrm>
          <a:off x="0" y="0"/>
          <a:ext cx="0" cy="0"/>
          <a:chOff x="0" y="0"/>
          <a:chExt cx="0" cy="0"/>
        </a:xfrm>
      </p:grpSpPr>
      <p:sp>
        <p:nvSpPr>
          <p:cNvPr name="Freeform 2" id="2"/>
          <p:cNvSpPr/>
          <p:nvPr/>
        </p:nvSpPr>
        <p:spPr>
          <a:xfrm flipH="false" flipV="false" rot="0">
            <a:off x="-1785486" y="2169699"/>
            <a:ext cx="8117301" cy="8117301"/>
          </a:xfrm>
          <a:custGeom>
            <a:avLst/>
            <a:gdLst/>
            <a:ahLst/>
            <a:cxnLst/>
            <a:rect r="r" b="b" t="t" l="l"/>
            <a:pathLst>
              <a:path h="8117301" w="8117301">
                <a:moveTo>
                  <a:pt x="0" y="0"/>
                </a:moveTo>
                <a:lnTo>
                  <a:pt x="8117301" y="0"/>
                </a:lnTo>
                <a:lnTo>
                  <a:pt x="8117301" y="8117301"/>
                </a:lnTo>
                <a:lnTo>
                  <a:pt x="0" y="8117301"/>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3" id="3"/>
          <p:cNvGrpSpPr/>
          <p:nvPr/>
        </p:nvGrpSpPr>
        <p:grpSpPr>
          <a:xfrm rot="0">
            <a:off x="-217699" y="525326"/>
            <a:ext cx="17904046" cy="1338906"/>
            <a:chOff x="0" y="0"/>
            <a:chExt cx="4715469" cy="352634"/>
          </a:xfrm>
        </p:grpSpPr>
        <p:sp>
          <p:nvSpPr>
            <p:cNvPr name="Freeform 4" id="4"/>
            <p:cNvSpPr/>
            <p:nvPr/>
          </p:nvSpPr>
          <p:spPr>
            <a:xfrm flipH="false" flipV="false" rot="0">
              <a:off x="0" y="0"/>
              <a:ext cx="4715469" cy="352634"/>
            </a:xfrm>
            <a:custGeom>
              <a:avLst/>
              <a:gdLst/>
              <a:ahLst/>
              <a:cxnLst/>
              <a:rect r="r" b="b" t="t" l="l"/>
              <a:pathLst>
                <a:path h="352634" w="4715469">
                  <a:moveTo>
                    <a:pt x="0" y="0"/>
                  </a:moveTo>
                  <a:lnTo>
                    <a:pt x="4715469" y="0"/>
                  </a:lnTo>
                  <a:lnTo>
                    <a:pt x="4715469" y="352634"/>
                  </a:lnTo>
                  <a:lnTo>
                    <a:pt x="0" y="352634"/>
                  </a:lnTo>
                  <a:close/>
                </a:path>
              </a:pathLst>
            </a:custGeom>
            <a:solidFill>
              <a:srgbClr val="1022B1"/>
            </a:solidFill>
          </p:spPr>
        </p:sp>
        <p:sp>
          <p:nvSpPr>
            <p:cNvPr name="TextBox 5" id="5"/>
            <p:cNvSpPr txBox="true"/>
            <p:nvPr/>
          </p:nvSpPr>
          <p:spPr>
            <a:xfrm>
              <a:off x="0" y="-85725"/>
              <a:ext cx="4715469" cy="438359"/>
            </a:xfrm>
            <a:prstGeom prst="rect">
              <a:avLst/>
            </a:prstGeom>
          </p:spPr>
          <p:txBody>
            <a:bodyPr anchor="ctr" rtlCol="false" tIns="50800" lIns="50800" bIns="50800" rIns="50800"/>
            <a:lstStyle/>
            <a:p>
              <a:pPr algn="ctr">
                <a:lnSpc>
                  <a:spcPts val="2659"/>
                </a:lnSpc>
              </a:pPr>
            </a:p>
          </p:txBody>
        </p:sp>
      </p:grpSp>
      <p:grpSp>
        <p:nvGrpSpPr>
          <p:cNvPr name="Group 6" id="6"/>
          <p:cNvGrpSpPr/>
          <p:nvPr/>
        </p:nvGrpSpPr>
        <p:grpSpPr>
          <a:xfrm rot="0">
            <a:off x="15958661" y="-1019379"/>
            <a:ext cx="3853113" cy="3853113"/>
            <a:chOff x="0" y="0"/>
            <a:chExt cx="812800" cy="812800"/>
          </a:xfrm>
        </p:grpSpPr>
        <p:sp>
          <p:nvSpPr>
            <p:cNvPr name="Freeform 7" id="7"/>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F28EC"/>
            </a:solidFill>
          </p:spPr>
        </p:sp>
        <p:sp>
          <p:nvSpPr>
            <p:cNvPr name="TextBox 8" id="8"/>
            <p:cNvSpPr txBox="true"/>
            <p:nvPr/>
          </p:nvSpPr>
          <p:spPr>
            <a:xfrm>
              <a:off x="76200" y="38100"/>
              <a:ext cx="660400" cy="698500"/>
            </a:xfrm>
            <a:prstGeom prst="rect">
              <a:avLst/>
            </a:prstGeom>
          </p:spPr>
          <p:txBody>
            <a:bodyPr anchor="ctr" rtlCol="false" tIns="50800" lIns="50800" bIns="50800" rIns="50800"/>
            <a:lstStyle/>
            <a:p>
              <a:pPr algn="ctr">
                <a:lnSpc>
                  <a:spcPts val="2659"/>
                </a:lnSpc>
                <a:spcBef>
                  <a:spcPct val="0"/>
                </a:spcBef>
              </a:pPr>
            </a:p>
          </p:txBody>
        </p:sp>
      </p:grpSp>
      <p:grpSp>
        <p:nvGrpSpPr>
          <p:cNvPr name="Group 9" id="9"/>
          <p:cNvGrpSpPr/>
          <p:nvPr/>
        </p:nvGrpSpPr>
        <p:grpSpPr>
          <a:xfrm rot="0">
            <a:off x="17509719" y="9508719"/>
            <a:ext cx="778281" cy="778281"/>
            <a:chOff x="0" y="0"/>
            <a:chExt cx="204979" cy="204979"/>
          </a:xfrm>
        </p:grpSpPr>
        <p:sp>
          <p:nvSpPr>
            <p:cNvPr name="Freeform 10" id="10"/>
            <p:cNvSpPr/>
            <p:nvPr/>
          </p:nvSpPr>
          <p:spPr>
            <a:xfrm flipH="false" flipV="false" rot="0">
              <a:off x="0" y="0"/>
              <a:ext cx="204979" cy="204979"/>
            </a:xfrm>
            <a:custGeom>
              <a:avLst/>
              <a:gdLst/>
              <a:ahLst/>
              <a:cxnLst/>
              <a:rect r="r" b="b" t="t" l="l"/>
              <a:pathLst>
                <a:path h="204979" w="204979">
                  <a:moveTo>
                    <a:pt x="0" y="0"/>
                  </a:moveTo>
                  <a:lnTo>
                    <a:pt x="204979" y="0"/>
                  </a:lnTo>
                  <a:lnTo>
                    <a:pt x="204979" y="204979"/>
                  </a:lnTo>
                  <a:lnTo>
                    <a:pt x="0" y="204979"/>
                  </a:lnTo>
                  <a:close/>
                </a:path>
              </a:pathLst>
            </a:custGeom>
            <a:solidFill>
              <a:srgbClr val="0F28EC"/>
            </a:solidFill>
          </p:spPr>
        </p:sp>
        <p:sp>
          <p:nvSpPr>
            <p:cNvPr name="TextBox 11" id="11"/>
            <p:cNvSpPr txBox="true"/>
            <p:nvPr/>
          </p:nvSpPr>
          <p:spPr>
            <a:xfrm>
              <a:off x="0" y="-85725"/>
              <a:ext cx="204979" cy="290704"/>
            </a:xfrm>
            <a:prstGeom prst="rect">
              <a:avLst/>
            </a:prstGeom>
          </p:spPr>
          <p:txBody>
            <a:bodyPr anchor="ctr" rtlCol="false" tIns="50800" lIns="50800" bIns="50800" rIns="50800"/>
            <a:lstStyle/>
            <a:p>
              <a:pPr algn="ctr">
                <a:lnSpc>
                  <a:spcPts val="2659"/>
                </a:lnSpc>
              </a:pPr>
            </a:p>
          </p:txBody>
        </p:sp>
      </p:grpSp>
      <p:sp>
        <p:nvSpPr>
          <p:cNvPr name="TextBox 12" id="12"/>
          <p:cNvSpPr txBox="true"/>
          <p:nvPr/>
        </p:nvSpPr>
        <p:spPr>
          <a:xfrm rot="0">
            <a:off x="17736317" y="9669577"/>
            <a:ext cx="382236" cy="370840"/>
          </a:xfrm>
          <a:prstGeom prst="rect">
            <a:avLst/>
          </a:prstGeom>
        </p:spPr>
        <p:txBody>
          <a:bodyPr anchor="t" rtlCol="false" tIns="0" lIns="0" bIns="0" rIns="0">
            <a:spAutoFit/>
          </a:bodyPr>
          <a:lstStyle/>
          <a:p>
            <a:pPr algn="l">
              <a:lnSpc>
                <a:spcPts val="2659"/>
              </a:lnSpc>
              <a:spcBef>
                <a:spcPct val="0"/>
              </a:spcBef>
            </a:pPr>
            <a:r>
              <a:rPr lang="en-US" b="true" sz="1899">
                <a:solidFill>
                  <a:srgbClr val="FFFFFF"/>
                </a:solidFill>
                <a:latin typeface="Agrandir Bold"/>
                <a:ea typeface="Agrandir Bold"/>
                <a:cs typeface="Agrandir Bold"/>
                <a:sym typeface="Agrandir Bold"/>
              </a:rPr>
              <a:t>02</a:t>
            </a:r>
          </a:p>
        </p:txBody>
      </p:sp>
      <p:grpSp>
        <p:nvGrpSpPr>
          <p:cNvPr name="Group 13" id="13"/>
          <p:cNvGrpSpPr/>
          <p:nvPr/>
        </p:nvGrpSpPr>
        <p:grpSpPr>
          <a:xfrm rot="0">
            <a:off x="7096658" y="2949594"/>
            <a:ext cx="11293401" cy="6308706"/>
            <a:chOff x="0" y="0"/>
            <a:chExt cx="15057868" cy="8411607"/>
          </a:xfrm>
        </p:grpSpPr>
        <p:sp>
          <p:nvSpPr>
            <p:cNvPr name="TextBox 14" id="14"/>
            <p:cNvSpPr txBox="true"/>
            <p:nvPr/>
          </p:nvSpPr>
          <p:spPr>
            <a:xfrm rot="0">
              <a:off x="0" y="-219075"/>
              <a:ext cx="12118713" cy="2317115"/>
            </a:xfrm>
            <a:prstGeom prst="rect">
              <a:avLst/>
            </a:prstGeom>
          </p:spPr>
          <p:txBody>
            <a:bodyPr anchor="t" rtlCol="false" tIns="0" lIns="0" bIns="0" rIns="0">
              <a:spAutoFit/>
            </a:bodyPr>
            <a:lstStyle/>
            <a:p>
              <a:pPr algn="l">
                <a:lnSpc>
                  <a:spcPts val="6719"/>
                </a:lnSpc>
                <a:spcBef>
                  <a:spcPct val="0"/>
                </a:spcBef>
              </a:pPr>
              <a:r>
                <a:rPr lang="en-US" b="true" sz="4800">
                  <a:solidFill>
                    <a:srgbClr val="0F28EC"/>
                  </a:solidFill>
                  <a:latin typeface="Agrandir Bold"/>
                  <a:ea typeface="Agrandir Bold"/>
                  <a:cs typeface="Agrandir Bold"/>
                  <a:sym typeface="Agrandir Bold"/>
                </a:rPr>
                <a:t>1. Bối cảnh nghiên cứu &amp; Hiện trạng vấn đề</a:t>
              </a:r>
            </a:p>
          </p:txBody>
        </p:sp>
        <p:sp>
          <p:nvSpPr>
            <p:cNvPr name="TextBox 15" id="15"/>
            <p:cNvSpPr txBox="true"/>
            <p:nvPr/>
          </p:nvSpPr>
          <p:spPr>
            <a:xfrm rot="0">
              <a:off x="0" y="2492772"/>
              <a:ext cx="15057868" cy="1186815"/>
            </a:xfrm>
            <a:prstGeom prst="rect">
              <a:avLst/>
            </a:prstGeom>
          </p:spPr>
          <p:txBody>
            <a:bodyPr anchor="t" rtlCol="false" tIns="0" lIns="0" bIns="0" rIns="0">
              <a:spAutoFit/>
            </a:bodyPr>
            <a:lstStyle/>
            <a:p>
              <a:pPr algn="l">
                <a:lnSpc>
                  <a:spcPts val="6719"/>
                </a:lnSpc>
                <a:spcBef>
                  <a:spcPct val="0"/>
                </a:spcBef>
              </a:pPr>
              <a:r>
                <a:rPr lang="en-US" b="true" sz="4800">
                  <a:solidFill>
                    <a:srgbClr val="0F28EC"/>
                  </a:solidFill>
                  <a:latin typeface="Agrandir Bold"/>
                  <a:ea typeface="Agrandir Bold"/>
                  <a:cs typeface="Agrandir Bold"/>
                  <a:sym typeface="Agrandir Bold"/>
                </a:rPr>
                <a:t>2. Các giải pháp đã có</a:t>
              </a:r>
            </a:p>
          </p:txBody>
        </p:sp>
        <p:sp>
          <p:nvSpPr>
            <p:cNvPr name="TextBox 16" id="16"/>
            <p:cNvSpPr txBox="true"/>
            <p:nvPr/>
          </p:nvSpPr>
          <p:spPr>
            <a:xfrm rot="0">
              <a:off x="0" y="4070112"/>
              <a:ext cx="15057868" cy="1186815"/>
            </a:xfrm>
            <a:prstGeom prst="rect">
              <a:avLst/>
            </a:prstGeom>
          </p:spPr>
          <p:txBody>
            <a:bodyPr anchor="t" rtlCol="false" tIns="0" lIns="0" bIns="0" rIns="0">
              <a:spAutoFit/>
            </a:bodyPr>
            <a:lstStyle/>
            <a:p>
              <a:pPr algn="l">
                <a:lnSpc>
                  <a:spcPts val="6719"/>
                </a:lnSpc>
                <a:spcBef>
                  <a:spcPct val="0"/>
                </a:spcBef>
              </a:pPr>
              <a:r>
                <a:rPr lang="en-US" b="true" sz="4800">
                  <a:solidFill>
                    <a:srgbClr val="0F28EC"/>
                  </a:solidFill>
                  <a:latin typeface="Agrandir Bold"/>
                  <a:ea typeface="Agrandir Bold"/>
                  <a:cs typeface="Agrandir Bold"/>
                  <a:sym typeface="Agrandir Bold"/>
                </a:rPr>
                <a:t>3. Nguyên lý thiết kế tương tác</a:t>
              </a:r>
            </a:p>
          </p:txBody>
        </p:sp>
        <p:sp>
          <p:nvSpPr>
            <p:cNvPr name="TextBox 17" id="17"/>
            <p:cNvSpPr txBox="true"/>
            <p:nvPr/>
          </p:nvSpPr>
          <p:spPr>
            <a:xfrm rot="0">
              <a:off x="0" y="7224792"/>
              <a:ext cx="15057868" cy="1186815"/>
            </a:xfrm>
            <a:prstGeom prst="rect">
              <a:avLst/>
            </a:prstGeom>
          </p:spPr>
          <p:txBody>
            <a:bodyPr anchor="t" rtlCol="false" tIns="0" lIns="0" bIns="0" rIns="0">
              <a:spAutoFit/>
            </a:bodyPr>
            <a:lstStyle/>
            <a:p>
              <a:pPr algn="l">
                <a:lnSpc>
                  <a:spcPts val="6719"/>
                </a:lnSpc>
                <a:spcBef>
                  <a:spcPct val="0"/>
                </a:spcBef>
              </a:pPr>
              <a:r>
                <a:rPr lang="en-US" b="true" sz="4800">
                  <a:solidFill>
                    <a:srgbClr val="0F28EC"/>
                  </a:solidFill>
                  <a:latin typeface="Agrandir Bold"/>
                  <a:ea typeface="Agrandir Bold"/>
                  <a:cs typeface="Agrandir Bold"/>
                  <a:sym typeface="Agrandir Bold"/>
                </a:rPr>
                <a:t>5. Huấn luyện mô hình</a:t>
              </a:r>
            </a:p>
          </p:txBody>
        </p:sp>
        <p:sp>
          <p:nvSpPr>
            <p:cNvPr name="TextBox 18" id="18"/>
            <p:cNvSpPr txBox="true"/>
            <p:nvPr/>
          </p:nvSpPr>
          <p:spPr>
            <a:xfrm rot="0">
              <a:off x="0" y="5647452"/>
              <a:ext cx="15057868" cy="1186815"/>
            </a:xfrm>
            <a:prstGeom prst="rect">
              <a:avLst/>
            </a:prstGeom>
          </p:spPr>
          <p:txBody>
            <a:bodyPr anchor="t" rtlCol="false" tIns="0" lIns="0" bIns="0" rIns="0">
              <a:spAutoFit/>
            </a:bodyPr>
            <a:lstStyle/>
            <a:p>
              <a:pPr algn="l">
                <a:lnSpc>
                  <a:spcPts val="6719"/>
                </a:lnSpc>
                <a:spcBef>
                  <a:spcPct val="0"/>
                </a:spcBef>
              </a:pPr>
              <a:r>
                <a:rPr lang="en-US" b="true" sz="4800">
                  <a:solidFill>
                    <a:srgbClr val="0F28EC"/>
                  </a:solidFill>
                  <a:latin typeface="Agrandir Bold"/>
                  <a:ea typeface="Agrandir Bold"/>
                  <a:cs typeface="Agrandir Bold"/>
                  <a:sym typeface="Agrandir Bold"/>
                </a:rPr>
                <a:t>4. Kiến trúc hệ thống</a:t>
              </a:r>
            </a:p>
          </p:txBody>
        </p:sp>
      </p:gr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bg>
      <p:bgPr>
        <a:solidFill>
          <a:srgbClr val="C7D3FF"/>
        </a:solidFill>
      </p:bgPr>
    </p:bg>
    <p:spTree>
      <p:nvGrpSpPr>
        <p:cNvPr id="1" name=""/>
        <p:cNvGrpSpPr/>
        <p:nvPr/>
      </p:nvGrpSpPr>
      <p:grpSpPr>
        <a:xfrm>
          <a:off x="0" y="0"/>
          <a:ext cx="0" cy="0"/>
          <a:chOff x="0" y="0"/>
          <a:chExt cx="0" cy="0"/>
        </a:xfrm>
      </p:grpSpPr>
      <p:grpSp>
        <p:nvGrpSpPr>
          <p:cNvPr name="Group 2" id="2"/>
          <p:cNvGrpSpPr/>
          <p:nvPr/>
        </p:nvGrpSpPr>
        <p:grpSpPr>
          <a:xfrm rot="0">
            <a:off x="-217699" y="525326"/>
            <a:ext cx="17904046" cy="1338906"/>
            <a:chOff x="0" y="0"/>
            <a:chExt cx="4715469" cy="352634"/>
          </a:xfrm>
        </p:grpSpPr>
        <p:sp>
          <p:nvSpPr>
            <p:cNvPr name="Freeform 3" id="3"/>
            <p:cNvSpPr/>
            <p:nvPr/>
          </p:nvSpPr>
          <p:spPr>
            <a:xfrm flipH="false" flipV="false" rot="0">
              <a:off x="0" y="0"/>
              <a:ext cx="4715469" cy="352634"/>
            </a:xfrm>
            <a:custGeom>
              <a:avLst/>
              <a:gdLst/>
              <a:ahLst/>
              <a:cxnLst/>
              <a:rect r="r" b="b" t="t" l="l"/>
              <a:pathLst>
                <a:path h="352634" w="4715469">
                  <a:moveTo>
                    <a:pt x="0" y="0"/>
                  </a:moveTo>
                  <a:lnTo>
                    <a:pt x="4715469" y="0"/>
                  </a:lnTo>
                  <a:lnTo>
                    <a:pt x="4715469" y="352634"/>
                  </a:lnTo>
                  <a:lnTo>
                    <a:pt x="0" y="352634"/>
                  </a:lnTo>
                  <a:close/>
                </a:path>
              </a:pathLst>
            </a:custGeom>
            <a:solidFill>
              <a:srgbClr val="1022B1"/>
            </a:solidFill>
          </p:spPr>
        </p:sp>
        <p:sp>
          <p:nvSpPr>
            <p:cNvPr name="TextBox 4" id="4"/>
            <p:cNvSpPr txBox="true"/>
            <p:nvPr/>
          </p:nvSpPr>
          <p:spPr>
            <a:xfrm>
              <a:off x="0" y="-85725"/>
              <a:ext cx="4715469" cy="438359"/>
            </a:xfrm>
            <a:prstGeom prst="rect">
              <a:avLst/>
            </a:prstGeom>
          </p:spPr>
          <p:txBody>
            <a:bodyPr anchor="ctr" rtlCol="false" tIns="50800" lIns="50800" bIns="50800" rIns="50800"/>
            <a:lstStyle/>
            <a:p>
              <a:pPr algn="ctr">
                <a:lnSpc>
                  <a:spcPts val="2659"/>
                </a:lnSpc>
              </a:pPr>
            </a:p>
          </p:txBody>
        </p:sp>
      </p:grpSp>
      <p:grpSp>
        <p:nvGrpSpPr>
          <p:cNvPr name="Group 5" id="5"/>
          <p:cNvGrpSpPr/>
          <p:nvPr/>
        </p:nvGrpSpPr>
        <p:grpSpPr>
          <a:xfrm rot="0">
            <a:off x="15958661" y="-1019379"/>
            <a:ext cx="3853113" cy="3853113"/>
            <a:chOff x="0" y="0"/>
            <a:chExt cx="812800" cy="812800"/>
          </a:xfrm>
        </p:grpSpPr>
        <p:sp>
          <p:nvSpPr>
            <p:cNvPr name="Freeform 6" id="6"/>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F28EC"/>
            </a:solidFill>
          </p:spPr>
        </p:sp>
        <p:sp>
          <p:nvSpPr>
            <p:cNvPr name="TextBox 7" id="7"/>
            <p:cNvSpPr txBox="true"/>
            <p:nvPr/>
          </p:nvSpPr>
          <p:spPr>
            <a:xfrm>
              <a:off x="76200" y="38100"/>
              <a:ext cx="660400" cy="698500"/>
            </a:xfrm>
            <a:prstGeom prst="rect">
              <a:avLst/>
            </a:prstGeom>
          </p:spPr>
          <p:txBody>
            <a:bodyPr anchor="ctr" rtlCol="false" tIns="50800" lIns="50800" bIns="50800" rIns="50800"/>
            <a:lstStyle/>
            <a:p>
              <a:pPr algn="ctr">
                <a:lnSpc>
                  <a:spcPts val="2659"/>
                </a:lnSpc>
                <a:spcBef>
                  <a:spcPct val="0"/>
                </a:spcBef>
              </a:pPr>
            </a:p>
          </p:txBody>
        </p:sp>
      </p:grpSp>
      <p:sp>
        <p:nvSpPr>
          <p:cNvPr name="Freeform 8" id="8"/>
          <p:cNvSpPr/>
          <p:nvPr/>
        </p:nvSpPr>
        <p:spPr>
          <a:xfrm flipH="false" flipV="false" rot="0">
            <a:off x="17259300" y="1052847"/>
            <a:ext cx="427047" cy="427047"/>
          </a:xfrm>
          <a:custGeom>
            <a:avLst/>
            <a:gdLst/>
            <a:ahLst/>
            <a:cxnLst/>
            <a:rect r="r" b="b" t="t" l="l"/>
            <a:pathLst>
              <a:path h="427047" w="427047">
                <a:moveTo>
                  <a:pt x="0" y="0"/>
                </a:moveTo>
                <a:lnTo>
                  <a:pt x="427047" y="0"/>
                </a:lnTo>
                <a:lnTo>
                  <a:pt x="427047" y="427047"/>
                </a:lnTo>
                <a:lnTo>
                  <a:pt x="0" y="427047"/>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9" id="9"/>
          <p:cNvGrpSpPr/>
          <p:nvPr/>
        </p:nvGrpSpPr>
        <p:grpSpPr>
          <a:xfrm rot="0">
            <a:off x="17509719" y="9508719"/>
            <a:ext cx="778281" cy="778281"/>
            <a:chOff x="0" y="0"/>
            <a:chExt cx="204979" cy="204979"/>
          </a:xfrm>
        </p:grpSpPr>
        <p:sp>
          <p:nvSpPr>
            <p:cNvPr name="Freeform 10" id="10"/>
            <p:cNvSpPr/>
            <p:nvPr/>
          </p:nvSpPr>
          <p:spPr>
            <a:xfrm flipH="false" flipV="false" rot="0">
              <a:off x="0" y="0"/>
              <a:ext cx="204979" cy="204979"/>
            </a:xfrm>
            <a:custGeom>
              <a:avLst/>
              <a:gdLst/>
              <a:ahLst/>
              <a:cxnLst/>
              <a:rect r="r" b="b" t="t" l="l"/>
              <a:pathLst>
                <a:path h="204979" w="204979">
                  <a:moveTo>
                    <a:pt x="0" y="0"/>
                  </a:moveTo>
                  <a:lnTo>
                    <a:pt x="204979" y="0"/>
                  </a:lnTo>
                  <a:lnTo>
                    <a:pt x="204979" y="204979"/>
                  </a:lnTo>
                  <a:lnTo>
                    <a:pt x="0" y="204979"/>
                  </a:lnTo>
                  <a:close/>
                </a:path>
              </a:pathLst>
            </a:custGeom>
            <a:solidFill>
              <a:srgbClr val="0F28EC"/>
            </a:solidFill>
          </p:spPr>
        </p:sp>
        <p:sp>
          <p:nvSpPr>
            <p:cNvPr name="TextBox 11" id="11"/>
            <p:cNvSpPr txBox="true"/>
            <p:nvPr/>
          </p:nvSpPr>
          <p:spPr>
            <a:xfrm>
              <a:off x="0" y="-85725"/>
              <a:ext cx="204979" cy="290704"/>
            </a:xfrm>
            <a:prstGeom prst="rect">
              <a:avLst/>
            </a:prstGeom>
          </p:spPr>
          <p:txBody>
            <a:bodyPr anchor="ctr" rtlCol="false" tIns="50800" lIns="50800" bIns="50800" rIns="50800"/>
            <a:lstStyle/>
            <a:p>
              <a:pPr algn="ctr">
                <a:lnSpc>
                  <a:spcPts val="2659"/>
                </a:lnSpc>
              </a:pPr>
            </a:p>
          </p:txBody>
        </p:sp>
      </p:grpSp>
      <p:sp>
        <p:nvSpPr>
          <p:cNvPr name="Freeform 12" id="12"/>
          <p:cNvSpPr/>
          <p:nvPr/>
        </p:nvSpPr>
        <p:spPr>
          <a:xfrm flipH="false" flipV="false" rot="0">
            <a:off x="10129694" y="3105241"/>
            <a:ext cx="6414846" cy="5796688"/>
          </a:xfrm>
          <a:custGeom>
            <a:avLst/>
            <a:gdLst/>
            <a:ahLst/>
            <a:cxnLst/>
            <a:rect r="r" b="b" t="t" l="l"/>
            <a:pathLst>
              <a:path h="5796688" w="6414846">
                <a:moveTo>
                  <a:pt x="0" y="0"/>
                </a:moveTo>
                <a:lnTo>
                  <a:pt x="6414846" y="0"/>
                </a:lnTo>
                <a:lnTo>
                  <a:pt x="6414846" y="5796688"/>
                </a:lnTo>
                <a:lnTo>
                  <a:pt x="0" y="5796688"/>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13" id="13"/>
          <p:cNvSpPr txBox="true"/>
          <p:nvPr/>
        </p:nvSpPr>
        <p:spPr>
          <a:xfrm rot="0">
            <a:off x="17736317" y="9669577"/>
            <a:ext cx="382236" cy="370840"/>
          </a:xfrm>
          <a:prstGeom prst="rect">
            <a:avLst/>
          </a:prstGeom>
        </p:spPr>
        <p:txBody>
          <a:bodyPr anchor="t" rtlCol="false" tIns="0" lIns="0" bIns="0" rIns="0">
            <a:spAutoFit/>
          </a:bodyPr>
          <a:lstStyle/>
          <a:p>
            <a:pPr algn="l">
              <a:lnSpc>
                <a:spcPts val="2659"/>
              </a:lnSpc>
              <a:spcBef>
                <a:spcPct val="0"/>
              </a:spcBef>
            </a:pPr>
            <a:r>
              <a:rPr lang="en-US" b="true" sz="1899">
                <a:solidFill>
                  <a:srgbClr val="FFFFFF"/>
                </a:solidFill>
                <a:latin typeface="Agrandir Bold"/>
                <a:ea typeface="Agrandir Bold"/>
                <a:cs typeface="Agrandir Bold"/>
                <a:sym typeface="Agrandir Bold"/>
              </a:rPr>
              <a:t>03</a:t>
            </a:r>
          </a:p>
        </p:txBody>
      </p:sp>
      <p:sp>
        <p:nvSpPr>
          <p:cNvPr name="TextBox 14" id="14"/>
          <p:cNvSpPr txBox="true"/>
          <p:nvPr/>
        </p:nvSpPr>
        <p:spPr>
          <a:xfrm rot="0">
            <a:off x="623260" y="6341980"/>
            <a:ext cx="9506434" cy="2559949"/>
          </a:xfrm>
          <a:prstGeom prst="rect">
            <a:avLst/>
          </a:prstGeom>
        </p:spPr>
        <p:txBody>
          <a:bodyPr anchor="t" rtlCol="false" tIns="0" lIns="0" bIns="0" rIns="0">
            <a:spAutoFit/>
          </a:bodyPr>
          <a:lstStyle/>
          <a:p>
            <a:pPr algn="l">
              <a:lnSpc>
                <a:spcPts val="9575"/>
              </a:lnSpc>
              <a:spcBef>
                <a:spcPct val="0"/>
              </a:spcBef>
            </a:pPr>
            <a:r>
              <a:rPr lang="en-US" b="true" sz="6839">
                <a:solidFill>
                  <a:srgbClr val="0F28EC"/>
                </a:solidFill>
                <a:latin typeface="Agrandir Bold"/>
                <a:ea typeface="Agrandir Bold"/>
                <a:cs typeface="Agrandir Bold"/>
                <a:sym typeface="Agrandir Bold"/>
              </a:rPr>
              <a:t>Bố</a:t>
            </a:r>
            <a:r>
              <a:rPr lang="en-US" b="true" sz="6839">
                <a:solidFill>
                  <a:srgbClr val="0F28EC"/>
                </a:solidFill>
                <a:latin typeface="Agrandir Bold"/>
                <a:ea typeface="Agrandir Bold"/>
                <a:cs typeface="Agrandir Bold"/>
                <a:sym typeface="Agrandir Bold"/>
              </a:rPr>
              <a:t>i cảnh nghiên cứu &amp; Hiện trạng vấn đề</a:t>
            </a:r>
          </a:p>
        </p:txBody>
      </p:sp>
      <p:sp>
        <p:nvSpPr>
          <p:cNvPr name="TextBox 15" id="15"/>
          <p:cNvSpPr txBox="true"/>
          <p:nvPr/>
        </p:nvSpPr>
        <p:spPr>
          <a:xfrm rot="0">
            <a:off x="623260" y="1596413"/>
            <a:ext cx="1492305" cy="5800907"/>
          </a:xfrm>
          <a:prstGeom prst="rect">
            <a:avLst/>
          </a:prstGeom>
        </p:spPr>
        <p:txBody>
          <a:bodyPr anchor="t" rtlCol="false" tIns="0" lIns="0" bIns="0" rIns="0">
            <a:spAutoFit/>
          </a:bodyPr>
          <a:lstStyle/>
          <a:p>
            <a:pPr algn="l">
              <a:lnSpc>
                <a:spcPts val="40655"/>
              </a:lnSpc>
              <a:spcBef>
                <a:spcPct val="0"/>
              </a:spcBef>
            </a:pPr>
            <a:r>
              <a:rPr lang="en-US" b="true" sz="29039">
                <a:solidFill>
                  <a:srgbClr val="0F28EC"/>
                </a:solidFill>
                <a:latin typeface="Agrandir Bold"/>
                <a:ea typeface="Agrandir Bold"/>
                <a:cs typeface="Agrandir Bold"/>
                <a:sym typeface="Agrandir Bold"/>
              </a:rPr>
              <a:t>1</a:t>
            </a: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bg>
      <p:bgPr>
        <a:solidFill>
          <a:srgbClr val="C7D3FF"/>
        </a:solidFill>
      </p:bgPr>
    </p:bg>
    <p:spTree>
      <p:nvGrpSpPr>
        <p:cNvPr id="1" name=""/>
        <p:cNvGrpSpPr/>
        <p:nvPr/>
      </p:nvGrpSpPr>
      <p:grpSpPr>
        <a:xfrm>
          <a:off x="0" y="0"/>
          <a:ext cx="0" cy="0"/>
          <a:chOff x="0" y="0"/>
          <a:chExt cx="0" cy="0"/>
        </a:xfrm>
      </p:grpSpPr>
      <p:grpSp>
        <p:nvGrpSpPr>
          <p:cNvPr name="Group 2" id="2"/>
          <p:cNvGrpSpPr/>
          <p:nvPr/>
        </p:nvGrpSpPr>
        <p:grpSpPr>
          <a:xfrm rot="0">
            <a:off x="-217699" y="525326"/>
            <a:ext cx="17904046" cy="1338906"/>
            <a:chOff x="0" y="0"/>
            <a:chExt cx="4715469" cy="352634"/>
          </a:xfrm>
        </p:grpSpPr>
        <p:sp>
          <p:nvSpPr>
            <p:cNvPr name="Freeform 3" id="3"/>
            <p:cNvSpPr/>
            <p:nvPr/>
          </p:nvSpPr>
          <p:spPr>
            <a:xfrm flipH="false" flipV="false" rot="0">
              <a:off x="0" y="0"/>
              <a:ext cx="4715469" cy="352634"/>
            </a:xfrm>
            <a:custGeom>
              <a:avLst/>
              <a:gdLst/>
              <a:ahLst/>
              <a:cxnLst/>
              <a:rect r="r" b="b" t="t" l="l"/>
              <a:pathLst>
                <a:path h="352634" w="4715469">
                  <a:moveTo>
                    <a:pt x="0" y="0"/>
                  </a:moveTo>
                  <a:lnTo>
                    <a:pt x="4715469" y="0"/>
                  </a:lnTo>
                  <a:lnTo>
                    <a:pt x="4715469" y="352634"/>
                  </a:lnTo>
                  <a:lnTo>
                    <a:pt x="0" y="352634"/>
                  </a:lnTo>
                  <a:close/>
                </a:path>
              </a:pathLst>
            </a:custGeom>
            <a:solidFill>
              <a:srgbClr val="1022B1"/>
            </a:solidFill>
          </p:spPr>
        </p:sp>
        <p:sp>
          <p:nvSpPr>
            <p:cNvPr name="TextBox 4" id="4"/>
            <p:cNvSpPr txBox="true"/>
            <p:nvPr/>
          </p:nvSpPr>
          <p:spPr>
            <a:xfrm>
              <a:off x="0" y="-85725"/>
              <a:ext cx="4715469" cy="438359"/>
            </a:xfrm>
            <a:prstGeom prst="rect">
              <a:avLst/>
            </a:prstGeom>
          </p:spPr>
          <p:txBody>
            <a:bodyPr anchor="ctr" rtlCol="false" tIns="50800" lIns="50800" bIns="50800" rIns="50800"/>
            <a:lstStyle/>
            <a:p>
              <a:pPr algn="ctr">
                <a:lnSpc>
                  <a:spcPts val="2659"/>
                </a:lnSpc>
              </a:pPr>
            </a:p>
          </p:txBody>
        </p:sp>
      </p:grpSp>
      <p:grpSp>
        <p:nvGrpSpPr>
          <p:cNvPr name="Group 5" id="5"/>
          <p:cNvGrpSpPr/>
          <p:nvPr/>
        </p:nvGrpSpPr>
        <p:grpSpPr>
          <a:xfrm rot="0">
            <a:off x="15958661" y="-1019379"/>
            <a:ext cx="3853113" cy="3853113"/>
            <a:chOff x="0" y="0"/>
            <a:chExt cx="812800" cy="812800"/>
          </a:xfrm>
        </p:grpSpPr>
        <p:sp>
          <p:nvSpPr>
            <p:cNvPr name="Freeform 6" id="6"/>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F28EC"/>
            </a:solidFill>
          </p:spPr>
        </p:sp>
        <p:sp>
          <p:nvSpPr>
            <p:cNvPr name="TextBox 7" id="7"/>
            <p:cNvSpPr txBox="true"/>
            <p:nvPr/>
          </p:nvSpPr>
          <p:spPr>
            <a:xfrm>
              <a:off x="76200" y="38100"/>
              <a:ext cx="660400" cy="698500"/>
            </a:xfrm>
            <a:prstGeom prst="rect">
              <a:avLst/>
            </a:prstGeom>
          </p:spPr>
          <p:txBody>
            <a:bodyPr anchor="ctr" rtlCol="false" tIns="50800" lIns="50800" bIns="50800" rIns="50800"/>
            <a:lstStyle/>
            <a:p>
              <a:pPr algn="ctr">
                <a:lnSpc>
                  <a:spcPts val="2659"/>
                </a:lnSpc>
                <a:spcBef>
                  <a:spcPct val="0"/>
                </a:spcBef>
              </a:pPr>
            </a:p>
          </p:txBody>
        </p:sp>
      </p:grpSp>
      <p:sp>
        <p:nvSpPr>
          <p:cNvPr name="Freeform 8" id="8"/>
          <p:cNvSpPr/>
          <p:nvPr/>
        </p:nvSpPr>
        <p:spPr>
          <a:xfrm flipH="false" flipV="false" rot="0">
            <a:off x="17259300" y="1052847"/>
            <a:ext cx="427047" cy="427047"/>
          </a:xfrm>
          <a:custGeom>
            <a:avLst/>
            <a:gdLst/>
            <a:ahLst/>
            <a:cxnLst/>
            <a:rect r="r" b="b" t="t" l="l"/>
            <a:pathLst>
              <a:path h="427047" w="427047">
                <a:moveTo>
                  <a:pt x="0" y="0"/>
                </a:moveTo>
                <a:lnTo>
                  <a:pt x="427047" y="0"/>
                </a:lnTo>
                <a:lnTo>
                  <a:pt x="427047" y="427047"/>
                </a:lnTo>
                <a:lnTo>
                  <a:pt x="0" y="427047"/>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9" id="9"/>
          <p:cNvGrpSpPr/>
          <p:nvPr/>
        </p:nvGrpSpPr>
        <p:grpSpPr>
          <a:xfrm rot="0">
            <a:off x="17509719" y="9508719"/>
            <a:ext cx="778281" cy="778281"/>
            <a:chOff x="0" y="0"/>
            <a:chExt cx="204979" cy="204979"/>
          </a:xfrm>
        </p:grpSpPr>
        <p:sp>
          <p:nvSpPr>
            <p:cNvPr name="Freeform 10" id="10"/>
            <p:cNvSpPr/>
            <p:nvPr/>
          </p:nvSpPr>
          <p:spPr>
            <a:xfrm flipH="false" flipV="false" rot="0">
              <a:off x="0" y="0"/>
              <a:ext cx="204979" cy="204979"/>
            </a:xfrm>
            <a:custGeom>
              <a:avLst/>
              <a:gdLst/>
              <a:ahLst/>
              <a:cxnLst/>
              <a:rect r="r" b="b" t="t" l="l"/>
              <a:pathLst>
                <a:path h="204979" w="204979">
                  <a:moveTo>
                    <a:pt x="0" y="0"/>
                  </a:moveTo>
                  <a:lnTo>
                    <a:pt x="204979" y="0"/>
                  </a:lnTo>
                  <a:lnTo>
                    <a:pt x="204979" y="204979"/>
                  </a:lnTo>
                  <a:lnTo>
                    <a:pt x="0" y="204979"/>
                  </a:lnTo>
                  <a:close/>
                </a:path>
              </a:pathLst>
            </a:custGeom>
            <a:solidFill>
              <a:srgbClr val="0F28EC"/>
            </a:solidFill>
          </p:spPr>
        </p:sp>
        <p:sp>
          <p:nvSpPr>
            <p:cNvPr name="TextBox 11" id="11"/>
            <p:cNvSpPr txBox="true"/>
            <p:nvPr/>
          </p:nvSpPr>
          <p:spPr>
            <a:xfrm>
              <a:off x="0" y="-85725"/>
              <a:ext cx="204979" cy="290704"/>
            </a:xfrm>
            <a:prstGeom prst="rect">
              <a:avLst/>
            </a:prstGeom>
          </p:spPr>
          <p:txBody>
            <a:bodyPr anchor="ctr" rtlCol="false" tIns="50800" lIns="50800" bIns="50800" rIns="50800"/>
            <a:lstStyle/>
            <a:p>
              <a:pPr algn="ctr">
                <a:lnSpc>
                  <a:spcPts val="2659"/>
                </a:lnSpc>
              </a:pPr>
            </a:p>
          </p:txBody>
        </p:sp>
      </p:grpSp>
      <p:sp>
        <p:nvSpPr>
          <p:cNvPr name="Freeform 12" id="12"/>
          <p:cNvSpPr/>
          <p:nvPr/>
        </p:nvSpPr>
        <p:spPr>
          <a:xfrm flipH="false" flipV="false" rot="0">
            <a:off x="0" y="2833735"/>
            <a:ext cx="6414846" cy="5796688"/>
          </a:xfrm>
          <a:custGeom>
            <a:avLst/>
            <a:gdLst/>
            <a:ahLst/>
            <a:cxnLst/>
            <a:rect r="r" b="b" t="t" l="l"/>
            <a:pathLst>
              <a:path h="5796688" w="6414846">
                <a:moveTo>
                  <a:pt x="0" y="0"/>
                </a:moveTo>
                <a:lnTo>
                  <a:pt x="6414846" y="0"/>
                </a:lnTo>
                <a:lnTo>
                  <a:pt x="6414846" y="5796688"/>
                </a:lnTo>
                <a:lnTo>
                  <a:pt x="0" y="5796688"/>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13" id="13"/>
          <p:cNvSpPr txBox="true"/>
          <p:nvPr/>
        </p:nvSpPr>
        <p:spPr>
          <a:xfrm rot="0">
            <a:off x="17736317" y="9669577"/>
            <a:ext cx="382236" cy="370840"/>
          </a:xfrm>
          <a:prstGeom prst="rect">
            <a:avLst/>
          </a:prstGeom>
        </p:spPr>
        <p:txBody>
          <a:bodyPr anchor="t" rtlCol="false" tIns="0" lIns="0" bIns="0" rIns="0">
            <a:spAutoFit/>
          </a:bodyPr>
          <a:lstStyle/>
          <a:p>
            <a:pPr algn="l">
              <a:lnSpc>
                <a:spcPts val="2659"/>
              </a:lnSpc>
              <a:spcBef>
                <a:spcPct val="0"/>
              </a:spcBef>
            </a:pPr>
            <a:r>
              <a:rPr lang="en-US" b="true" sz="1899">
                <a:solidFill>
                  <a:srgbClr val="FFFFFF"/>
                </a:solidFill>
                <a:latin typeface="Agrandir Bold"/>
                <a:ea typeface="Agrandir Bold"/>
                <a:cs typeface="Agrandir Bold"/>
                <a:sym typeface="Agrandir Bold"/>
              </a:rPr>
              <a:t>04</a:t>
            </a:r>
          </a:p>
        </p:txBody>
      </p:sp>
      <p:sp>
        <p:nvSpPr>
          <p:cNvPr name="TextBox 14" id="14"/>
          <p:cNvSpPr txBox="true"/>
          <p:nvPr/>
        </p:nvSpPr>
        <p:spPr>
          <a:xfrm rot="0">
            <a:off x="561398" y="397611"/>
            <a:ext cx="10951639" cy="1350274"/>
          </a:xfrm>
          <a:prstGeom prst="rect">
            <a:avLst/>
          </a:prstGeom>
        </p:spPr>
        <p:txBody>
          <a:bodyPr anchor="t" rtlCol="false" tIns="0" lIns="0" bIns="0" rIns="0">
            <a:spAutoFit/>
          </a:bodyPr>
          <a:lstStyle/>
          <a:p>
            <a:pPr algn="l">
              <a:lnSpc>
                <a:spcPts val="9575"/>
              </a:lnSpc>
              <a:spcBef>
                <a:spcPct val="0"/>
              </a:spcBef>
            </a:pPr>
            <a:r>
              <a:rPr lang="en-US" b="true" sz="6839">
                <a:solidFill>
                  <a:srgbClr val="FFFFFF"/>
                </a:solidFill>
                <a:latin typeface="Agrandir Bold"/>
                <a:ea typeface="Agrandir Bold"/>
                <a:cs typeface="Agrandir Bold"/>
                <a:sym typeface="Agrandir Bold"/>
              </a:rPr>
              <a:t>1. Bối cảnh nghiên cứu</a:t>
            </a:r>
          </a:p>
        </p:txBody>
      </p:sp>
      <p:grpSp>
        <p:nvGrpSpPr>
          <p:cNvPr name="Group 15" id="15"/>
          <p:cNvGrpSpPr/>
          <p:nvPr/>
        </p:nvGrpSpPr>
        <p:grpSpPr>
          <a:xfrm rot="0">
            <a:off x="6844137" y="5143500"/>
            <a:ext cx="10911002" cy="1604645"/>
            <a:chOff x="0" y="0"/>
            <a:chExt cx="14548003" cy="2139527"/>
          </a:xfrm>
        </p:grpSpPr>
        <p:sp>
          <p:nvSpPr>
            <p:cNvPr name="Freeform 16" id="16"/>
            <p:cNvSpPr/>
            <p:nvPr/>
          </p:nvSpPr>
          <p:spPr>
            <a:xfrm flipH="false" flipV="false" rot="0">
              <a:off x="0" y="650874"/>
              <a:ext cx="1094484" cy="837778"/>
            </a:xfrm>
            <a:custGeom>
              <a:avLst/>
              <a:gdLst/>
              <a:ahLst/>
              <a:cxnLst/>
              <a:rect r="r" b="b" t="t" l="l"/>
              <a:pathLst>
                <a:path h="837778" w="1094484">
                  <a:moveTo>
                    <a:pt x="0" y="0"/>
                  </a:moveTo>
                  <a:lnTo>
                    <a:pt x="1094484" y="0"/>
                  </a:lnTo>
                  <a:lnTo>
                    <a:pt x="1094484" y="837778"/>
                  </a:lnTo>
                  <a:lnTo>
                    <a:pt x="0" y="837778"/>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TextBox 17" id="17"/>
            <p:cNvSpPr txBox="true"/>
            <p:nvPr/>
          </p:nvSpPr>
          <p:spPr>
            <a:xfrm rot="0">
              <a:off x="1533055" y="-142875"/>
              <a:ext cx="13014948" cy="2282402"/>
            </a:xfrm>
            <a:prstGeom prst="rect">
              <a:avLst/>
            </a:prstGeom>
          </p:spPr>
          <p:txBody>
            <a:bodyPr anchor="t" rtlCol="false" tIns="0" lIns="0" bIns="0" rIns="0">
              <a:spAutoFit/>
            </a:bodyPr>
            <a:lstStyle/>
            <a:p>
              <a:pPr algn="just">
                <a:lnSpc>
                  <a:spcPts val="4480"/>
                </a:lnSpc>
                <a:spcBef>
                  <a:spcPct val="0"/>
                </a:spcBef>
              </a:pPr>
              <a:r>
                <a:rPr lang="en-US" sz="3200">
                  <a:solidFill>
                    <a:srgbClr val="000000"/>
                  </a:solidFill>
                  <a:latin typeface="Agrandir"/>
                  <a:ea typeface="Agrandir"/>
                  <a:cs typeface="Agrandir"/>
                  <a:sym typeface="Agrandir"/>
                </a:rPr>
                <a:t>Một tỷ lệ lớn trẻ em khiếm thính gặp khó khăn trong việc Tiếp cận giáo dục, Giao tiếp xã hội và Phát triển ngôn ngữ từ sớm.</a:t>
              </a:r>
            </a:p>
          </p:txBody>
        </p:sp>
      </p:grpSp>
      <p:sp>
        <p:nvSpPr>
          <p:cNvPr name="TextBox 18" id="18"/>
          <p:cNvSpPr txBox="true"/>
          <p:nvPr/>
        </p:nvSpPr>
        <p:spPr>
          <a:xfrm rot="0">
            <a:off x="7965112" y="7127552"/>
            <a:ext cx="9790027" cy="1747520"/>
          </a:xfrm>
          <a:prstGeom prst="rect">
            <a:avLst/>
          </a:prstGeom>
        </p:spPr>
        <p:txBody>
          <a:bodyPr anchor="t" rtlCol="false" tIns="0" lIns="0" bIns="0" rIns="0">
            <a:spAutoFit/>
          </a:bodyPr>
          <a:lstStyle/>
          <a:p>
            <a:pPr algn="just">
              <a:lnSpc>
                <a:spcPts val="4480"/>
              </a:lnSpc>
              <a:spcBef>
                <a:spcPct val="0"/>
              </a:spcBef>
            </a:pPr>
            <a:r>
              <a:rPr lang="en-US" sz="3200">
                <a:solidFill>
                  <a:srgbClr val="000000"/>
                </a:solidFill>
                <a:latin typeface="Agrandir"/>
                <a:ea typeface="Agrandir"/>
                <a:cs typeface="Agrandir"/>
                <a:sym typeface="Agrandir"/>
              </a:rPr>
              <a:t>Ngôn ngữ ký hiệu là ngôn ngữ tự nhiên của cộng đồng người khiếm thính. Giúp trẻ Giao tiếp hiệu quả, Phát triển tư duy ngôn ngữ và Hòa nhập xã hội.</a:t>
            </a:r>
          </a:p>
        </p:txBody>
      </p:sp>
      <p:sp>
        <p:nvSpPr>
          <p:cNvPr name="Freeform 19" id="19"/>
          <p:cNvSpPr/>
          <p:nvPr/>
        </p:nvSpPr>
        <p:spPr>
          <a:xfrm flipH="false" flipV="false" rot="0">
            <a:off x="6815321" y="7758582"/>
            <a:ext cx="820863" cy="628334"/>
          </a:xfrm>
          <a:custGeom>
            <a:avLst/>
            <a:gdLst/>
            <a:ahLst/>
            <a:cxnLst/>
            <a:rect r="r" b="b" t="t" l="l"/>
            <a:pathLst>
              <a:path h="628334" w="820863">
                <a:moveTo>
                  <a:pt x="0" y="0"/>
                </a:moveTo>
                <a:lnTo>
                  <a:pt x="820864" y="0"/>
                </a:lnTo>
                <a:lnTo>
                  <a:pt x="820864" y="628334"/>
                </a:lnTo>
                <a:lnTo>
                  <a:pt x="0" y="628334"/>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grpSp>
        <p:nvGrpSpPr>
          <p:cNvPr name="Group 20" id="20"/>
          <p:cNvGrpSpPr/>
          <p:nvPr/>
        </p:nvGrpSpPr>
        <p:grpSpPr>
          <a:xfrm rot="0">
            <a:off x="6815321" y="3014980"/>
            <a:ext cx="10871026" cy="1604645"/>
            <a:chOff x="0" y="0"/>
            <a:chExt cx="14494701" cy="2139527"/>
          </a:xfrm>
        </p:grpSpPr>
        <p:sp>
          <p:nvSpPr>
            <p:cNvPr name="TextBox 21" id="21"/>
            <p:cNvSpPr txBox="true"/>
            <p:nvPr/>
          </p:nvSpPr>
          <p:spPr>
            <a:xfrm rot="0">
              <a:off x="1628452" y="-142875"/>
              <a:ext cx="12866249" cy="2282402"/>
            </a:xfrm>
            <a:prstGeom prst="rect">
              <a:avLst/>
            </a:prstGeom>
          </p:spPr>
          <p:txBody>
            <a:bodyPr anchor="t" rtlCol="false" tIns="0" lIns="0" bIns="0" rIns="0">
              <a:spAutoFit/>
            </a:bodyPr>
            <a:lstStyle/>
            <a:p>
              <a:pPr algn="just">
                <a:lnSpc>
                  <a:spcPts val="4480"/>
                </a:lnSpc>
                <a:spcBef>
                  <a:spcPct val="0"/>
                </a:spcBef>
              </a:pPr>
              <a:r>
                <a:rPr lang="en-US" sz="3200">
                  <a:solidFill>
                    <a:srgbClr val="000000"/>
                  </a:solidFill>
                  <a:latin typeface="Agrandir"/>
                  <a:ea typeface="Agrandir"/>
                  <a:cs typeface="Agrandir"/>
                  <a:sym typeface="Agrandir"/>
                </a:rPr>
                <a:t>Theo World Health Organization, hàng trăm triệu người trên thế giới đang sống chung với tình trạng suy giảm thính lực.</a:t>
              </a:r>
            </a:p>
          </p:txBody>
        </p:sp>
        <p:sp>
          <p:nvSpPr>
            <p:cNvPr name="Freeform 22" id="22"/>
            <p:cNvSpPr/>
            <p:nvPr/>
          </p:nvSpPr>
          <p:spPr>
            <a:xfrm flipH="false" flipV="false" rot="0">
              <a:off x="0" y="650874"/>
              <a:ext cx="1094484" cy="837778"/>
            </a:xfrm>
            <a:custGeom>
              <a:avLst/>
              <a:gdLst/>
              <a:ahLst/>
              <a:cxnLst/>
              <a:rect r="r" b="b" t="t" l="l"/>
              <a:pathLst>
                <a:path h="837778" w="1094484">
                  <a:moveTo>
                    <a:pt x="0" y="0"/>
                  </a:moveTo>
                  <a:lnTo>
                    <a:pt x="1094484" y="0"/>
                  </a:lnTo>
                  <a:lnTo>
                    <a:pt x="1094484" y="837778"/>
                  </a:lnTo>
                  <a:lnTo>
                    <a:pt x="0" y="837778"/>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gr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bg>
      <p:bgPr>
        <a:solidFill>
          <a:srgbClr val="C7D3FF"/>
        </a:solidFill>
      </p:bgPr>
    </p:bg>
    <p:spTree>
      <p:nvGrpSpPr>
        <p:cNvPr id="1" name=""/>
        <p:cNvGrpSpPr/>
        <p:nvPr/>
      </p:nvGrpSpPr>
      <p:grpSpPr>
        <a:xfrm>
          <a:off x="0" y="0"/>
          <a:ext cx="0" cy="0"/>
          <a:chOff x="0" y="0"/>
          <a:chExt cx="0" cy="0"/>
        </a:xfrm>
      </p:grpSpPr>
      <p:grpSp>
        <p:nvGrpSpPr>
          <p:cNvPr name="Group 2" id="2"/>
          <p:cNvGrpSpPr/>
          <p:nvPr/>
        </p:nvGrpSpPr>
        <p:grpSpPr>
          <a:xfrm rot="0">
            <a:off x="-217699" y="525326"/>
            <a:ext cx="17904046" cy="1338906"/>
            <a:chOff x="0" y="0"/>
            <a:chExt cx="4715469" cy="352634"/>
          </a:xfrm>
        </p:grpSpPr>
        <p:sp>
          <p:nvSpPr>
            <p:cNvPr name="Freeform 3" id="3"/>
            <p:cNvSpPr/>
            <p:nvPr/>
          </p:nvSpPr>
          <p:spPr>
            <a:xfrm flipH="false" flipV="false" rot="0">
              <a:off x="0" y="0"/>
              <a:ext cx="4715469" cy="352634"/>
            </a:xfrm>
            <a:custGeom>
              <a:avLst/>
              <a:gdLst/>
              <a:ahLst/>
              <a:cxnLst/>
              <a:rect r="r" b="b" t="t" l="l"/>
              <a:pathLst>
                <a:path h="352634" w="4715469">
                  <a:moveTo>
                    <a:pt x="0" y="0"/>
                  </a:moveTo>
                  <a:lnTo>
                    <a:pt x="4715469" y="0"/>
                  </a:lnTo>
                  <a:lnTo>
                    <a:pt x="4715469" y="352634"/>
                  </a:lnTo>
                  <a:lnTo>
                    <a:pt x="0" y="352634"/>
                  </a:lnTo>
                  <a:close/>
                </a:path>
              </a:pathLst>
            </a:custGeom>
            <a:solidFill>
              <a:srgbClr val="1022B1"/>
            </a:solidFill>
          </p:spPr>
        </p:sp>
        <p:sp>
          <p:nvSpPr>
            <p:cNvPr name="TextBox 4" id="4"/>
            <p:cNvSpPr txBox="true"/>
            <p:nvPr/>
          </p:nvSpPr>
          <p:spPr>
            <a:xfrm>
              <a:off x="0" y="-85725"/>
              <a:ext cx="4715469" cy="438359"/>
            </a:xfrm>
            <a:prstGeom prst="rect">
              <a:avLst/>
            </a:prstGeom>
          </p:spPr>
          <p:txBody>
            <a:bodyPr anchor="ctr" rtlCol="false" tIns="50800" lIns="50800" bIns="50800" rIns="50800"/>
            <a:lstStyle/>
            <a:p>
              <a:pPr algn="ctr">
                <a:lnSpc>
                  <a:spcPts val="2659"/>
                </a:lnSpc>
              </a:pPr>
            </a:p>
          </p:txBody>
        </p:sp>
      </p:grpSp>
      <p:grpSp>
        <p:nvGrpSpPr>
          <p:cNvPr name="Group 5" id="5"/>
          <p:cNvGrpSpPr/>
          <p:nvPr/>
        </p:nvGrpSpPr>
        <p:grpSpPr>
          <a:xfrm rot="0">
            <a:off x="15958661" y="-1019379"/>
            <a:ext cx="3853113" cy="3853113"/>
            <a:chOff x="0" y="0"/>
            <a:chExt cx="812800" cy="812800"/>
          </a:xfrm>
        </p:grpSpPr>
        <p:sp>
          <p:nvSpPr>
            <p:cNvPr name="Freeform 6" id="6"/>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F28EC"/>
            </a:solidFill>
          </p:spPr>
        </p:sp>
        <p:sp>
          <p:nvSpPr>
            <p:cNvPr name="TextBox 7" id="7"/>
            <p:cNvSpPr txBox="true"/>
            <p:nvPr/>
          </p:nvSpPr>
          <p:spPr>
            <a:xfrm>
              <a:off x="76200" y="38100"/>
              <a:ext cx="660400" cy="698500"/>
            </a:xfrm>
            <a:prstGeom prst="rect">
              <a:avLst/>
            </a:prstGeom>
          </p:spPr>
          <p:txBody>
            <a:bodyPr anchor="ctr" rtlCol="false" tIns="50800" lIns="50800" bIns="50800" rIns="50800"/>
            <a:lstStyle/>
            <a:p>
              <a:pPr algn="ctr">
                <a:lnSpc>
                  <a:spcPts val="2659"/>
                </a:lnSpc>
                <a:spcBef>
                  <a:spcPct val="0"/>
                </a:spcBef>
              </a:pPr>
            </a:p>
          </p:txBody>
        </p:sp>
      </p:grpSp>
      <p:sp>
        <p:nvSpPr>
          <p:cNvPr name="Freeform 8" id="8"/>
          <p:cNvSpPr/>
          <p:nvPr/>
        </p:nvSpPr>
        <p:spPr>
          <a:xfrm flipH="false" flipV="false" rot="0">
            <a:off x="17259300" y="1052847"/>
            <a:ext cx="427047" cy="427047"/>
          </a:xfrm>
          <a:custGeom>
            <a:avLst/>
            <a:gdLst/>
            <a:ahLst/>
            <a:cxnLst/>
            <a:rect r="r" b="b" t="t" l="l"/>
            <a:pathLst>
              <a:path h="427047" w="427047">
                <a:moveTo>
                  <a:pt x="0" y="0"/>
                </a:moveTo>
                <a:lnTo>
                  <a:pt x="427047" y="0"/>
                </a:lnTo>
                <a:lnTo>
                  <a:pt x="427047" y="427047"/>
                </a:lnTo>
                <a:lnTo>
                  <a:pt x="0" y="427047"/>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9" id="9"/>
          <p:cNvGrpSpPr/>
          <p:nvPr/>
        </p:nvGrpSpPr>
        <p:grpSpPr>
          <a:xfrm rot="0">
            <a:off x="17509719" y="9508719"/>
            <a:ext cx="778281" cy="778281"/>
            <a:chOff x="0" y="0"/>
            <a:chExt cx="204979" cy="204979"/>
          </a:xfrm>
        </p:grpSpPr>
        <p:sp>
          <p:nvSpPr>
            <p:cNvPr name="Freeform 10" id="10"/>
            <p:cNvSpPr/>
            <p:nvPr/>
          </p:nvSpPr>
          <p:spPr>
            <a:xfrm flipH="false" flipV="false" rot="0">
              <a:off x="0" y="0"/>
              <a:ext cx="204979" cy="204979"/>
            </a:xfrm>
            <a:custGeom>
              <a:avLst/>
              <a:gdLst/>
              <a:ahLst/>
              <a:cxnLst/>
              <a:rect r="r" b="b" t="t" l="l"/>
              <a:pathLst>
                <a:path h="204979" w="204979">
                  <a:moveTo>
                    <a:pt x="0" y="0"/>
                  </a:moveTo>
                  <a:lnTo>
                    <a:pt x="204979" y="0"/>
                  </a:lnTo>
                  <a:lnTo>
                    <a:pt x="204979" y="204979"/>
                  </a:lnTo>
                  <a:lnTo>
                    <a:pt x="0" y="204979"/>
                  </a:lnTo>
                  <a:close/>
                </a:path>
              </a:pathLst>
            </a:custGeom>
            <a:solidFill>
              <a:srgbClr val="0F28EC"/>
            </a:solidFill>
          </p:spPr>
        </p:sp>
        <p:sp>
          <p:nvSpPr>
            <p:cNvPr name="TextBox 11" id="11"/>
            <p:cNvSpPr txBox="true"/>
            <p:nvPr/>
          </p:nvSpPr>
          <p:spPr>
            <a:xfrm>
              <a:off x="0" y="-85725"/>
              <a:ext cx="204979" cy="290704"/>
            </a:xfrm>
            <a:prstGeom prst="rect">
              <a:avLst/>
            </a:prstGeom>
          </p:spPr>
          <p:txBody>
            <a:bodyPr anchor="ctr" rtlCol="false" tIns="50800" lIns="50800" bIns="50800" rIns="50800"/>
            <a:lstStyle/>
            <a:p>
              <a:pPr algn="ctr">
                <a:lnSpc>
                  <a:spcPts val="2659"/>
                </a:lnSpc>
              </a:pPr>
            </a:p>
          </p:txBody>
        </p:sp>
      </p:grpSp>
      <p:sp>
        <p:nvSpPr>
          <p:cNvPr name="TextBox 12" id="12"/>
          <p:cNvSpPr txBox="true"/>
          <p:nvPr/>
        </p:nvSpPr>
        <p:spPr>
          <a:xfrm rot="0">
            <a:off x="17736317" y="9669577"/>
            <a:ext cx="382236" cy="370840"/>
          </a:xfrm>
          <a:prstGeom prst="rect">
            <a:avLst/>
          </a:prstGeom>
        </p:spPr>
        <p:txBody>
          <a:bodyPr anchor="t" rtlCol="false" tIns="0" lIns="0" bIns="0" rIns="0">
            <a:spAutoFit/>
          </a:bodyPr>
          <a:lstStyle/>
          <a:p>
            <a:pPr algn="l">
              <a:lnSpc>
                <a:spcPts val="2659"/>
              </a:lnSpc>
              <a:spcBef>
                <a:spcPct val="0"/>
              </a:spcBef>
            </a:pPr>
            <a:r>
              <a:rPr lang="en-US" b="true" sz="1899">
                <a:solidFill>
                  <a:srgbClr val="FFFFFF"/>
                </a:solidFill>
                <a:latin typeface="Agrandir Bold"/>
                <a:ea typeface="Agrandir Bold"/>
                <a:cs typeface="Agrandir Bold"/>
                <a:sym typeface="Agrandir Bold"/>
              </a:rPr>
              <a:t>05</a:t>
            </a:r>
          </a:p>
        </p:txBody>
      </p:sp>
      <p:sp>
        <p:nvSpPr>
          <p:cNvPr name="TextBox 13" id="13"/>
          <p:cNvSpPr txBox="true"/>
          <p:nvPr/>
        </p:nvSpPr>
        <p:spPr>
          <a:xfrm rot="0">
            <a:off x="561398" y="397611"/>
            <a:ext cx="10951639" cy="1350274"/>
          </a:xfrm>
          <a:prstGeom prst="rect">
            <a:avLst/>
          </a:prstGeom>
        </p:spPr>
        <p:txBody>
          <a:bodyPr anchor="t" rtlCol="false" tIns="0" lIns="0" bIns="0" rIns="0">
            <a:spAutoFit/>
          </a:bodyPr>
          <a:lstStyle/>
          <a:p>
            <a:pPr algn="l">
              <a:lnSpc>
                <a:spcPts val="9575"/>
              </a:lnSpc>
              <a:spcBef>
                <a:spcPct val="0"/>
              </a:spcBef>
            </a:pPr>
            <a:r>
              <a:rPr lang="en-US" b="true" sz="6839">
                <a:solidFill>
                  <a:srgbClr val="FFFFFF"/>
                </a:solidFill>
                <a:latin typeface="Agrandir Bold"/>
                <a:ea typeface="Agrandir Bold"/>
                <a:cs typeface="Agrandir Bold"/>
                <a:sym typeface="Agrandir Bold"/>
              </a:rPr>
              <a:t>2. Hiện trạng vấn đề</a:t>
            </a:r>
          </a:p>
        </p:txBody>
      </p:sp>
      <p:sp>
        <p:nvSpPr>
          <p:cNvPr name="TextBox 14" id="14"/>
          <p:cNvSpPr txBox="true"/>
          <p:nvPr/>
        </p:nvSpPr>
        <p:spPr>
          <a:xfrm rot="0">
            <a:off x="7110354" y="3709535"/>
            <a:ext cx="10575993" cy="1747520"/>
          </a:xfrm>
          <a:prstGeom prst="rect">
            <a:avLst/>
          </a:prstGeom>
        </p:spPr>
        <p:txBody>
          <a:bodyPr anchor="t" rtlCol="false" tIns="0" lIns="0" bIns="0" rIns="0">
            <a:spAutoFit/>
          </a:bodyPr>
          <a:lstStyle/>
          <a:p>
            <a:pPr algn="just">
              <a:lnSpc>
                <a:spcPts val="4480"/>
              </a:lnSpc>
              <a:spcBef>
                <a:spcPct val="0"/>
              </a:spcBef>
            </a:pPr>
            <a:r>
              <a:rPr lang="en-US" sz="3200">
                <a:solidFill>
                  <a:srgbClr val="000000"/>
                </a:solidFill>
                <a:latin typeface="Agrandir"/>
                <a:ea typeface="Agrandir"/>
                <a:cs typeface="Agrandir"/>
                <a:sym typeface="Agrandir"/>
              </a:rPr>
              <a:t>Thiếu tài nguyên học tập hấp dẫn. Nhiều tài liệu hiện nay là dạng sách hoặc tài liệu tĩnh, video rời rạc hoặc thiếu tính tương tác.</a:t>
            </a:r>
          </a:p>
        </p:txBody>
      </p:sp>
      <p:sp>
        <p:nvSpPr>
          <p:cNvPr name="Freeform 15" id="15"/>
          <p:cNvSpPr/>
          <p:nvPr/>
        </p:nvSpPr>
        <p:spPr>
          <a:xfrm flipH="false" flipV="false" rot="0">
            <a:off x="5879059" y="4340566"/>
            <a:ext cx="820863" cy="628334"/>
          </a:xfrm>
          <a:custGeom>
            <a:avLst/>
            <a:gdLst/>
            <a:ahLst/>
            <a:cxnLst/>
            <a:rect r="r" b="b" t="t" l="l"/>
            <a:pathLst>
              <a:path h="628334" w="820863">
                <a:moveTo>
                  <a:pt x="0" y="0"/>
                </a:moveTo>
                <a:lnTo>
                  <a:pt x="820864" y="0"/>
                </a:lnTo>
                <a:lnTo>
                  <a:pt x="820864" y="628333"/>
                </a:lnTo>
                <a:lnTo>
                  <a:pt x="0" y="628333"/>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grpSp>
        <p:nvGrpSpPr>
          <p:cNvPr name="Group 16" id="16"/>
          <p:cNvGrpSpPr/>
          <p:nvPr/>
        </p:nvGrpSpPr>
        <p:grpSpPr>
          <a:xfrm rot="0">
            <a:off x="5850817" y="5919858"/>
            <a:ext cx="11813804" cy="1042670"/>
            <a:chOff x="0" y="0"/>
            <a:chExt cx="15751738" cy="1390227"/>
          </a:xfrm>
        </p:grpSpPr>
        <p:sp>
          <p:nvSpPr>
            <p:cNvPr name="TextBox 17" id="17"/>
            <p:cNvSpPr txBox="true"/>
            <p:nvPr/>
          </p:nvSpPr>
          <p:spPr>
            <a:xfrm rot="0">
              <a:off x="1690921" y="-142875"/>
              <a:ext cx="14060817" cy="1533102"/>
            </a:xfrm>
            <a:prstGeom prst="rect">
              <a:avLst/>
            </a:prstGeom>
          </p:spPr>
          <p:txBody>
            <a:bodyPr anchor="t" rtlCol="false" tIns="0" lIns="0" bIns="0" rIns="0">
              <a:spAutoFit/>
            </a:bodyPr>
            <a:lstStyle/>
            <a:p>
              <a:pPr algn="just">
                <a:lnSpc>
                  <a:spcPts val="4480"/>
                </a:lnSpc>
                <a:spcBef>
                  <a:spcPct val="0"/>
                </a:spcBef>
              </a:pPr>
              <a:r>
                <a:rPr lang="en-US" sz="3200">
                  <a:solidFill>
                    <a:srgbClr val="000000"/>
                  </a:solidFill>
                  <a:latin typeface="Agrandir"/>
                  <a:ea typeface="Agrandir"/>
                  <a:cs typeface="Agrandir"/>
                  <a:sym typeface="Agrandir"/>
                </a:rPr>
                <a:t>Trẻ thường chỉ xem video rồi bắt chước, không biết mình thực hiện đúng hay sai, không có phản hồi tức thời</a:t>
              </a:r>
            </a:p>
          </p:txBody>
        </p:sp>
        <p:sp>
          <p:nvSpPr>
            <p:cNvPr name="Freeform 18" id="18"/>
            <p:cNvSpPr/>
            <p:nvPr/>
          </p:nvSpPr>
          <p:spPr>
            <a:xfrm flipH="false" flipV="false" rot="0">
              <a:off x="0" y="276224"/>
              <a:ext cx="1094484" cy="837778"/>
            </a:xfrm>
            <a:custGeom>
              <a:avLst/>
              <a:gdLst/>
              <a:ahLst/>
              <a:cxnLst/>
              <a:rect r="r" b="b" t="t" l="l"/>
              <a:pathLst>
                <a:path h="837778" w="1094484">
                  <a:moveTo>
                    <a:pt x="0" y="0"/>
                  </a:moveTo>
                  <a:lnTo>
                    <a:pt x="1094484" y="0"/>
                  </a:lnTo>
                  <a:lnTo>
                    <a:pt x="1094484" y="837778"/>
                  </a:lnTo>
                  <a:lnTo>
                    <a:pt x="0" y="837778"/>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grpSp>
      <p:grpSp>
        <p:nvGrpSpPr>
          <p:cNvPr name="Group 19" id="19"/>
          <p:cNvGrpSpPr/>
          <p:nvPr/>
        </p:nvGrpSpPr>
        <p:grpSpPr>
          <a:xfrm rot="0">
            <a:off x="5850817" y="7425332"/>
            <a:ext cx="11813804" cy="1042670"/>
            <a:chOff x="0" y="0"/>
            <a:chExt cx="15751738" cy="1390227"/>
          </a:xfrm>
        </p:grpSpPr>
        <p:sp>
          <p:nvSpPr>
            <p:cNvPr name="TextBox 20" id="20"/>
            <p:cNvSpPr txBox="true"/>
            <p:nvPr/>
          </p:nvSpPr>
          <p:spPr>
            <a:xfrm rot="0">
              <a:off x="1641727" y="-142875"/>
              <a:ext cx="14110011" cy="1533102"/>
            </a:xfrm>
            <a:prstGeom prst="rect">
              <a:avLst/>
            </a:prstGeom>
          </p:spPr>
          <p:txBody>
            <a:bodyPr anchor="t" rtlCol="false" tIns="0" lIns="0" bIns="0" rIns="0">
              <a:spAutoFit/>
            </a:bodyPr>
            <a:lstStyle/>
            <a:p>
              <a:pPr algn="just">
                <a:lnSpc>
                  <a:spcPts val="4480"/>
                </a:lnSpc>
                <a:spcBef>
                  <a:spcPct val="0"/>
                </a:spcBef>
              </a:pPr>
              <a:r>
                <a:rPr lang="en-US" sz="3200">
                  <a:solidFill>
                    <a:srgbClr val="000000"/>
                  </a:solidFill>
                  <a:latin typeface="Agrandir"/>
                  <a:ea typeface="Agrandir"/>
                  <a:cs typeface="Agrandir"/>
                  <a:sym typeface="Agrandir"/>
                </a:rPr>
                <a:t>Trẻ em thường dễ mất tập trung, khó duy trì việc học nếu nội dung đơn điệu</a:t>
              </a:r>
            </a:p>
          </p:txBody>
        </p:sp>
        <p:sp>
          <p:nvSpPr>
            <p:cNvPr name="Freeform 21" id="21"/>
            <p:cNvSpPr/>
            <p:nvPr/>
          </p:nvSpPr>
          <p:spPr>
            <a:xfrm flipH="false" flipV="false" rot="0">
              <a:off x="0" y="276224"/>
              <a:ext cx="1094484" cy="837778"/>
            </a:xfrm>
            <a:custGeom>
              <a:avLst/>
              <a:gdLst/>
              <a:ahLst/>
              <a:cxnLst/>
              <a:rect r="r" b="b" t="t" l="l"/>
              <a:pathLst>
                <a:path h="837778" w="1094484">
                  <a:moveTo>
                    <a:pt x="0" y="0"/>
                  </a:moveTo>
                  <a:lnTo>
                    <a:pt x="1094484" y="0"/>
                  </a:lnTo>
                  <a:lnTo>
                    <a:pt x="1094484" y="837778"/>
                  </a:lnTo>
                  <a:lnTo>
                    <a:pt x="0" y="837778"/>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grpSp>
      <p:sp>
        <p:nvSpPr>
          <p:cNvPr name="Freeform 22" id="22"/>
          <p:cNvSpPr/>
          <p:nvPr/>
        </p:nvSpPr>
        <p:spPr>
          <a:xfrm flipH="false" flipV="false" rot="0">
            <a:off x="289211" y="3487602"/>
            <a:ext cx="5143500" cy="5143500"/>
          </a:xfrm>
          <a:custGeom>
            <a:avLst/>
            <a:gdLst/>
            <a:ahLst/>
            <a:cxnLst/>
            <a:rect r="r" b="b" t="t" l="l"/>
            <a:pathLst>
              <a:path h="5143500" w="5143500">
                <a:moveTo>
                  <a:pt x="0" y="0"/>
                </a:moveTo>
                <a:lnTo>
                  <a:pt x="5143500" y="0"/>
                </a:lnTo>
                <a:lnTo>
                  <a:pt x="5143500" y="5143500"/>
                </a:lnTo>
                <a:lnTo>
                  <a:pt x="0" y="5143500"/>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bg>
      <p:bgPr>
        <a:solidFill>
          <a:srgbClr val="C7D3FF"/>
        </a:solidFill>
      </p:bgPr>
    </p:bg>
    <p:spTree>
      <p:nvGrpSpPr>
        <p:cNvPr id="1" name=""/>
        <p:cNvGrpSpPr/>
        <p:nvPr/>
      </p:nvGrpSpPr>
      <p:grpSpPr>
        <a:xfrm>
          <a:off x="0" y="0"/>
          <a:ext cx="0" cy="0"/>
          <a:chOff x="0" y="0"/>
          <a:chExt cx="0" cy="0"/>
        </a:xfrm>
      </p:grpSpPr>
      <p:grpSp>
        <p:nvGrpSpPr>
          <p:cNvPr name="Group 2" id="2"/>
          <p:cNvGrpSpPr/>
          <p:nvPr/>
        </p:nvGrpSpPr>
        <p:grpSpPr>
          <a:xfrm rot="0">
            <a:off x="-217699" y="525326"/>
            <a:ext cx="17904046" cy="1338906"/>
            <a:chOff x="0" y="0"/>
            <a:chExt cx="4715469" cy="352634"/>
          </a:xfrm>
        </p:grpSpPr>
        <p:sp>
          <p:nvSpPr>
            <p:cNvPr name="Freeform 3" id="3"/>
            <p:cNvSpPr/>
            <p:nvPr/>
          </p:nvSpPr>
          <p:spPr>
            <a:xfrm flipH="false" flipV="false" rot="0">
              <a:off x="0" y="0"/>
              <a:ext cx="4715469" cy="352634"/>
            </a:xfrm>
            <a:custGeom>
              <a:avLst/>
              <a:gdLst/>
              <a:ahLst/>
              <a:cxnLst/>
              <a:rect r="r" b="b" t="t" l="l"/>
              <a:pathLst>
                <a:path h="352634" w="4715469">
                  <a:moveTo>
                    <a:pt x="0" y="0"/>
                  </a:moveTo>
                  <a:lnTo>
                    <a:pt x="4715469" y="0"/>
                  </a:lnTo>
                  <a:lnTo>
                    <a:pt x="4715469" y="352634"/>
                  </a:lnTo>
                  <a:lnTo>
                    <a:pt x="0" y="352634"/>
                  </a:lnTo>
                  <a:close/>
                </a:path>
              </a:pathLst>
            </a:custGeom>
            <a:solidFill>
              <a:srgbClr val="1022B1"/>
            </a:solidFill>
          </p:spPr>
        </p:sp>
        <p:sp>
          <p:nvSpPr>
            <p:cNvPr name="TextBox 4" id="4"/>
            <p:cNvSpPr txBox="true"/>
            <p:nvPr/>
          </p:nvSpPr>
          <p:spPr>
            <a:xfrm>
              <a:off x="0" y="-85725"/>
              <a:ext cx="4715469" cy="438359"/>
            </a:xfrm>
            <a:prstGeom prst="rect">
              <a:avLst/>
            </a:prstGeom>
          </p:spPr>
          <p:txBody>
            <a:bodyPr anchor="ctr" rtlCol="false" tIns="50800" lIns="50800" bIns="50800" rIns="50800"/>
            <a:lstStyle/>
            <a:p>
              <a:pPr algn="ctr">
                <a:lnSpc>
                  <a:spcPts val="2659"/>
                </a:lnSpc>
              </a:pPr>
            </a:p>
          </p:txBody>
        </p:sp>
      </p:grpSp>
      <p:grpSp>
        <p:nvGrpSpPr>
          <p:cNvPr name="Group 5" id="5"/>
          <p:cNvGrpSpPr/>
          <p:nvPr/>
        </p:nvGrpSpPr>
        <p:grpSpPr>
          <a:xfrm rot="0">
            <a:off x="15958661" y="-1019379"/>
            <a:ext cx="3853113" cy="3853113"/>
            <a:chOff x="0" y="0"/>
            <a:chExt cx="812800" cy="812800"/>
          </a:xfrm>
        </p:grpSpPr>
        <p:sp>
          <p:nvSpPr>
            <p:cNvPr name="Freeform 6" id="6"/>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F28EC"/>
            </a:solidFill>
          </p:spPr>
        </p:sp>
        <p:sp>
          <p:nvSpPr>
            <p:cNvPr name="TextBox 7" id="7"/>
            <p:cNvSpPr txBox="true"/>
            <p:nvPr/>
          </p:nvSpPr>
          <p:spPr>
            <a:xfrm>
              <a:off x="76200" y="38100"/>
              <a:ext cx="660400" cy="698500"/>
            </a:xfrm>
            <a:prstGeom prst="rect">
              <a:avLst/>
            </a:prstGeom>
          </p:spPr>
          <p:txBody>
            <a:bodyPr anchor="ctr" rtlCol="false" tIns="50800" lIns="50800" bIns="50800" rIns="50800"/>
            <a:lstStyle/>
            <a:p>
              <a:pPr algn="ctr">
                <a:lnSpc>
                  <a:spcPts val="2659"/>
                </a:lnSpc>
                <a:spcBef>
                  <a:spcPct val="0"/>
                </a:spcBef>
              </a:pPr>
            </a:p>
          </p:txBody>
        </p:sp>
      </p:grpSp>
      <p:sp>
        <p:nvSpPr>
          <p:cNvPr name="Freeform 8" id="8"/>
          <p:cNvSpPr/>
          <p:nvPr/>
        </p:nvSpPr>
        <p:spPr>
          <a:xfrm flipH="false" flipV="false" rot="0">
            <a:off x="17259300" y="1052847"/>
            <a:ext cx="427047" cy="427047"/>
          </a:xfrm>
          <a:custGeom>
            <a:avLst/>
            <a:gdLst/>
            <a:ahLst/>
            <a:cxnLst/>
            <a:rect r="r" b="b" t="t" l="l"/>
            <a:pathLst>
              <a:path h="427047" w="427047">
                <a:moveTo>
                  <a:pt x="0" y="0"/>
                </a:moveTo>
                <a:lnTo>
                  <a:pt x="427047" y="0"/>
                </a:lnTo>
                <a:lnTo>
                  <a:pt x="427047" y="427047"/>
                </a:lnTo>
                <a:lnTo>
                  <a:pt x="0" y="427047"/>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9" id="9"/>
          <p:cNvGrpSpPr/>
          <p:nvPr/>
        </p:nvGrpSpPr>
        <p:grpSpPr>
          <a:xfrm rot="0">
            <a:off x="17509719" y="9508719"/>
            <a:ext cx="778281" cy="778281"/>
            <a:chOff x="0" y="0"/>
            <a:chExt cx="204979" cy="204979"/>
          </a:xfrm>
        </p:grpSpPr>
        <p:sp>
          <p:nvSpPr>
            <p:cNvPr name="Freeform 10" id="10"/>
            <p:cNvSpPr/>
            <p:nvPr/>
          </p:nvSpPr>
          <p:spPr>
            <a:xfrm flipH="false" flipV="false" rot="0">
              <a:off x="0" y="0"/>
              <a:ext cx="204979" cy="204979"/>
            </a:xfrm>
            <a:custGeom>
              <a:avLst/>
              <a:gdLst/>
              <a:ahLst/>
              <a:cxnLst/>
              <a:rect r="r" b="b" t="t" l="l"/>
              <a:pathLst>
                <a:path h="204979" w="204979">
                  <a:moveTo>
                    <a:pt x="0" y="0"/>
                  </a:moveTo>
                  <a:lnTo>
                    <a:pt x="204979" y="0"/>
                  </a:lnTo>
                  <a:lnTo>
                    <a:pt x="204979" y="204979"/>
                  </a:lnTo>
                  <a:lnTo>
                    <a:pt x="0" y="204979"/>
                  </a:lnTo>
                  <a:close/>
                </a:path>
              </a:pathLst>
            </a:custGeom>
            <a:solidFill>
              <a:srgbClr val="0F28EC"/>
            </a:solidFill>
          </p:spPr>
        </p:sp>
        <p:sp>
          <p:nvSpPr>
            <p:cNvPr name="TextBox 11" id="11"/>
            <p:cNvSpPr txBox="true"/>
            <p:nvPr/>
          </p:nvSpPr>
          <p:spPr>
            <a:xfrm>
              <a:off x="0" y="-85725"/>
              <a:ext cx="204979" cy="290704"/>
            </a:xfrm>
            <a:prstGeom prst="rect">
              <a:avLst/>
            </a:prstGeom>
          </p:spPr>
          <p:txBody>
            <a:bodyPr anchor="ctr" rtlCol="false" tIns="50800" lIns="50800" bIns="50800" rIns="50800"/>
            <a:lstStyle/>
            <a:p>
              <a:pPr algn="ctr">
                <a:lnSpc>
                  <a:spcPts val="2659"/>
                </a:lnSpc>
              </a:pPr>
            </a:p>
          </p:txBody>
        </p:sp>
      </p:grpSp>
      <p:sp>
        <p:nvSpPr>
          <p:cNvPr name="TextBox 12" id="12"/>
          <p:cNvSpPr txBox="true"/>
          <p:nvPr/>
        </p:nvSpPr>
        <p:spPr>
          <a:xfrm rot="0">
            <a:off x="17736317" y="9669577"/>
            <a:ext cx="382236" cy="370840"/>
          </a:xfrm>
          <a:prstGeom prst="rect">
            <a:avLst/>
          </a:prstGeom>
        </p:spPr>
        <p:txBody>
          <a:bodyPr anchor="t" rtlCol="false" tIns="0" lIns="0" bIns="0" rIns="0">
            <a:spAutoFit/>
          </a:bodyPr>
          <a:lstStyle/>
          <a:p>
            <a:pPr algn="l">
              <a:lnSpc>
                <a:spcPts val="2659"/>
              </a:lnSpc>
              <a:spcBef>
                <a:spcPct val="0"/>
              </a:spcBef>
            </a:pPr>
            <a:r>
              <a:rPr lang="en-US" b="true" sz="1899">
                <a:solidFill>
                  <a:srgbClr val="FFFFFF"/>
                </a:solidFill>
                <a:latin typeface="Agrandir Bold"/>
                <a:ea typeface="Agrandir Bold"/>
                <a:cs typeface="Agrandir Bold"/>
                <a:sym typeface="Agrandir Bold"/>
              </a:rPr>
              <a:t>06</a:t>
            </a:r>
          </a:p>
        </p:txBody>
      </p:sp>
      <p:grpSp>
        <p:nvGrpSpPr>
          <p:cNvPr name="Group 13" id="13"/>
          <p:cNvGrpSpPr/>
          <p:nvPr/>
        </p:nvGrpSpPr>
        <p:grpSpPr>
          <a:xfrm rot="0">
            <a:off x="1492223" y="3424721"/>
            <a:ext cx="8500773" cy="4705191"/>
            <a:chOff x="0" y="0"/>
            <a:chExt cx="11334364" cy="6273588"/>
          </a:xfrm>
        </p:grpSpPr>
        <p:sp>
          <p:nvSpPr>
            <p:cNvPr name="TextBox 14" id="14"/>
            <p:cNvSpPr txBox="true"/>
            <p:nvPr/>
          </p:nvSpPr>
          <p:spPr>
            <a:xfrm rot="0">
              <a:off x="0" y="4577998"/>
              <a:ext cx="11334364" cy="1695590"/>
            </a:xfrm>
            <a:prstGeom prst="rect">
              <a:avLst/>
            </a:prstGeom>
          </p:spPr>
          <p:txBody>
            <a:bodyPr anchor="t" rtlCol="false" tIns="0" lIns="0" bIns="0" rIns="0">
              <a:spAutoFit/>
            </a:bodyPr>
            <a:lstStyle/>
            <a:p>
              <a:pPr algn="l">
                <a:lnSpc>
                  <a:spcPts val="9575"/>
                </a:lnSpc>
                <a:spcBef>
                  <a:spcPct val="0"/>
                </a:spcBef>
              </a:pPr>
              <a:r>
                <a:rPr lang="en-US" b="true" sz="6839">
                  <a:solidFill>
                    <a:srgbClr val="0F28EC"/>
                  </a:solidFill>
                  <a:latin typeface="Agrandir Bold"/>
                  <a:ea typeface="Agrandir Bold"/>
                  <a:cs typeface="Agrandir Bold"/>
                  <a:sym typeface="Agrandir Bold"/>
                </a:rPr>
                <a:t>Các giải pháp đã có</a:t>
              </a:r>
            </a:p>
          </p:txBody>
        </p:sp>
        <p:sp>
          <p:nvSpPr>
            <p:cNvPr name="TextBox 15" id="15"/>
            <p:cNvSpPr txBox="true"/>
            <p:nvPr/>
          </p:nvSpPr>
          <p:spPr>
            <a:xfrm rot="0">
              <a:off x="0" y="-1390650"/>
              <a:ext cx="1989740" cy="7270992"/>
            </a:xfrm>
            <a:prstGeom prst="rect">
              <a:avLst/>
            </a:prstGeom>
          </p:spPr>
          <p:txBody>
            <a:bodyPr anchor="t" rtlCol="false" tIns="0" lIns="0" bIns="0" rIns="0">
              <a:spAutoFit/>
            </a:bodyPr>
            <a:lstStyle/>
            <a:p>
              <a:pPr algn="l">
                <a:lnSpc>
                  <a:spcPts val="40655"/>
                </a:lnSpc>
                <a:spcBef>
                  <a:spcPct val="0"/>
                </a:spcBef>
              </a:pPr>
              <a:r>
                <a:rPr lang="en-US" b="true" sz="29039">
                  <a:solidFill>
                    <a:srgbClr val="0F28EC"/>
                  </a:solidFill>
                  <a:latin typeface="Agrandir Bold"/>
                  <a:ea typeface="Agrandir Bold"/>
                  <a:cs typeface="Agrandir Bold"/>
                  <a:sym typeface="Agrandir Bold"/>
                </a:rPr>
                <a:t>2</a:t>
              </a:r>
            </a:p>
          </p:txBody>
        </p:sp>
      </p:grpSp>
      <p:sp>
        <p:nvSpPr>
          <p:cNvPr name="Freeform 16" id="16"/>
          <p:cNvSpPr/>
          <p:nvPr/>
        </p:nvSpPr>
        <p:spPr>
          <a:xfrm flipH="false" flipV="false" rot="0">
            <a:off x="10919244" y="2953589"/>
            <a:ext cx="6767104" cy="5647456"/>
          </a:xfrm>
          <a:custGeom>
            <a:avLst/>
            <a:gdLst/>
            <a:ahLst/>
            <a:cxnLst/>
            <a:rect r="r" b="b" t="t" l="l"/>
            <a:pathLst>
              <a:path h="5647456" w="6767104">
                <a:moveTo>
                  <a:pt x="0" y="0"/>
                </a:moveTo>
                <a:lnTo>
                  <a:pt x="6767103" y="0"/>
                </a:lnTo>
                <a:lnTo>
                  <a:pt x="6767103" y="5647455"/>
                </a:lnTo>
                <a:lnTo>
                  <a:pt x="0" y="5647455"/>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bg>
      <p:bgPr>
        <a:solidFill>
          <a:srgbClr val="C7D3FF"/>
        </a:solidFill>
      </p:bgPr>
    </p:bg>
    <p:spTree>
      <p:nvGrpSpPr>
        <p:cNvPr id="1" name=""/>
        <p:cNvGrpSpPr/>
        <p:nvPr/>
      </p:nvGrpSpPr>
      <p:grpSpPr>
        <a:xfrm>
          <a:off x="0" y="0"/>
          <a:ext cx="0" cy="0"/>
          <a:chOff x="0" y="0"/>
          <a:chExt cx="0" cy="0"/>
        </a:xfrm>
      </p:grpSpPr>
      <p:grpSp>
        <p:nvGrpSpPr>
          <p:cNvPr name="Group 2" id="2"/>
          <p:cNvGrpSpPr/>
          <p:nvPr/>
        </p:nvGrpSpPr>
        <p:grpSpPr>
          <a:xfrm rot="0">
            <a:off x="-217699" y="525326"/>
            <a:ext cx="17904046" cy="1338906"/>
            <a:chOff x="0" y="0"/>
            <a:chExt cx="4715469" cy="352634"/>
          </a:xfrm>
        </p:grpSpPr>
        <p:sp>
          <p:nvSpPr>
            <p:cNvPr name="Freeform 3" id="3"/>
            <p:cNvSpPr/>
            <p:nvPr/>
          </p:nvSpPr>
          <p:spPr>
            <a:xfrm flipH="false" flipV="false" rot="0">
              <a:off x="0" y="0"/>
              <a:ext cx="4715469" cy="352634"/>
            </a:xfrm>
            <a:custGeom>
              <a:avLst/>
              <a:gdLst/>
              <a:ahLst/>
              <a:cxnLst/>
              <a:rect r="r" b="b" t="t" l="l"/>
              <a:pathLst>
                <a:path h="352634" w="4715469">
                  <a:moveTo>
                    <a:pt x="0" y="0"/>
                  </a:moveTo>
                  <a:lnTo>
                    <a:pt x="4715469" y="0"/>
                  </a:lnTo>
                  <a:lnTo>
                    <a:pt x="4715469" y="352634"/>
                  </a:lnTo>
                  <a:lnTo>
                    <a:pt x="0" y="352634"/>
                  </a:lnTo>
                  <a:close/>
                </a:path>
              </a:pathLst>
            </a:custGeom>
            <a:solidFill>
              <a:srgbClr val="1022B1"/>
            </a:solidFill>
          </p:spPr>
        </p:sp>
        <p:sp>
          <p:nvSpPr>
            <p:cNvPr name="TextBox 4" id="4"/>
            <p:cNvSpPr txBox="true"/>
            <p:nvPr/>
          </p:nvSpPr>
          <p:spPr>
            <a:xfrm>
              <a:off x="0" y="-85725"/>
              <a:ext cx="4715469" cy="438359"/>
            </a:xfrm>
            <a:prstGeom prst="rect">
              <a:avLst/>
            </a:prstGeom>
          </p:spPr>
          <p:txBody>
            <a:bodyPr anchor="ctr" rtlCol="false" tIns="50800" lIns="50800" bIns="50800" rIns="50800"/>
            <a:lstStyle/>
            <a:p>
              <a:pPr algn="ctr">
                <a:lnSpc>
                  <a:spcPts val="2659"/>
                </a:lnSpc>
              </a:pPr>
            </a:p>
          </p:txBody>
        </p:sp>
      </p:grpSp>
      <p:grpSp>
        <p:nvGrpSpPr>
          <p:cNvPr name="Group 5" id="5"/>
          <p:cNvGrpSpPr/>
          <p:nvPr/>
        </p:nvGrpSpPr>
        <p:grpSpPr>
          <a:xfrm rot="0">
            <a:off x="15958661" y="-1019379"/>
            <a:ext cx="3853113" cy="3853113"/>
            <a:chOff x="0" y="0"/>
            <a:chExt cx="812800" cy="812800"/>
          </a:xfrm>
        </p:grpSpPr>
        <p:sp>
          <p:nvSpPr>
            <p:cNvPr name="Freeform 6" id="6"/>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F28EC"/>
            </a:solidFill>
          </p:spPr>
        </p:sp>
        <p:sp>
          <p:nvSpPr>
            <p:cNvPr name="TextBox 7" id="7"/>
            <p:cNvSpPr txBox="true"/>
            <p:nvPr/>
          </p:nvSpPr>
          <p:spPr>
            <a:xfrm>
              <a:off x="76200" y="38100"/>
              <a:ext cx="660400" cy="698500"/>
            </a:xfrm>
            <a:prstGeom prst="rect">
              <a:avLst/>
            </a:prstGeom>
          </p:spPr>
          <p:txBody>
            <a:bodyPr anchor="ctr" rtlCol="false" tIns="50800" lIns="50800" bIns="50800" rIns="50800"/>
            <a:lstStyle/>
            <a:p>
              <a:pPr algn="ctr">
                <a:lnSpc>
                  <a:spcPts val="2659"/>
                </a:lnSpc>
                <a:spcBef>
                  <a:spcPct val="0"/>
                </a:spcBef>
              </a:pPr>
            </a:p>
          </p:txBody>
        </p:sp>
      </p:grpSp>
      <p:sp>
        <p:nvSpPr>
          <p:cNvPr name="Freeform 8" id="8"/>
          <p:cNvSpPr/>
          <p:nvPr/>
        </p:nvSpPr>
        <p:spPr>
          <a:xfrm flipH="false" flipV="false" rot="0">
            <a:off x="17259300" y="1052847"/>
            <a:ext cx="427047" cy="427047"/>
          </a:xfrm>
          <a:custGeom>
            <a:avLst/>
            <a:gdLst/>
            <a:ahLst/>
            <a:cxnLst/>
            <a:rect r="r" b="b" t="t" l="l"/>
            <a:pathLst>
              <a:path h="427047" w="427047">
                <a:moveTo>
                  <a:pt x="0" y="0"/>
                </a:moveTo>
                <a:lnTo>
                  <a:pt x="427047" y="0"/>
                </a:lnTo>
                <a:lnTo>
                  <a:pt x="427047" y="427047"/>
                </a:lnTo>
                <a:lnTo>
                  <a:pt x="0" y="427047"/>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9" id="9"/>
          <p:cNvGrpSpPr/>
          <p:nvPr/>
        </p:nvGrpSpPr>
        <p:grpSpPr>
          <a:xfrm rot="0">
            <a:off x="17509719" y="9508719"/>
            <a:ext cx="778281" cy="778281"/>
            <a:chOff x="0" y="0"/>
            <a:chExt cx="204979" cy="204979"/>
          </a:xfrm>
        </p:grpSpPr>
        <p:sp>
          <p:nvSpPr>
            <p:cNvPr name="Freeform 10" id="10"/>
            <p:cNvSpPr/>
            <p:nvPr/>
          </p:nvSpPr>
          <p:spPr>
            <a:xfrm flipH="false" flipV="false" rot="0">
              <a:off x="0" y="0"/>
              <a:ext cx="204979" cy="204979"/>
            </a:xfrm>
            <a:custGeom>
              <a:avLst/>
              <a:gdLst/>
              <a:ahLst/>
              <a:cxnLst/>
              <a:rect r="r" b="b" t="t" l="l"/>
              <a:pathLst>
                <a:path h="204979" w="204979">
                  <a:moveTo>
                    <a:pt x="0" y="0"/>
                  </a:moveTo>
                  <a:lnTo>
                    <a:pt x="204979" y="0"/>
                  </a:lnTo>
                  <a:lnTo>
                    <a:pt x="204979" y="204979"/>
                  </a:lnTo>
                  <a:lnTo>
                    <a:pt x="0" y="204979"/>
                  </a:lnTo>
                  <a:close/>
                </a:path>
              </a:pathLst>
            </a:custGeom>
            <a:solidFill>
              <a:srgbClr val="0F28EC"/>
            </a:solidFill>
          </p:spPr>
        </p:sp>
        <p:sp>
          <p:nvSpPr>
            <p:cNvPr name="TextBox 11" id="11"/>
            <p:cNvSpPr txBox="true"/>
            <p:nvPr/>
          </p:nvSpPr>
          <p:spPr>
            <a:xfrm>
              <a:off x="0" y="-85725"/>
              <a:ext cx="204979" cy="290704"/>
            </a:xfrm>
            <a:prstGeom prst="rect">
              <a:avLst/>
            </a:prstGeom>
          </p:spPr>
          <p:txBody>
            <a:bodyPr anchor="ctr" rtlCol="false" tIns="50800" lIns="50800" bIns="50800" rIns="50800"/>
            <a:lstStyle/>
            <a:p>
              <a:pPr algn="ctr">
                <a:lnSpc>
                  <a:spcPts val="2659"/>
                </a:lnSpc>
              </a:pPr>
            </a:p>
          </p:txBody>
        </p:sp>
      </p:grpSp>
      <p:graphicFrame>
        <p:nvGraphicFramePr>
          <p:cNvPr name="Table 12" id="12"/>
          <p:cNvGraphicFramePr>
            <a:graphicFrameLocks noGrp="true"/>
          </p:cNvGraphicFramePr>
          <p:nvPr/>
        </p:nvGraphicFramePr>
        <p:xfrm>
          <a:off x="919059" y="3100043"/>
          <a:ext cx="16449882" cy="5705475"/>
        </p:xfrm>
        <a:graphic>
          <a:graphicData uri="http://schemas.openxmlformats.org/drawingml/2006/table">
            <a:tbl>
              <a:tblPr/>
              <a:tblGrid>
                <a:gridCol w="1856807"/>
                <a:gridCol w="4648316"/>
                <a:gridCol w="4787772"/>
                <a:gridCol w="5156986"/>
              </a:tblGrid>
              <a:tr h="1026027">
                <a:tc>
                  <a:txBody>
                    <a:bodyPr anchor="t" rtlCol="false"/>
                    <a:lstStyle/>
                    <a:p>
                      <a:pPr algn="ctr">
                        <a:lnSpc>
                          <a:spcPts val="2939"/>
                        </a:lnSpc>
                        <a:defRPr/>
                      </a:pPr>
                      <a:r>
                        <a:rPr lang="en-US" sz="2099" b="true">
                          <a:solidFill>
                            <a:srgbClr val="000000"/>
                          </a:solidFill>
                          <a:latin typeface="Agrandir Bold"/>
                          <a:ea typeface="Agrandir Bold"/>
                          <a:cs typeface="Agrandir Bold"/>
                          <a:sym typeface="Agrandir Bold"/>
                        </a:rPr>
                        <a:t>Học từ cộng đồng người khiếm thính</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2939"/>
                        </a:lnSpc>
                        <a:defRPr/>
                      </a:pP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2939"/>
                        </a:lnSpc>
                        <a:defRPr/>
                      </a:pPr>
                      <a:r>
                        <a:rPr lang="en-US" sz="2099" b="true">
                          <a:solidFill>
                            <a:srgbClr val="000000"/>
                          </a:solidFill>
                          <a:latin typeface="Agrandir Bold"/>
                          <a:ea typeface="Agrandir Bold"/>
                          <a:cs typeface="Agrandir Bold"/>
                          <a:sym typeface="Agrandir Bold"/>
                        </a:rPr>
                        <a:t>Học trực tiếp với giáo viên</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2939"/>
                        </a:lnSpc>
                        <a:defRPr/>
                      </a:pPr>
                      <a:r>
                        <a:rPr lang="en-US" sz="2099" b="true">
                          <a:solidFill>
                            <a:srgbClr val="000000"/>
                          </a:solidFill>
                          <a:latin typeface="Agrandir Bold"/>
                          <a:ea typeface="Agrandir Bold"/>
                          <a:cs typeface="Agrandir Bold"/>
                          <a:sym typeface="Agrandir Bold"/>
                        </a:rPr>
                        <a:t>Sách và từ điển ngôn ngữ ký hiệu</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r>
              <a:tr h="1965752">
                <a:tc>
                  <a:txBody>
                    <a:bodyPr anchor="t" rtlCol="false"/>
                    <a:lstStyle/>
                    <a:p>
                      <a:pPr algn="l">
                        <a:lnSpc>
                          <a:spcPts val="2939"/>
                        </a:lnSpc>
                        <a:defRPr/>
                      </a:pPr>
                      <a:r>
                        <a:rPr lang="en-US" sz="2099">
                          <a:solidFill>
                            <a:srgbClr val="000000"/>
                          </a:solidFill>
                          <a:latin typeface="Agrandir"/>
                          <a:ea typeface="Agrandir"/>
                          <a:cs typeface="Agrandir"/>
                          <a:sym typeface="Agrandir"/>
                        </a:rPr>
                        <a:t>- Môi trường thực hành thực tế</a:t>
                      </a:r>
                      <a:endParaRPr lang="en-US" sz="1100"/>
                    </a:p>
                    <a:p>
                      <a:pPr algn="l">
                        <a:lnSpc>
                          <a:spcPts val="2939"/>
                        </a:lnSpc>
                      </a:pPr>
                      <a:r>
                        <a:rPr lang="en-US" sz="2099">
                          <a:solidFill>
                            <a:srgbClr val="000000"/>
                          </a:solidFill>
                          <a:latin typeface="Agrandir"/>
                          <a:ea typeface="Agrandir"/>
                          <a:cs typeface="Agrandir"/>
                          <a:sym typeface="Agrandir"/>
                        </a:rPr>
                        <a:t>- Phát triển kỹ năng giao tiếp tự nhiên</a:t>
                      </a:r>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2939"/>
                        </a:lnSpc>
                        <a:defRPr/>
                      </a:pPr>
                      <a:r>
                        <a:rPr lang="en-US" sz="2099">
                          <a:solidFill>
                            <a:srgbClr val="000000"/>
                          </a:solidFill>
                          <a:latin typeface="Agrandir"/>
                          <a:ea typeface="Agrandir"/>
                          <a:cs typeface="Agrandir"/>
                          <a:sym typeface="Agrandir"/>
                        </a:rPr>
                        <a:t>Ưu điểm</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l">
                        <a:lnSpc>
                          <a:spcPts val="2939"/>
                        </a:lnSpc>
                        <a:defRPr/>
                      </a:pPr>
                      <a:r>
                        <a:rPr lang="en-US" sz="2099">
                          <a:solidFill>
                            <a:srgbClr val="000000"/>
                          </a:solidFill>
                          <a:latin typeface="Agrandir"/>
                          <a:ea typeface="Agrandir"/>
                          <a:cs typeface="Agrandir"/>
                          <a:sym typeface="Agrandir"/>
                        </a:rPr>
                        <a:t>- Tương tác trực tiếp</a:t>
                      </a:r>
                      <a:endParaRPr lang="en-US" sz="1100"/>
                    </a:p>
                    <a:p>
                      <a:pPr algn="l">
                        <a:lnSpc>
                          <a:spcPts val="2939"/>
                        </a:lnSpc>
                      </a:pPr>
                      <a:r>
                        <a:rPr lang="en-US" sz="2099">
                          <a:solidFill>
                            <a:srgbClr val="000000"/>
                          </a:solidFill>
                          <a:latin typeface="Agrandir"/>
                          <a:ea typeface="Agrandir"/>
                          <a:cs typeface="Agrandir"/>
                          <a:sym typeface="Agrandir"/>
                        </a:rPr>
                        <a:t>- Nhận phản hồi ngay lập tức</a:t>
                      </a:r>
                    </a:p>
                    <a:p>
                      <a:pPr algn="l">
                        <a:lnSpc>
                          <a:spcPts val="2939"/>
                        </a:lnSpc>
                      </a:pPr>
                      <a:r>
                        <a:rPr lang="en-US" sz="2099">
                          <a:solidFill>
                            <a:srgbClr val="000000"/>
                          </a:solidFill>
                          <a:latin typeface="Agrandir"/>
                          <a:ea typeface="Agrandir"/>
                          <a:cs typeface="Agrandir"/>
                          <a:sym typeface="Agrandir"/>
                        </a:rPr>
                        <a:t>- Có thể điều chỉnh phương pháp dạy phù hợp</a:t>
                      </a:r>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l">
                        <a:lnSpc>
                          <a:spcPts val="2939"/>
                        </a:lnSpc>
                        <a:defRPr/>
                      </a:pPr>
                      <a:r>
                        <a:rPr lang="en-US" sz="2099">
                          <a:solidFill>
                            <a:srgbClr val="000000"/>
                          </a:solidFill>
                          <a:latin typeface="Agrandir"/>
                          <a:ea typeface="Agrandir"/>
                          <a:cs typeface="Agrandir"/>
                          <a:sym typeface="Agrandir"/>
                        </a:rPr>
                        <a:t>- Chi phí thấp</a:t>
                      </a:r>
                      <a:endParaRPr lang="en-US" sz="1100"/>
                    </a:p>
                    <a:p>
                      <a:pPr algn="l">
                        <a:lnSpc>
                          <a:spcPts val="2939"/>
                        </a:lnSpc>
                      </a:pPr>
                      <a:r>
                        <a:rPr lang="en-US" sz="2099">
                          <a:solidFill>
                            <a:srgbClr val="000000"/>
                          </a:solidFill>
                          <a:latin typeface="Agrandir"/>
                          <a:ea typeface="Agrandir"/>
                          <a:cs typeface="Agrandir"/>
                          <a:sym typeface="Agrandir"/>
                        </a:rPr>
                        <a:t>- Dễ tiếp cận</a:t>
                      </a:r>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r>
              <a:tr h="2713697">
                <a:tc>
                  <a:txBody>
                    <a:bodyPr anchor="t" rtlCol="false"/>
                    <a:lstStyle/>
                    <a:p>
                      <a:pPr algn="l">
                        <a:lnSpc>
                          <a:spcPts val="2939"/>
                        </a:lnSpc>
                        <a:defRPr/>
                      </a:pPr>
                      <a:r>
                        <a:rPr lang="en-US" sz="2099">
                          <a:solidFill>
                            <a:srgbClr val="000000"/>
                          </a:solidFill>
                          <a:latin typeface="Agrandir"/>
                          <a:ea typeface="Agrandir"/>
                          <a:cs typeface="Agrandir"/>
                          <a:sym typeface="Agrandir"/>
                        </a:rPr>
                        <a:t>- Không phải lúc nào cũng có môi trường phù hợp</a:t>
                      </a:r>
                      <a:endParaRPr lang="en-US" sz="1100"/>
                    </a:p>
                    <a:p>
                      <a:pPr algn="l">
                        <a:lnSpc>
                          <a:spcPts val="2939"/>
                        </a:lnSpc>
                      </a:pPr>
                      <a:r>
                        <a:rPr lang="en-US" sz="2099">
                          <a:solidFill>
                            <a:srgbClr val="000000"/>
                          </a:solidFill>
                          <a:latin typeface="Agrandir"/>
                          <a:ea typeface="Agrandir"/>
                          <a:cs typeface="Agrandir"/>
                          <a:sym typeface="Agrandir"/>
                        </a:rPr>
                        <a:t>- Khó duy trì việc học thường xuyên</a:t>
                      </a:r>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2939"/>
                        </a:lnSpc>
                        <a:defRPr/>
                      </a:pPr>
                      <a:r>
                        <a:rPr lang="en-US" sz="2099">
                          <a:solidFill>
                            <a:srgbClr val="000000"/>
                          </a:solidFill>
                          <a:latin typeface="Agrandir"/>
                          <a:ea typeface="Agrandir"/>
                          <a:cs typeface="Agrandir"/>
                          <a:sym typeface="Agrandir"/>
                        </a:rPr>
                        <a:t>Nhược điểm</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l">
                        <a:lnSpc>
                          <a:spcPts val="2939"/>
                        </a:lnSpc>
                        <a:defRPr/>
                      </a:pPr>
                      <a:r>
                        <a:rPr lang="en-US" sz="2099">
                          <a:solidFill>
                            <a:srgbClr val="000000"/>
                          </a:solidFill>
                          <a:latin typeface="Agrandir"/>
                          <a:ea typeface="Agrandir"/>
                          <a:cs typeface="Agrandir"/>
                          <a:sym typeface="Agrandir"/>
                        </a:rPr>
                        <a:t>- Số lượng giáo viên còn chuyên môn hạn chế</a:t>
                      </a:r>
                      <a:endParaRPr lang="en-US" sz="1100"/>
                    </a:p>
                    <a:p>
                      <a:pPr algn="l">
                        <a:lnSpc>
                          <a:spcPts val="2939"/>
                        </a:lnSpc>
                      </a:pPr>
                      <a:r>
                        <a:rPr lang="en-US" sz="2099">
                          <a:solidFill>
                            <a:srgbClr val="000000"/>
                          </a:solidFill>
                          <a:latin typeface="Agrandir"/>
                          <a:ea typeface="Agrandir"/>
                          <a:cs typeface="Agrandir"/>
                          <a:sym typeface="Agrandir"/>
                        </a:rPr>
                        <a:t>- Chi phí học tập cao</a:t>
                      </a:r>
                    </a:p>
                    <a:p>
                      <a:pPr algn="l">
                        <a:lnSpc>
                          <a:spcPts val="2939"/>
                        </a:lnSpc>
                      </a:pPr>
                      <a:r>
                        <a:rPr lang="en-US" sz="2099">
                          <a:solidFill>
                            <a:srgbClr val="000000"/>
                          </a:solidFill>
                          <a:latin typeface="Agrandir"/>
                          <a:ea typeface="Agrandir"/>
                          <a:cs typeface="Agrandir"/>
                          <a:sym typeface="Agrandir"/>
                        </a:rPr>
                        <a:t>- Khó tiếp cận ở khu vực nông thôn hoặc vùng sâu xa</a:t>
                      </a:r>
                    </a:p>
                    <a:p>
                      <a:pPr algn="l">
                        <a:lnSpc>
                          <a:spcPts val="2939"/>
                        </a:lnSpc>
                      </a:pPr>
                      <a:r>
                        <a:rPr lang="en-US" sz="2099">
                          <a:solidFill>
                            <a:srgbClr val="000000"/>
                          </a:solidFill>
                          <a:latin typeface="Agrandir"/>
                          <a:ea typeface="Agrandir"/>
                          <a:cs typeface="Agrandir"/>
                          <a:sym typeface="Agrandir"/>
                        </a:rPr>
                        <a:t>- Phụ thuộc vào thời gian và vị trí</a:t>
                      </a:r>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l">
                        <a:lnSpc>
                          <a:spcPts val="2939"/>
                        </a:lnSpc>
                        <a:defRPr/>
                      </a:pPr>
                      <a:r>
                        <a:rPr lang="en-US" sz="2099">
                          <a:solidFill>
                            <a:srgbClr val="000000"/>
                          </a:solidFill>
                          <a:latin typeface="Agrandir"/>
                          <a:ea typeface="Agrandir"/>
                          <a:cs typeface="Agrandir"/>
                          <a:sym typeface="Agrandir"/>
                        </a:rPr>
                        <a:t>- Chỉ cung cấp hình ảnh tĩnh</a:t>
                      </a:r>
                      <a:endParaRPr lang="en-US" sz="1100"/>
                    </a:p>
                    <a:p>
                      <a:pPr algn="l">
                        <a:lnSpc>
                          <a:spcPts val="2939"/>
                        </a:lnSpc>
                      </a:pPr>
                      <a:r>
                        <a:rPr lang="en-US" sz="2099">
                          <a:solidFill>
                            <a:srgbClr val="000000"/>
                          </a:solidFill>
                          <a:latin typeface="Agrandir"/>
                          <a:ea typeface="Agrandir"/>
                          <a:cs typeface="Agrandir"/>
                          <a:sym typeface="Agrandir"/>
                        </a:rPr>
                        <a:t>- Khó mô tả chuyển động động tay</a:t>
                      </a:r>
                    </a:p>
                    <a:p>
                      <a:pPr algn="l">
                        <a:lnSpc>
                          <a:spcPts val="2939"/>
                        </a:lnSpc>
                      </a:pPr>
                      <a:r>
                        <a:rPr lang="en-US" sz="2099">
                          <a:solidFill>
                            <a:srgbClr val="000000"/>
                          </a:solidFill>
                          <a:latin typeface="Agrandir"/>
                          <a:ea typeface="Agrandir"/>
                          <a:cs typeface="Agrandir"/>
                          <a:sym typeface="Agrandir"/>
                        </a:rPr>
                        <a:t>- Không có phản hồi cho người học</a:t>
                      </a:r>
                    </a:p>
                    <a:p>
                      <a:pPr algn="l">
                        <a:lnSpc>
                          <a:spcPts val="2939"/>
                        </a:lnSpc>
                      </a:pPr>
                      <a:r>
                        <a:rPr lang="en-US" sz="2099">
                          <a:solidFill>
                            <a:srgbClr val="000000"/>
                          </a:solidFill>
                          <a:latin typeface="Agrandir"/>
                          <a:ea typeface="Agrandir"/>
                          <a:cs typeface="Agrandir"/>
                          <a:sym typeface="Agrandir"/>
                        </a:rPr>
                        <a:t>- Khó tạo hứng thú với trẻ em</a:t>
                      </a:r>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r>
            </a:tbl>
          </a:graphicData>
        </a:graphic>
      </p:graphicFrame>
      <p:sp>
        <p:nvSpPr>
          <p:cNvPr name="TextBox 13" id="13"/>
          <p:cNvSpPr txBox="true"/>
          <p:nvPr/>
        </p:nvSpPr>
        <p:spPr>
          <a:xfrm rot="0">
            <a:off x="17736317" y="9669577"/>
            <a:ext cx="382236" cy="370840"/>
          </a:xfrm>
          <a:prstGeom prst="rect">
            <a:avLst/>
          </a:prstGeom>
        </p:spPr>
        <p:txBody>
          <a:bodyPr anchor="t" rtlCol="false" tIns="0" lIns="0" bIns="0" rIns="0">
            <a:spAutoFit/>
          </a:bodyPr>
          <a:lstStyle/>
          <a:p>
            <a:pPr algn="l">
              <a:lnSpc>
                <a:spcPts val="2659"/>
              </a:lnSpc>
              <a:spcBef>
                <a:spcPct val="0"/>
              </a:spcBef>
            </a:pPr>
            <a:r>
              <a:rPr lang="en-US" b="true" sz="1899">
                <a:solidFill>
                  <a:srgbClr val="FFFFFF"/>
                </a:solidFill>
                <a:latin typeface="Agrandir Bold"/>
                <a:ea typeface="Agrandir Bold"/>
                <a:cs typeface="Agrandir Bold"/>
                <a:sym typeface="Agrandir Bold"/>
              </a:rPr>
              <a:t>07</a:t>
            </a:r>
          </a:p>
        </p:txBody>
      </p:sp>
      <p:sp>
        <p:nvSpPr>
          <p:cNvPr name="TextBox 14" id="14"/>
          <p:cNvSpPr txBox="true"/>
          <p:nvPr/>
        </p:nvSpPr>
        <p:spPr>
          <a:xfrm rot="0">
            <a:off x="561398" y="397611"/>
            <a:ext cx="17323819" cy="1350274"/>
          </a:xfrm>
          <a:prstGeom prst="rect">
            <a:avLst/>
          </a:prstGeom>
        </p:spPr>
        <p:txBody>
          <a:bodyPr anchor="t" rtlCol="false" tIns="0" lIns="0" bIns="0" rIns="0">
            <a:spAutoFit/>
          </a:bodyPr>
          <a:lstStyle/>
          <a:p>
            <a:pPr algn="l">
              <a:lnSpc>
                <a:spcPts val="9575"/>
              </a:lnSpc>
              <a:spcBef>
                <a:spcPct val="0"/>
              </a:spcBef>
            </a:pPr>
            <a:r>
              <a:rPr lang="en-US" b="true" sz="6839">
                <a:solidFill>
                  <a:srgbClr val="FFFFFF"/>
                </a:solidFill>
                <a:latin typeface="Agrandir Bold"/>
                <a:ea typeface="Agrandir Bold"/>
                <a:cs typeface="Agrandir Bold"/>
                <a:sym typeface="Agrandir Bold"/>
              </a:rPr>
              <a:t>2. Giải pháp truyền thống</a:t>
            </a:r>
          </a:p>
        </p:txBody>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bg>
      <p:bgPr>
        <a:solidFill>
          <a:srgbClr val="C7D3FF"/>
        </a:solidFill>
      </p:bgPr>
    </p:bg>
    <p:spTree>
      <p:nvGrpSpPr>
        <p:cNvPr id="1" name=""/>
        <p:cNvGrpSpPr/>
        <p:nvPr/>
      </p:nvGrpSpPr>
      <p:grpSpPr>
        <a:xfrm>
          <a:off x="0" y="0"/>
          <a:ext cx="0" cy="0"/>
          <a:chOff x="0" y="0"/>
          <a:chExt cx="0" cy="0"/>
        </a:xfrm>
      </p:grpSpPr>
      <p:grpSp>
        <p:nvGrpSpPr>
          <p:cNvPr name="Group 2" id="2"/>
          <p:cNvGrpSpPr/>
          <p:nvPr/>
        </p:nvGrpSpPr>
        <p:grpSpPr>
          <a:xfrm rot="0">
            <a:off x="-217699" y="525326"/>
            <a:ext cx="17904046" cy="1338906"/>
            <a:chOff x="0" y="0"/>
            <a:chExt cx="4715469" cy="352634"/>
          </a:xfrm>
        </p:grpSpPr>
        <p:sp>
          <p:nvSpPr>
            <p:cNvPr name="Freeform 3" id="3"/>
            <p:cNvSpPr/>
            <p:nvPr/>
          </p:nvSpPr>
          <p:spPr>
            <a:xfrm flipH="false" flipV="false" rot="0">
              <a:off x="0" y="0"/>
              <a:ext cx="4715469" cy="352634"/>
            </a:xfrm>
            <a:custGeom>
              <a:avLst/>
              <a:gdLst/>
              <a:ahLst/>
              <a:cxnLst/>
              <a:rect r="r" b="b" t="t" l="l"/>
              <a:pathLst>
                <a:path h="352634" w="4715469">
                  <a:moveTo>
                    <a:pt x="0" y="0"/>
                  </a:moveTo>
                  <a:lnTo>
                    <a:pt x="4715469" y="0"/>
                  </a:lnTo>
                  <a:lnTo>
                    <a:pt x="4715469" y="352634"/>
                  </a:lnTo>
                  <a:lnTo>
                    <a:pt x="0" y="352634"/>
                  </a:lnTo>
                  <a:close/>
                </a:path>
              </a:pathLst>
            </a:custGeom>
            <a:solidFill>
              <a:srgbClr val="1022B1"/>
            </a:solidFill>
          </p:spPr>
        </p:sp>
        <p:sp>
          <p:nvSpPr>
            <p:cNvPr name="TextBox 4" id="4"/>
            <p:cNvSpPr txBox="true"/>
            <p:nvPr/>
          </p:nvSpPr>
          <p:spPr>
            <a:xfrm>
              <a:off x="0" y="-85725"/>
              <a:ext cx="4715469" cy="438359"/>
            </a:xfrm>
            <a:prstGeom prst="rect">
              <a:avLst/>
            </a:prstGeom>
          </p:spPr>
          <p:txBody>
            <a:bodyPr anchor="ctr" rtlCol="false" tIns="50800" lIns="50800" bIns="50800" rIns="50800"/>
            <a:lstStyle/>
            <a:p>
              <a:pPr algn="ctr">
                <a:lnSpc>
                  <a:spcPts val="2659"/>
                </a:lnSpc>
              </a:pPr>
            </a:p>
          </p:txBody>
        </p:sp>
      </p:grpSp>
      <p:grpSp>
        <p:nvGrpSpPr>
          <p:cNvPr name="Group 5" id="5"/>
          <p:cNvGrpSpPr/>
          <p:nvPr/>
        </p:nvGrpSpPr>
        <p:grpSpPr>
          <a:xfrm rot="0">
            <a:off x="15958661" y="-1019379"/>
            <a:ext cx="3853113" cy="3853113"/>
            <a:chOff x="0" y="0"/>
            <a:chExt cx="812800" cy="812800"/>
          </a:xfrm>
        </p:grpSpPr>
        <p:sp>
          <p:nvSpPr>
            <p:cNvPr name="Freeform 6" id="6"/>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F28EC"/>
            </a:solidFill>
          </p:spPr>
        </p:sp>
        <p:sp>
          <p:nvSpPr>
            <p:cNvPr name="TextBox 7" id="7"/>
            <p:cNvSpPr txBox="true"/>
            <p:nvPr/>
          </p:nvSpPr>
          <p:spPr>
            <a:xfrm>
              <a:off x="76200" y="38100"/>
              <a:ext cx="660400" cy="698500"/>
            </a:xfrm>
            <a:prstGeom prst="rect">
              <a:avLst/>
            </a:prstGeom>
          </p:spPr>
          <p:txBody>
            <a:bodyPr anchor="ctr" rtlCol="false" tIns="50800" lIns="50800" bIns="50800" rIns="50800"/>
            <a:lstStyle/>
            <a:p>
              <a:pPr algn="ctr">
                <a:lnSpc>
                  <a:spcPts val="2659"/>
                </a:lnSpc>
                <a:spcBef>
                  <a:spcPct val="0"/>
                </a:spcBef>
              </a:pPr>
            </a:p>
          </p:txBody>
        </p:sp>
      </p:grpSp>
      <p:sp>
        <p:nvSpPr>
          <p:cNvPr name="Freeform 8" id="8"/>
          <p:cNvSpPr/>
          <p:nvPr/>
        </p:nvSpPr>
        <p:spPr>
          <a:xfrm flipH="false" flipV="false" rot="0">
            <a:off x="17259300" y="1052847"/>
            <a:ext cx="427047" cy="427047"/>
          </a:xfrm>
          <a:custGeom>
            <a:avLst/>
            <a:gdLst/>
            <a:ahLst/>
            <a:cxnLst/>
            <a:rect r="r" b="b" t="t" l="l"/>
            <a:pathLst>
              <a:path h="427047" w="427047">
                <a:moveTo>
                  <a:pt x="0" y="0"/>
                </a:moveTo>
                <a:lnTo>
                  <a:pt x="427047" y="0"/>
                </a:lnTo>
                <a:lnTo>
                  <a:pt x="427047" y="427047"/>
                </a:lnTo>
                <a:lnTo>
                  <a:pt x="0" y="427047"/>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9" id="9"/>
          <p:cNvGrpSpPr/>
          <p:nvPr/>
        </p:nvGrpSpPr>
        <p:grpSpPr>
          <a:xfrm rot="0">
            <a:off x="17509719" y="9508719"/>
            <a:ext cx="778281" cy="778281"/>
            <a:chOff x="0" y="0"/>
            <a:chExt cx="204979" cy="204979"/>
          </a:xfrm>
        </p:grpSpPr>
        <p:sp>
          <p:nvSpPr>
            <p:cNvPr name="Freeform 10" id="10"/>
            <p:cNvSpPr/>
            <p:nvPr/>
          </p:nvSpPr>
          <p:spPr>
            <a:xfrm flipH="false" flipV="false" rot="0">
              <a:off x="0" y="0"/>
              <a:ext cx="204979" cy="204979"/>
            </a:xfrm>
            <a:custGeom>
              <a:avLst/>
              <a:gdLst/>
              <a:ahLst/>
              <a:cxnLst/>
              <a:rect r="r" b="b" t="t" l="l"/>
              <a:pathLst>
                <a:path h="204979" w="204979">
                  <a:moveTo>
                    <a:pt x="0" y="0"/>
                  </a:moveTo>
                  <a:lnTo>
                    <a:pt x="204979" y="0"/>
                  </a:lnTo>
                  <a:lnTo>
                    <a:pt x="204979" y="204979"/>
                  </a:lnTo>
                  <a:lnTo>
                    <a:pt x="0" y="204979"/>
                  </a:lnTo>
                  <a:close/>
                </a:path>
              </a:pathLst>
            </a:custGeom>
            <a:solidFill>
              <a:srgbClr val="0F28EC"/>
            </a:solidFill>
          </p:spPr>
        </p:sp>
        <p:sp>
          <p:nvSpPr>
            <p:cNvPr name="TextBox 11" id="11"/>
            <p:cNvSpPr txBox="true"/>
            <p:nvPr/>
          </p:nvSpPr>
          <p:spPr>
            <a:xfrm>
              <a:off x="0" y="-85725"/>
              <a:ext cx="204979" cy="290704"/>
            </a:xfrm>
            <a:prstGeom prst="rect">
              <a:avLst/>
            </a:prstGeom>
          </p:spPr>
          <p:txBody>
            <a:bodyPr anchor="ctr" rtlCol="false" tIns="50800" lIns="50800" bIns="50800" rIns="50800"/>
            <a:lstStyle/>
            <a:p>
              <a:pPr algn="ctr">
                <a:lnSpc>
                  <a:spcPts val="2659"/>
                </a:lnSpc>
              </a:pPr>
            </a:p>
          </p:txBody>
        </p:sp>
      </p:grpSp>
      <p:graphicFrame>
        <p:nvGraphicFramePr>
          <p:cNvPr name="Table 12" id="12"/>
          <p:cNvGraphicFramePr>
            <a:graphicFrameLocks noGrp="true"/>
          </p:cNvGraphicFramePr>
          <p:nvPr/>
        </p:nvGraphicFramePr>
        <p:xfrm>
          <a:off x="919059" y="3884394"/>
          <a:ext cx="16449882" cy="3848100"/>
        </p:xfrm>
        <a:graphic>
          <a:graphicData uri="http://schemas.openxmlformats.org/drawingml/2006/table">
            <a:tbl>
              <a:tblPr/>
              <a:tblGrid>
                <a:gridCol w="1856807"/>
                <a:gridCol w="4648316"/>
                <a:gridCol w="4787772"/>
                <a:gridCol w="5156986"/>
              </a:tblGrid>
              <a:tr h="1029367">
                <a:tc>
                  <a:txBody>
                    <a:bodyPr anchor="t" rtlCol="false"/>
                    <a:lstStyle/>
                    <a:p>
                      <a:pPr algn="ctr">
                        <a:lnSpc>
                          <a:spcPts val="2939"/>
                        </a:lnSpc>
                        <a:defRPr/>
                      </a:pP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2939"/>
                        </a:lnSpc>
                        <a:defRPr/>
                      </a:pPr>
                      <a:r>
                        <a:rPr lang="en-US" sz="2099" b="true">
                          <a:solidFill>
                            <a:srgbClr val="000000"/>
                          </a:solidFill>
                          <a:latin typeface="Agrandir Bold"/>
                          <a:ea typeface="Agrandir Bold"/>
                          <a:cs typeface="Agrandir Bold"/>
                          <a:sym typeface="Agrandir Bold"/>
                        </a:rPr>
                        <a:t>Lingvano</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2939"/>
                        </a:lnSpc>
                        <a:defRPr/>
                      </a:pPr>
                      <a:r>
                        <a:rPr lang="en-US" sz="2099" b="true">
                          <a:solidFill>
                            <a:srgbClr val="000000"/>
                          </a:solidFill>
                          <a:latin typeface="Agrandir Bold"/>
                          <a:ea typeface="Agrandir Bold"/>
                          <a:cs typeface="Agrandir Bold"/>
                          <a:sym typeface="Agrandir Bold"/>
                        </a:rPr>
                        <a:t>The ASL App</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2939"/>
                        </a:lnSpc>
                        <a:defRPr/>
                      </a:pPr>
                      <a:r>
                        <a:rPr lang="en-US" sz="2099" b="true">
                          <a:solidFill>
                            <a:srgbClr val="000000"/>
                          </a:solidFill>
                          <a:latin typeface="Agrandir Bold"/>
                          <a:ea typeface="Agrandir Bold"/>
                          <a:cs typeface="Agrandir Bold"/>
                          <a:sym typeface="Agrandir Bold"/>
                        </a:rPr>
                        <a:t>Các nghiên cứu AI</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r>
              <a:tr h="1221772">
                <a:tc>
                  <a:txBody>
                    <a:bodyPr anchor="t" rtlCol="false"/>
                    <a:lstStyle/>
                    <a:p>
                      <a:pPr algn="ctr">
                        <a:lnSpc>
                          <a:spcPts val="2939"/>
                        </a:lnSpc>
                        <a:defRPr/>
                      </a:pPr>
                      <a:r>
                        <a:rPr lang="en-US" sz="2099">
                          <a:solidFill>
                            <a:srgbClr val="000000"/>
                          </a:solidFill>
                          <a:latin typeface="Agrandir"/>
                          <a:ea typeface="Agrandir"/>
                          <a:cs typeface="Agrandir"/>
                          <a:sym typeface="Agrandir"/>
                        </a:rPr>
                        <a:t>Ưu điểm</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l">
                        <a:lnSpc>
                          <a:spcPts val="2939"/>
                        </a:lnSpc>
                        <a:defRPr/>
                      </a:pPr>
                      <a:r>
                        <a:rPr lang="en-US" sz="2099">
                          <a:solidFill>
                            <a:srgbClr val="000000"/>
                          </a:solidFill>
                          <a:latin typeface="Agrandir"/>
                          <a:ea typeface="Agrandir"/>
                          <a:cs typeface="Agrandir"/>
                          <a:sym typeface="Agrandir"/>
                        </a:rPr>
                        <a:t>- Có bài học theo cấp độ</a:t>
                      </a:r>
                      <a:endParaRPr lang="en-US" sz="1100"/>
                    </a:p>
                    <a:p>
                      <a:pPr algn="l">
                        <a:lnSpc>
                          <a:spcPts val="2939"/>
                        </a:lnSpc>
                      </a:pPr>
                      <a:r>
                        <a:rPr lang="en-US" sz="2099">
                          <a:solidFill>
                            <a:srgbClr val="000000"/>
                          </a:solidFill>
                          <a:latin typeface="Agrandir"/>
                          <a:ea typeface="Agrandir"/>
                          <a:cs typeface="Agrandir"/>
                          <a:sym typeface="Agrandir"/>
                        </a:rPr>
                        <a:t>- Thiết kế hiện đại</a:t>
                      </a:r>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l">
                        <a:lnSpc>
                          <a:spcPts val="2939"/>
                        </a:lnSpc>
                        <a:defRPr/>
                      </a:pPr>
                      <a:r>
                        <a:rPr lang="en-US" sz="2099">
                          <a:solidFill>
                            <a:srgbClr val="000000"/>
                          </a:solidFill>
                          <a:latin typeface="Agrandir"/>
                          <a:ea typeface="Agrandir"/>
                          <a:cs typeface="Agrandir"/>
                          <a:sym typeface="Agrandir"/>
                        </a:rPr>
                        <a:t>- Kho từ vựng phong phú</a:t>
                      </a:r>
                      <a:endParaRPr lang="en-US" sz="1100"/>
                    </a:p>
                    <a:p>
                      <a:pPr algn="l">
                        <a:lnSpc>
                          <a:spcPts val="2939"/>
                        </a:lnSpc>
                      </a:pPr>
                      <a:r>
                        <a:rPr lang="en-US" sz="2099">
                          <a:solidFill>
                            <a:srgbClr val="000000"/>
                          </a:solidFill>
                          <a:latin typeface="Agrandir"/>
                          <a:ea typeface="Agrandir"/>
                          <a:cs typeface="Agrandir"/>
                          <a:sym typeface="Agrandir"/>
                        </a:rPr>
                        <a:t>- Nội dung dễ tiếp cận</a:t>
                      </a:r>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l">
                        <a:lnSpc>
                          <a:spcPts val="2939"/>
                        </a:lnSpc>
                        <a:defRPr/>
                      </a:pPr>
                      <a:r>
                        <a:rPr lang="en-US" sz="2099">
                          <a:solidFill>
                            <a:srgbClr val="000000"/>
                          </a:solidFill>
                          <a:latin typeface="Agrandir"/>
                          <a:ea typeface="Agrandir"/>
                          <a:cs typeface="Agrandir"/>
                          <a:sym typeface="Agrandir"/>
                        </a:rPr>
                        <a:t>- Dễ dàng nhận diện cử chỉ tay</a:t>
                      </a:r>
                      <a:endParaRPr lang="en-US" sz="1100"/>
                    </a:p>
                    <a:p>
                      <a:pPr algn="l">
                        <a:lnSpc>
                          <a:spcPts val="2939"/>
                        </a:lnSpc>
                      </a:pPr>
                      <a:r>
                        <a:rPr lang="en-US" sz="2099">
                          <a:solidFill>
                            <a:srgbClr val="000000"/>
                          </a:solidFill>
                          <a:latin typeface="Agrandir"/>
                          <a:ea typeface="Agrandir"/>
                          <a:cs typeface="Agrandir"/>
                          <a:sym typeface="Agrandir"/>
                        </a:rPr>
                        <a:t>- Có thể đánh giá động tác</a:t>
                      </a:r>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r>
              <a:tr h="1596961">
                <a:tc>
                  <a:txBody>
                    <a:bodyPr anchor="t" rtlCol="false"/>
                    <a:lstStyle/>
                    <a:p>
                      <a:pPr algn="ctr">
                        <a:lnSpc>
                          <a:spcPts val="2939"/>
                        </a:lnSpc>
                        <a:defRPr/>
                      </a:pPr>
                      <a:r>
                        <a:rPr lang="en-US" sz="2099">
                          <a:solidFill>
                            <a:srgbClr val="000000"/>
                          </a:solidFill>
                          <a:latin typeface="Agrandir"/>
                          <a:ea typeface="Agrandir"/>
                          <a:cs typeface="Agrandir"/>
                          <a:sym typeface="Agrandir"/>
                        </a:rPr>
                        <a:t>Nhược điểm</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l">
                        <a:lnSpc>
                          <a:spcPts val="2939"/>
                        </a:lnSpc>
                        <a:defRPr/>
                      </a:pPr>
                      <a:r>
                        <a:rPr lang="en-US" sz="2099">
                          <a:solidFill>
                            <a:srgbClr val="000000"/>
                          </a:solidFill>
                          <a:latin typeface="Agrandir"/>
                          <a:ea typeface="Agrandir"/>
                          <a:cs typeface="Agrandir"/>
                          <a:sym typeface="Agrandir"/>
                        </a:rPr>
                        <a:t>- Chủ yếu dành cho người lớn</a:t>
                      </a:r>
                      <a:endParaRPr lang="en-US" sz="1100"/>
                    </a:p>
                    <a:p>
                      <a:pPr algn="l">
                        <a:lnSpc>
                          <a:spcPts val="2939"/>
                        </a:lnSpc>
                      </a:pPr>
                      <a:r>
                        <a:rPr lang="en-US" sz="2099">
                          <a:solidFill>
                            <a:srgbClr val="000000"/>
                          </a:solidFill>
                          <a:latin typeface="Agrandir"/>
                          <a:ea typeface="Agrandir"/>
                          <a:cs typeface="Agrandir"/>
                          <a:sym typeface="Agrandir"/>
                        </a:rPr>
                        <a:t>- Chưa tập trung vào trẻ em</a:t>
                      </a:r>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l">
                        <a:lnSpc>
                          <a:spcPts val="2939"/>
                        </a:lnSpc>
                        <a:defRPr/>
                      </a:pPr>
                      <a:r>
                        <a:rPr lang="en-US" sz="2099">
                          <a:solidFill>
                            <a:srgbClr val="000000"/>
                          </a:solidFill>
                          <a:latin typeface="Agrandir"/>
                          <a:ea typeface="Agrandir"/>
                          <a:cs typeface="Agrandir"/>
                          <a:sym typeface="Agrandir"/>
                        </a:rPr>
                        <a:t>- Khó gây hứng thú cho trẻ em</a:t>
                      </a:r>
                      <a:endParaRPr lang="en-US" sz="1100"/>
                    </a:p>
                    <a:p>
                      <a:pPr algn="l">
                        <a:lnSpc>
                          <a:spcPts val="2939"/>
                        </a:lnSpc>
                      </a:pPr>
                      <a:r>
                        <a:rPr lang="en-US" sz="2099">
                          <a:solidFill>
                            <a:srgbClr val="000000"/>
                          </a:solidFill>
                          <a:latin typeface="Agrandir"/>
                          <a:ea typeface="Agrandir"/>
                          <a:cs typeface="Agrandir"/>
                          <a:sym typeface="Agrandir"/>
                        </a:rPr>
                        <a:t>- Thiếu theo dõi tiến trình học tập</a:t>
                      </a:r>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l">
                        <a:lnSpc>
                          <a:spcPts val="2939"/>
                        </a:lnSpc>
                        <a:defRPr/>
                      </a:pPr>
                      <a:r>
                        <a:rPr lang="en-US" sz="2099">
                          <a:solidFill>
                            <a:srgbClr val="000000"/>
                          </a:solidFill>
                          <a:latin typeface="Agrandir"/>
                          <a:ea typeface="Agrandir"/>
                          <a:cs typeface="Agrandir"/>
                          <a:sym typeface="Agrandir"/>
                        </a:rPr>
                        <a:t>- Chủ yếu mang tính nghiên cứu</a:t>
                      </a:r>
                      <a:endParaRPr lang="en-US" sz="1100"/>
                    </a:p>
                    <a:p>
                      <a:pPr algn="l">
                        <a:lnSpc>
                          <a:spcPts val="2939"/>
                        </a:lnSpc>
                      </a:pPr>
                      <a:r>
                        <a:rPr lang="en-US" sz="2099">
                          <a:solidFill>
                            <a:srgbClr val="000000"/>
                          </a:solidFill>
                          <a:latin typeface="Agrandir"/>
                          <a:ea typeface="Agrandir"/>
                          <a:cs typeface="Agrandir"/>
                          <a:sym typeface="Agrandir"/>
                        </a:rPr>
                        <a:t>- Chưa triển khai thành hệ thống học tập hoàn chỉnh cho trẻ em</a:t>
                      </a:r>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r>
            </a:tbl>
          </a:graphicData>
        </a:graphic>
      </p:graphicFrame>
      <p:sp>
        <p:nvSpPr>
          <p:cNvPr name="TextBox 13" id="13"/>
          <p:cNvSpPr txBox="true"/>
          <p:nvPr/>
        </p:nvSpPr>
        <p:spPr>
          <a:xfrm rot="0">
            <a:off x="17736317" y="9669577"/>
            <a:ext cx="382236" cy="370840"/>
          </a:xfrm>
          <a:prstGeom prst="rect">
            <a:avLst/>
          </a:prstGeom>
        </p:spPr>
        <p:txBody>
          <a:bodyPr anchor="t" rtlCol="false" tIns="0" lIns="0" bIns="0" rIns="0">
            <a:spAutoFit/>
          </a:bodyPr>
          <a:lstStyle/>
          <a:p>
            <a:pPr algn="l">
              <a:lnSpc>
                <a:spcPts val="2659"/>
              </a:lnSpc>
              <a:spcBef>
                <a:spcPct val="0"/>
              </a:spcBef>
            </a:pPr>
            <a:r>
              <a:rPr lang="en-US" b="true" sz="1899">
                <a:solidFill>
                  <a:srgbClr val="FFFFFF"/>
                </a:solidFill>
                <a:latin typeface="Agrandir Bold"/>
                <a:ea typeface="Agrandir Bold"/>
                <a:cs typeface="Agrandir Bold"/>
                <a:sym typeface="Agrandir Bold"/>
              </a:rPr>
              <a:t>07</a:t>
            </a:r>
          </a:p>
        </p:txBody>
      </p:sp>
      <p:sp>
        <p:nvSpPr>
          <p:cNvPr name="TextBox 14" id="14"/>
          <p:cNvSpPr txBox="true"/>
          <p:nvPr/>
        </p:nvSpPr>
        <p:spPr>
          <a:xfrm rot="0">
            <a:off x="561398" y="397611"/>
            <a:ext cx="17323819" cy="1350274"/>
          </a:xfrm>
          <a:prstGeom prst="rect">
            <a:avLst/>
          </a:prstGeom>
        </p:spPr>
        <p:txBody>
          <a:bodyPr anchor="t" rtlCol="false" tIns="0" lIns="0" bIns="0" rIns="0">
            <a:spAutoFit/>
          </a:bodyPr>
          <a:lstStyle/>
          <a:p>
            <a:pPr algn="l">
              <a:lnSpc>
                <a:spcPts val="9575"/>
              </a:lnSpc>
              <a:spcBef>
                <a:spcPct val="0"/>
              </a:spcBef>
            </a:pPr>
            <a:r>
              <a:rPr lang="en-US" b="true" sz="6839">
                <a:solidFill>
                  <a:srgbClr val="FFFFFF"/>
                </a:solidFill>
                <a:latin typeface="Agrandir Bold"/>
                <a:ea typeface="Agrandir Bold"/>
                <a:cs typeface="Agrandir Bold"/>
                <a:sym typeface="Agrandir Bold"/>
              </a:rPr>
              <a:t>2. Giải pháp công nghệ</a:t>
            </a:r>
          </a:p>
        </p:txBody>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bg>
      <p:bgPr>
        <a:solidFill>
          <a:srgbClr val="C7D3FF"/>
        </a:solidFill>
      </p:bgPr>
    </p:bg>
    <p:spTree>
      <p:nvGrpSpPr>
        <p:cNvPr id="1" name=""/>
        <p:cNvGrpSpPr/>
        <p:nvPr/>
      </p:nvGrpSpPr>
      <p:grpSpPr>
        <a:xfrm>
          <a:off x="0" y="0"/>
          <a:ext cx="0" cy="0"/>
          <a:chOff x="0" y="0"/>
          <a:chExt cx="0" cy="0"/>
        </a:xfrm>
      </p:grpSpPr>
      <p:grpSp>
        <p:nvGrpSpPr>
          <p:cNvPr name="Group 2" id="2"/>
          <p:cNvGrpSpPr/>
          <p:nvPr/>
        </p:nvGrpSpPr>
        <p:grpSpPr>
          <a:xfrm rot="0">
            <a:off x="-217699" y="525326"/>
            <a:ext cx="17904046" cy="1338906"/>
            <a:chOff x="0" y="0"/>
            <a:chExt cx="4715469" cy="352634"/>
          </a:xfrm>
        </p:grpSpPr>
        <p:sp>
          <p:nvSpPr>
            <p:cNvPr name="Freeform 3" id="3"/>
            <p:cNvSpPr/>
            <p:nvPr/>
          </p:nvSpPr>
          <p:spPr>
            <a:xfrm flipH="false" flipV="false" rot="0">
              <a:off x="0" y="0"/>
              <a:ext cx="4715469" cy="352634"/>
            </a:xfrm>
            <a:custGeom>
              <a:avLst/>
              <a:gdLst/>
              <a:ahLst/>
              <a:cxnLst/>
              <a:rect r="r" b="b" t="t" l="l"/>
              <a:pathLst>
                <a:path h="352634" w="4715469">
                  <a:moveTo>
                    <a:pt x="0" y="0"/>
                  </a:moveTo>
                  <a:lnTo>
                    <a:pt x="4715469" y="0"/>
                  </a:lnTo>
                  <a:lnTo>
                    <a:pt x="4715469" y="352634"/>
                  </a:lnTo>
                  <a:lnTo>
                    <a:pt x="0" y="352634"/>
                  </a:lnTo>
                  <a:close/>
                </a:path>
              </a:pathLst>
            </a:custGeom>
            <a:solidFill>
              <a:srgbClr val="1022B1"/>
            </a:solidFill>
          </p:spPr>
        </p:sp>
        <p:sp>
          <p:nvSpPr>
            <p:cNvPr name="TextBox 4" id="4"/>
            <p:cNvSpPr txBox="true"/>
            <p:nvPr/>
          </p:nvSpPr>
          <p:spPr>
            <a:xfrm>
              <a:off x="0" y="-85725"/>
              <a:ext cx="4715469" cy="438359"/>
            </a:xfrm>
            <a:prstGeom prst="rect">
              <a:avLst/>
            </a:prstGeom>
          </p:spPr>
          <p:txBody>
            <a:bodyPr anchor="ctr" rtlCol="false" tIns="50800" lIns="50800" bIns="50800" rIns="50800"/>
            <a:lstStyle/>
            <a:p>
              <a:pPr algn="ctr">
                <a:lnSpc>
                  <a:spcPts val="2659"/>
                </a:lnSpc>
              </a:pPr>
            </a:p>
          </p:txBody>
        </p:sp>
      </p:grpSp>
      <p:grpSp>
        <p:nvGrpSpPr>
          <p:cNvPr name="Group 5" id="5"/>
          <p:cNvGrpSpPr/>
          <p:nvPr/>
        </p:nvGrpSpPr>
        <p:grpSpPr>
          <a:xfrm rot="0">
            <a:off x="15958661" y="-1019379"/>
            <a:ext cx="3853113" cy="3853113"/>
            <a:chOff x="0" y="0"/>
            <a:chExt cx="812800" cy="812800"/>
          </a:xfrm>
        </p:grpSpPr>
        <p:sp>
          <p:nvSpPr>
            <p:cNvPr name="Freeform 6" id="6"/>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F28EC"/>
            </a:solidFill>
          </p:spPr>
        </p:sp>
        <p:sp>
          <p:nvSpPr>
            <p:cNvPr name="TextBox 7" id="7"/>
            <p:cNvSpPr txBox="true"/>
            <p:nvPr/>
          </p:nvSpPr>
          <p:spPr>
            <a:xfrm>
              <a:off x="76200" y="38100"/>
              <a:ext cx="660400" cy="698500"/>
            </a:xfrm>
            <a:prstGeom prst="rect">
              <a:avLst/>
            </a:prstGeom>
          </p:spPr>
          <p:txBody>
            <a:bodyPr anchor="ctr" rtlCol="false" tIns="50800" lIns="50800" bIns="50800" rIns="50800"/>
            <a:lstStyle/>
            <a:p>
              <a:pPr algn="ctr">
                <a:lnSpc>
                  <a:spcPts val="2659"/>
                </a:lnSpc>
                <a:spcBef>
                  <a:spcPct val="0"/>
                </a:spcBef>
              </a:pPr>
            </a:p>
          </p:txBody>
        </p:sp>
      </p:grpSp>
      <p:sp>
        <p:nvSpPr>
          <p:cNvPr name="Freeform 8" id="8"/>
          <p:cNvSpPr/>
          <p:nvPr/>
        </p:nvSpPr>
        <p:spPr>
          <a:xfrm flipH="false" flipV="false" rot="0">
            <a:off x="17259300" y="1052847"/>
            <a:ext cx="427047" cy="427047"/>
          </a:xfrm>
          <a:custGeom>
            <a:avLst/>
            <a:gdLst/>
            <a:ahLst/>
            <a:cxnLst/>
            <a:rect r="r" b="b" t="t" l="l"/>
            <a:pathLst>
              <a:path h="427047" w="427047">
                <a:moveTo>
                  <a:pt x="0" y="0"/>
                </a:moveTo>
                <a:lnTo>
                  <a:pt x="427047" y="0"/>
                </a:lnTo>
                <a:lnTo>
                  <a:pt x="427047" y="427047"/>
                </a:lnTo>
                <a:lnTo>
                  <a:pt x="0" y="427047"/>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9" id="9"/>
          <p:cNvGrpSpPr/>
          <p:nvPr/>
        </p:nvGrpSpPr>
        <p:grpSpPr>
          <a:xfrm rot="0">
            <a:off x="17509719" y="9508719"/>
            <a:ext cx="778281" cy="778281"/>
            <a:chOff x="0" y="0"/>
            <a:chExt cx="204979" cy="204979"/>
          </a:xfrm>
        </p:grpSpPr>
        <p:sp>
          <p:nvSpPr>
            <p:cNvPr name="Freeform 10" id="10"/>
            <p:cNvSpPr/>
            <p:nvPr/>
          </p:nvSpPr>
          <p:spPr>
            <a:xfrm flipH="false" flipV="false" rot="0">
              <a:off x="0" y="0"/>
              <a:ext cx="204979" cy="204979"/>
            </a:xfrm>
            <a:custGeom>
              <a:avLst/>
              <a:gdLst/>
              <a:ahLst/>
              <a:cxnLst/>
              <a:rect r="r" b="b" t="t" l="l"/>
              <a:pathLst>
                <a:path h="204979" w="204979">
                  <a:moveTo>
                    <a:pt x="0" y="0"/>
                  </a:moveTo>
                  <a:lnTo>
                    <a:pt x="204979" y="0"/>
                  </a:lnTo>
                  <a:lnTo>
                    <a:pt x="204979" y="204979"/>
                  </a:lnTo>
                  <a:lnTo>
                    <a:pt x="0" y="204979"/>
                  </a:lnTo>
                  <a:close/>
                </a:path>
              </a:pathLst>
            </a:custGeom>
            <a:solidFill>
              <a:srgbClr val="0F28EC"/>
            </a:solidFill>
          </p:spPr>
        </p:sp>
        <p:sp>
          <p:nvSpPr>
            <p:cNvPr name="TextBox 11" id="11"/>
            <p:cNvSpPr txBox="true"/>
            <p:nvPr/>
          </p:nvSpPr>
          <p:spPr>
            <a:xfrm>
              <a:off x="0" y="-85725"/>
              <a:ext cx="204979" cy="290704"/>
            </a:xfrm>
            <a:prstGeom prst="rect">
              <a:avLst/>
            </a:prstGeom>
          </p:spPr>
          <p:txBody>
            <a:bodyPr anchor="ctr" rtlCol="false" tIns="50800" lIns="50800" bIns="50800" rIns="50800"/>
            <a:lstStyle/>
            <a:p>
              <a:pPr algn="ctr">
                <a:lnSpc>
                  <a:spcPts val="2659"/>
                </a:lnSpc>
              </a:pPr>
            </a:p>
          </p:txBody>
        </p:sp>
      </p:grpSp>
      <p:sp>
        <p:nvSpPr>
          <p:cNvPr name="TextBox 12" id="12"/>
          <p:cNvSpPr txBox="true"/>
          <p:nvPr/>
        </p:nvSpPr>
        <p:spPr>
          <a:xfrm rot="0">
            <a:off x="17736317" y="9669577"/>
            <a:ext cx="382236" cy="370840"/>
          </a:xfrm>
          <a:prstGeom prst="rect">
            <a:avLst/>
          </a:prstGeom>
        </p:spPr>
        <p:txBody>
          <a:bodyPr anchor="t" rtlCol="false" tIns="0" lIns="0" bIns="0" rIns="0">
            <a:spAutoFit/>
          </a:bodyPr>
          <a:lstStyle/>
          <a:p>
            <a:pPr algn="l">
              <a:lnSpc>
                <a:spcPts val="2659"/>
              </a:lnSpc>
              <a:spcBef>
                <a:spcPct val="0"/>
              </a:spcBef>
            </a:pPr>
            <a:r>
              <a:rPr lang="en-US" b="true" sz="1899">
                <a:solidFill>
                  <a:srgbClr val="FFFFFF"/>
                </a:solidFill>
                <a:latin typeface="Agrandir Bold"/>
                <a:ea typeface="Agrandir Bold"/>
                <a:cs typeface="Agrandir Bold"/>
                <a:sym typeface="Agrandir Bold"/>
              </a:rPr>
              <a:t>07</a:t>
            </a:r>
          </a:p>
        </p:txBody>
      </p:sp>
      <p:sp>
        <p:nvSpPr>
          <p:cNvPr name="TextBox 13" id="13"/>
          <p:cNvSpPr txBox="true"/>
          <p:nvPr/>
        </p:nvSpPr>
        <p:spPr>
          <a:xfrm rot="0">
            <a:off x="561398" y="397611"/>
            <a:ext cx="17323819" cy="1350274"/>
          </a:xfrm>
          <a:prstGeom prst="rect">
            <a:avLst/>
          </a:prstGeom>
        </p:spPr>
        <p:txBody>
          <a:bodyPr anchor="t" rtlCol="false" tIns="0" lIns="0" bIns="0" rIns="0">
            <a:spAutoFit/>
          </a:bodyPr>
          <a:lstStyle/>
          <a:p>
            <a:pPr algn="l">
              <a:lnSpc>
                <a:spcPts val="9575"/>
              </a:lnSpc>
              <a:spcBef>
                <a:spcPct val="0"/>
              </a:spcBef>
            </a:pPr>
            <a:r>
              <a:rPr lang="en-US" b="true" sz="6839">
                <a:solidFill>
                  <a:srgbClr val="FFFFFF"/>
                </a:solidFill>
                <a:latin typeface="Agrandir Bold"/>
                <a:ea typeface="Agrandir Bold"/>
                <a:cs typeface="Agrandir Bold"/>
                <a:sym typeface="Agrandir Bold"/>
              </a:rPr>
              <a:t>2. Khoảng trống nghiên cứu</a:t>
            </a:r>
          </a:p>
        </p:txBody>
      </p:sp>
      <p:sp>
        <p:nvSpPr>
          <p:cNvPr name="Freeform 14" id="14"/>
          <p:cNvSpPr/>
          <p:nvPr/>
        </p:nvSpPr>
        <p:spPr>
          <a:xfrm flipH="false" flipV="false" rot="0">
            <a:off x="0" y="2833735"/>
            <a:ext cx="6414846" cy="5796688"/>
          </a:xfrm>
          <a:custGeom>
            <a:avLst/>
            <a:gdLst/>
            <a:ahLst/>
            <a:cxnLst/>
            <a:rect r="r" b="b" t="t" l="l"/>
            <a:pathLst>
              <a:path h="5796688" w="6414846">
                <a:moveTo>
                  <a:pt x="0" y="0"/>
                </a:moveTo>
                <a:lnTo>
                  <a:pt x="6414846" y="0"/>
                </a:lnTo>
                <a:lnTo>
                  <a:pt x="6414846" y="5796688"/>
                </a:lnTo>
                <a:lnTo>
                  <a:pt x="0" y="5796688"/>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grpSp>
        <p:nvGrpSpPr>
          <p:cNvPr name="Group 15" id="15"/>
          <p:cNvGrpSpPr/>
          <p:nvPr/>
        </p:nvGrpSpPr>
        <p:grpSpPr>
          <a:xfrm rot="0">
            <a:off x="6762103" y="3392072"/>
            <a:ext cx="10974214" cy="5352551"/>
            <a:chOff x="0" y="0"/>
            <a:chExt cx="14632285" cy="7136735"/>
          </a:xfrm>
        </p:grpSpPr>
        <p:sp>
          <p:nvSpPr>
            <p:cNvPr name="Freeform 16" id="16"/>
            <p:cNvSpPr/>
            <p:nvPr/>
          </p:nvSpPr>
          <p:spPr>
            <a:xfrm flipH="false" flipV="false" rot="0">
              <a:off x="45861" y="2724553"/>
              <a:ext cx="1094484" cy="837778"/>
            </a:xfrm>
            <a:custGeom>
              <a:avLst/>
              <a:gdLst/>
              <a:ahLst/>
              <a:cxnLst/>
              <a:rect r="r" b="b" t="t" l="l"/>
              <a:pathLst>
                <a:path h="837778" w="1094484">
                  <a:moveTo>
                    <a:pt x="0" y="0"/>
                  </a:moveTo>
                  <a:lnTo>
                    <a:pt x="1094485" y="0"/>
                  </a:lnTo>
                  <a:lnTo>
                    <a:pt x="1094485" y="837778"/>
                  </a:lnTo>
                  <a:lnTo>
                    <a:pt x="0" y="837778"/>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TextBox 17" id="17"/>
            <p:cNvSpPr txBox="true"/>
            <p:nvPr/>
          </p:nvSpPr>
          <p:spPr>
            <a:xfrm rot="0">
              <a:off x="1617336" y="1981079"/>
              <a:ext cx="13014948" cy="2282402"/>
            </a:xfrm>
            <a:prstGeom prst="rect">
              <a:avLst/>
            </a:prstGeom>
          </p:spPr>
          <p:txBody>
            <a:bodyPr anchor="t" rtlCol="false" tIns="0" lIns="0" bIns="0" rIns="0">
              <a:spAutoFit/>
            </a:bodyPr>
            <a:lstStyle/>
            <a:p>
              <a:pPr algn="just">
                <a:lnSpc>
                  <a:spcPts val="4480"/>
                </a:lnSpc>
                <a:spcBef>
                  <a:spcPct val="0"/>
                </a:spcBef>
              </a:pPr>
              <a:r>
                <a:rPr lang="en-US" sz="3200">
                  <a:solidFill>
                    <a:srgbClr val="000000"/>
                  </a:solidFill>
                  <a:latin typeface="Agrandir"/>
                  <a:ea typeface="Agrandir"/>
                  <a:cs typeface="Agrandir"/>
                  <a:sym typeface="Agrandir"/>
                </a:rPr>
                <a:t>Trẻ em có đặc điểm khác biệt do khả năng tập trung ngắn, học tốt hơn qua hình ảnh và trò chơi, cần phản hồi trực quan và đơn giản</a:t>
              </a:r>
            </a:p>
          </p:txBody>
        </p:sp>
        <p:sp>
          <p:nvSpPr>
            <p:cNvPr name="TextBox 18" id="18"/>
            <p:cNvSpPr txBox="true"/>
            <p:nvPr/>
          </p:nvSpPr>
          <p:spPr>
            <a:xfrm rot="0">
              <a:off x="1533055" y="4854333"/>
              <a:ext cx="13053369" cy="2282402"/>
            </a:xfrm>
            <a:prstGeom prst="rect">
              <a:avLst/>
            </a:prstGeom>
          </p:spPr>
          <p:txBody>
            <a:bodyPr anchor="t" rtlCol="false" tIns="0" lIns="0" bIns="0" rIns="0">
              <a:spAutoFit/>
            </a:bodyPr>
            <a:lstStyle/>
            <a:p>
              <a:pPr algn="just">
                <a:lnSpc>
                  <a:spcPts val="4480"/>
                </a:lnSpc>
                <a:spcBef>
                  <a:spcPct val="0"/>
                </a:spcBef>
              </a:pPr>
              <a:r>
                <a:rPr lang="en-US" sz="3200">
                  <a:solidFill>
                    <a:srgbClr val="000000"/>
                  </a:solidFill>
                  <a:latin typeface="Agrandir"/>
                  <a:ea typeface="Agrandir"/>
                  <a:cs typeface="Agrandir"/>
                  <a:sym typeface="Agrandir"/>
                </a:rPr>
                <a:t>Thiếu nền tảng học ngôn ngữ ký hiệu được thiết kế chuyên biệt cho trẻ em khiếm khuyết dựa trên đặc điểm nhận thức và hành vi của trẻ</a:t>
              </a:r>
            </a:p>
          </p:txBody>
        </p:sp>
        <p:sp>
          <p:nvSpPr>
            <p:cNvPr name="Freeform 19" id="19"/>
            <p:cNvSpPr/>
            <p:nvPr/>
          </p:nvSpPr>
          <p:spPr>
            <a:xfrm flipH="false" flipV="false" rot="0">
              <a:off x="0" y="5648082"/>
              <a:ext cx="1094484" cy="837778"/>
            </a:xfrm>
            <a:custGeom>
              <a:avLst/>
              <a:gdLst/>
              <a:ahLst/>
              <a:cxnLst/>
              <a:rect r="r" b="b" t="t" l="l"/>
              <a:pathLst>
                <a:path h="837778" w="1094484">
                  <a:moveTo>
                    <a:pt x="0" y="0"/>
                  </a:moveTo>
                  <a:lnTo>
                    <a:pt x="1094484" y="0"/>
                  </a:lnTo>
                  <a:lnTo>
                    <a:pt x="1094484" y="837778"/>
                  </a:lnTo>
                  <a:lnTo>
                    <a:pt x="0" y="837778"/>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TextBox 20" id="20"/>
            <p:cNvSpPr txBox="true"/>
            <p:nvPr/>
          </p:nvSpPr>
          <p:spPr>
            <a:xfrm rot="0">
              <a:off x="1674313" y="-142875"/>
              <a:ext cx="12866249" cy="1533102"/>
            </a:xfrm>
            <a:prstGeom prst="rect">
              <a:avLst/>
            </a:prstGeom>
          </p:spPr>
          <p:txBody>
            <a:bodyPr anchor="t" rtlCol="false" tIns="0" lIns="0" bIns="0" rIns="0">
              <a:spAutoFit/>
            </a:bodyPr>
            <a:lstStyle/>
            <a:p>
              <a:pPr algn="just">
                <a:lnSpc>
                  <a:spcPts val="4480"/>
                </a:lnSpc>
                <a:spcBef>
                  <a:spcPct val="0"/>
                </a:spcBef>
              </a:pPr>
              <a:r>
                <a:rPr lang="en-US" sz="3200">
                  <a:solidFill>
                    <a:srgbClr val="000000"/>
                  </a:solidFill>
                  <a:latin typeface="Agrandir"/>
                  <a:ea typeface="Agrandir"/>
                  <a:cs typeface="Agrandir"/>
                  <a:sym typeface="Agrandir"/>
                </a:rPr>
                <a:t>Các nền tảng công nghệ hiện tại chủ yếu được thiết kế cho người lớn</a:t>
              </a:r>
            </a:p>
          </p:txBody>
        </p:sp>
        <p:sp>
          <p:nvSpPr>
            <p:cNvPr name="Freeform 21" id="21"/>
            <p:cNvSpPr/>
            <p:nvPr/>
          </p:nvSpPr>
          <p:spPr>
            <a:xfrm flipH="false" flipV="false" rot="0">
              <a:off x="45861" y="276224"/>
              <a:ext cx="1094484" cy="837778"/>
            </a:xfrm>
            <a:custGeom>
              <a:avLst/>
              <a:gdLst/>
              <a:ahLst/>
              <a:cxnLst/>
              <a:rect r="r" b="b" t="t" l="l"/>
              <a:pathLst>
                <a:path h="837778" w="1094484">
                  <a:moveTo>
                    <a:pt x="0" y="0"/>
                  </a:moveTo>
                  <a:lnTo>
                    <a:pt x="1094485" y="0"/>
                  </a:lnTo>
                  <a:lnTo>
                    <a:pt x="1094485" y="837778"/>
                  </a:lnTo>
                  <a:lnTo>
                    <a:pt x="0" y="837778"/>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gr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bg>
      <p:bgPr>
        <a:solidFill>
          <a:srgbClr val="C7D3FF"/>
        </a:solidFill>
      </p:bgPr>
    </p:bg>
    <p:spTree>
      <p:nvGrpSpPr>
        <p:cNvPr id="1" name=""/>
        <p:cNvGrpSpPr/>
        <p:nvPr/>
      </p:nvGrpSpPr>
      <p:grpSpPr>
        <a:xfrm>
          <a:off x="0" y="0"/>
          <a:ext cx="0" cy="0"/>
          <a:chOff x="0" y="0"/>
          <a:chExt cx="0" cy="0"/>
        </a:xfrm>
      </p:grpSpPr>
      <p:grpSp>
        <p:nvGrpSpPr>
          <p:cNvPr name="Group 2" id="2"/>
          <p:cNvGrpSpPr/>
          <p:nvPr/>
        </p:nvGrpSpPr>
        <p:grpSpPr>
          <a:xfrm rot="0">
            <a:off x="-217699" y="525326"/>
            <a:ext cx="17904046" cy="1338906"/>
            <a:chOff x="0" y="0"/>
            <a:chExt cx="4715469" cy="352634"/>
          </a:xfrm>
        </p:grpSpPr>
        <p:sp>
          <p:nvSpPr>
            <p:cNvPr name="Freeform 3" id="3"/>
            <p:cNvSpPr/>
            <p:nvPr/>
          </p:nvSpPr>
          <p:spPr>
            <a:xfrm flipH="false" flipV="false" rot="0">
              <a:off x="0" y="0"/>
              <a:ext cx="4715469" cy="352634"/>
            </a:xfrm>
            <a:custGeom>
              <a:avLst/>
              <a:gdLst/>
              <a:ahLst/>
              <a:cxnLst/>
              <a:rect r="r" b="b" t="t" l="l"/>
              <a:pathLst>
                <a:path h="352634" w="4715469">
                  <a:moveTo>
                    <a:pt x="0" y="0"/>
                  </a:moveTo>
                  <a:lnTo>
                    <a:pt x="4715469" y="0"/>
                  </a:lnTo>
                  <a:lnTo>
                    <a:pt x="4715469" y="352634"/>
                  </a:lnTo>
                  <a:lnTo>
                    <a:pt x="0" y="352634"/>
                  </a:lnTo>
                  <a:close/>
                </a:path>
              </a:pathLst>
            </a:custGeom>
            <a:solidFill>
              <a:srgbClr val="1022B1"/>
            </a:solidFill>
          </p:spPr>
        </p:sp>
        <p:sp>
          <p:nvSpPr>
            <p:cNvPr name="TextBox 4" id="4"/>
            <p:cNvSpPr txBox="true"/>
            <p:nvPr/>
          </p:nvSpPr>
          <p:spPr>
            <a:xfrm>
              <a:off x="0" y="-85725"/>
              <a:ext cx="4715469" cy="438359"/>
            </a:xfrm>
            <a:prstGeom prst="rect">
              <a:avLst/>
            </a:prstGeom>
          </p:spPr>
          <p:txBody>
            <a:bodyPr anchor="ctr" rtlCol="false" tIns="50800" lIns="50800" bIns="50800" rIns="50800"/>
            <a:lstStyle/>
            <a:p>
              <a:pPr algn="ctr">
                <a:lnSpc>
                  <a:spcPts val="2659"/>
                </a:lnSpc>
              </a:pPr>
            </a:p>
          </p:txBody>
        </p:sp>
      </p:grpSp>
      <p:grpSp>
        <p:nvGrpSpPr>
          <p:cNvPr name="Group 5" id="5"/>
          <p:cNvGrpSpPr/>
          <p:nvPr/>
        </p:nvGrpSpPr>
        <p:grpSpPr>
          <a:xfrm rot="0">
            <a:off x="15958661" y="-1019379"/>
            <a:ext cx="3853113" cy="3853113"/>
            <a:chOff x="0" y="0"/>
            <a:chExt cx="812800" cy="812800"/>
          </a:xfrm>
        </p:grpSpPr>
        <p:sp>
          <p:nvSpPr>
            <p:cNvPr name="Freeform 6" id="6"/>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F28EC"/>
            </a:solidFill>
          </p:spPr>
        </p:sp>
        <p:sp>
          <p:nvSpPr>
            <p:cNvPr name="TextBox 7" id="7"/>
            <p:cNvSpPr txBox="true"/>
            <p:nvPr/>
          </p:nvSpPr>
          <p:spPr>
            <a:xfrm>
              <a:off x="76200" y="38100"/>
              <a:ext cx="660400" cy="698500"/>
            </a:xfrm>
            <a:prstGeom prst="rect">
              <a:avLst/>
            </a:prstGeom>
          </p:spPr>
          <p:txBody>
            <a:bodyPr anchor="ctr" rtlCol="false" tIns="50800" lIns="50800" bIns="50800" rIns="50800"/>
            <a:lstStyle/>
            <a:p>
              <a:pPr algn="ctr">
                <a:lnSpc>
                  <a:spcPts val="2659"/>
                </a:lnSpc>
                <a:spcBef>
                  <a:spcPct val="0"/>
                </a:spcBef>
              </a:pPr>
            </a:p>
          </p:txBody>
        </p:sp>
      </p:grpSp>
      <p:sp>
        <p:nvSpPr>
          <p:cNvPr name="Freeform 8" id="8"/>
          <p:cNvSpPr/>
          <p:nvPr/>
        </p:nvSpPr>
        <p:spPr>
          <a:xfrm flipH="false" flipV="false" rot="0">
            <a:off x="17259300" y="1052847"/>
            <a:ext cx="427047" cy="427047"/>
          </a:xfrm>
          <a:custGeom>
            <a:avLst/>
            <a:gdLst/>
            <a:ahLst/>
            <a:cxnLst/>
            <a:rect r="r" b="b" t="t" l="l"/>
            <a:pathLst>
              <a:path h="427047" w="427047">
                <a:moveTo>
                  <a:pt x="0" y="0"/>
                </a:moveTo>
                <a:lnTo>
                  <a:pt x="427047" y="0"/>
                </a:lnTo>
                <a:lnTo>
                  <a:pt x="427047" y="427047"/>
                </a:lnTo>
                <a:lnTo>
                  <a:pt x="0" y="427047"/>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9" id="9"/>
          <p:cNvGrpSpPr/>
          <p:nvPr/>
        </p:nvGrpSpPr>
        <p:grpSpPr>
          <a:xfrm rot="0">
            <a:off x="17509719" y="9508719"/>
            <a:ext cx="778281" cy="778281"/>
            <a:chOff x="0" y="0"/>
            <a:chExt cx="204979" cy="204979"/>
          </a:xfrm>
        </p:grpSpPr>
        <p:sp>
          <p:nvSpPr>
            <p:cNvPr name="Freeform 10" id="10"/>
            <p:cNvSpPr/>
            <p:nvPr/>
          </p:nvSpPr>
          <p:spPr>
            <a:xfrm flipH="false" flipV="false" rot="0">
              <a:off x="0" y="0"/>
              <a:ext cx="204979" cy="204979"/>
            </a:xfrm>
            <a:custGeom>
              <a:avLst/>
              <a:gdLst/>
              <a:ahLst/>
              <a:cxnLst/>
              <a:rect r="r" b="b" t="t" l="l"/>
              <a:pathLst>
                <a:path h="204979" w="204979">
                  <a:moveTo>
                    <a:pt x="0" y="0"/>
                  </a:moveTo>
                  <a:lnTo>
                    <a:pt x="204979" y="0"/>
                  </a:lnTo>
                  <a:lnTo>
                    <a:pt x="204979" y="204979"/>
                  </a:lnTo>
                  <a:lnTo>
                    <a:pt x="0" y="204979"/>
                  </a:lnTo>
                  <a:close/>
                </a:path>
              </a:pathLst>
            </a:custGeom>
            <a:solidFill>
              <a:srgbClr val="0F28EC"/>
            </a:solidFill>
          </p:spPr>
        </p:sp>
        <p:sp>
          <p:nvSpPr>
            <p:cNvPr name="TextBox 11" id="11"/>
            <p:cNvSpPr txBox="true"/>
            <p:nvPr/>
          </p:nvSpPr>
          <p:spPr>
            <a:xfrm>
              <a:off x="0" y="-85725"/>
              <a:ext cx="204979" cy="290704"/>
            </a:xfrm>
            <a:prstGeom prst="rect">
              <a:avLst/>
            </a:prstGeom>
          </p:spPr>
          <p:txBody>
            <a:bodyPr anchor="ctr" rtlCol="false" tIns="50800" lIns="50800" bIns="50800" rIns="50800"/>
            <a:lstStyle/>
            <a:p>
              <a:pPr algn="ctr">
                <a:lnSpc>
                  <a:spcPts val="2659"/>
                </a:lnSpc>
              </a:pPr>
            </a:p>
          </p:txBody>
        </p:sp>
      </p:grpSp>
      <p:sp>
        <p:nvSpPr>
          <p:cNvPr name="Freeform 12" id="12"/>
          <p:cNvSpPr/>
          <p:nvPr/>
        </p:nvSpPr>
        <p:spPr>
          <a:xfrm flipH="false" flipV="false" rot="0">
            <a:off x="12874921" y="3120324"/>
            <a:ext cx="6414846" cy="5796688"/>
          </a:xfrm>
          <a:custGeom>
            <a:avLst/>
            <a:gdLst/>
            <a:ahLst/>
            <a:cxnLst/>
            <a:rect r="r" b="b" t="t" l="l"/>
            <a:pathLst>
              <a:path h="5796688" w="6414846">
                <a:moveTo>
                  <a:pt x="0" y="0"/>
                </a:moveTo>
                <a:lnTo>
                  <a:pt x="6414846" y="0"/>
                </a:lnTo>
                <a:lnTo>
                  <a:pt x="6414846" y="5796688"/>
                </a:lnTo>
                <a:lnTo>
                  <a:pt x="0" y="5796688"/>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13" id="13"/>
          <p:cNvSpPr txBox="true"/>
          <p:nvPr/>
        </p:nvSpPr>
        <p:spPr>
          <a:xfrm rot="0">
            <a:off x="17736317" y="9669577"/>
            <a:ext cx="382236" cy="370840"/>
          </a:xfrm>
          <a:prstGeom prst="rect">
            <a:avLst/>
          </a:prstGeom>
        </p:spPr>
        <p:txBody>
          <a:bodyPr anchor="t" rtlCol="false" tIns="0" lIns="0" bIns="0" rIns="0">
            <a:spAutoFit/>
          </a:bodyPr>
          <a:lstStyle/>
          <a:p>
            <a:pPr algn="l">
              <a:lnSpc>
                <a:spcPts val="2659"/>
              </a:lnSpc>
              <a:spcBef>
                <a:spcPct val="0"/>
              </a:spcBef>
            </a:pPr>
            <a:r>
              <a:rPr lang="en-US" b="true" sz="1899">
                <a:solidFill>
                  <a:srgbClr val="FFFFFF"/>
                </a:solidFill>
                <a:latin typeface="Agrandir Bold"/>
                <a:ea typeface="Agrandir Bold"/>
                <a:cs typeface="Agrandir Bold"/>
                <a:sym typeface="Agrandir Bold"/>
              </a:rPr>
              <a:t>03</a:t>
            </a:r>
          </a:p>
        </p:txBody>
      </p:sp>
      <p:grpSp>
        <p:nvGrpSpPr>
          <p:cNvPr name="Group 14" id="14"/>
          <p:cNvGrpSpPr/>
          <p:nvPr/>
        </p:nvGrpSpPr>
        <p:grpSpPr>
          <a:xfrm rot="0">
            <a:off x="593093" y="2984571"/>
            <a:ext cx="11784068" cy="5781604"/>
            <a:chOff x="0" y="0"/>
            <a:chExt cx="15712090" cy="7708805"/>
          </a:xfrm>
        </p:grpSpPr>
        <p:sp>
          <p:nvSpPr>
            <p:cNvPr name="TextBox 15" id="15"/>
            <p:cNvSpPr txBox="true"/>
            <p:nvPr/>
          </p:nvSpPr>
          <p:spPr>
            <a:xfrm rot="0">
              <a:off x="0" y="4400315"/>
              <a:ext cx="15712090" cy="3308490"/>
            </a:xfrm>
            <a:prstGeom prst="rect">
              <a:avLst/>
            </a:prstGeom>
          </p:spPr>
          <p:txBody>
            <a:bodyPr anchor="t" rtlCol="false" tIns="0" lIns="0" bIns="0" rIns="0">
              <a:spAutoFit/>
            </a:bodyPr>
            <a:lstStyle/>
            <a:p>
              <a:pPr algn="l">
                <a:lnSpc>
                  <a:spcPts val="9575"/>
                </a:lnSpc>
                <a:spcBef>
                  <a:spcPct val="0"/>
                </a:spcBef>
              </a:pPr>
              <a:r>
                <a:rPr lang="en-US" b="true" sz="6839">
                  <a:solidFill>
                    <a:srgbClr val="0F28EC"/>
                  </a:solidFill>
                  <a:latin typeface="Agrandir Bold"/>
                  <a:ea typeface="Agrandir Bold"/>
                  <a:cs typeface="Agrandir Bold"/>
                  <a:sym typeface="Agrandir Bold"/>
                </a:rPr>
                <a:t>Cơ sở khoa học và nguyên lý thiết kế tương tác</a:t>
              </a:r>
            </a:p>
          </p:txBody>
        </p:sp>
        <p:sp>
          <p:nvSpPr>
            <p:cNvPr name="TextBox 16" id="16"/>
            <p:cNvSpPr txBox="true"/>
            <p:nvPr/>
          </p:nvSpPr>
          <p:spPr>
            <a:xfrm rot="0">
              <a:off x="0" y="-1390650"/>
              <a:ext cx="3098161" cy="7270992"/>
            </a:xfrm>
            <a:prstGeom prst="rect">
              <a:avLst/>
            </a:prstGeom>
          </p:spPr>
          <p:txBody>
            <a:bodyPr anchor="t" rtlCol="false" tIns="0" lIns="0" bIns="0" rIns="0">
              <a:spAutoFit/>
            </a:bodyPr>
            <a:lstStyle/>
            <a:p>
              <a:pPr algn="l">
                <a:lnSpc>
                  <a:spcPts val="40655"/>
                </a:lnSpc>
                <a:spcBef>
                  <a:spcPct val="0"/>
                </a:spcBef>
              </a:pPr>
              <a:r>
                <a:rPr lang="en-US" b="true" sz="29039">
                  <a:solidFill>
                    <a:srgbClr val="0F28EC"/>
                  </a:solidFill>
                  <a:latin typeface="Agrandir Bold"/>
                  <a:ea typeface="Agrandir Bold"/>
                  <a:cs typeface="Agrandir Bold"/>
                  <a:sym typeface="Agrandir Bold"/>
                </a:rPr>
                <a:t>3</a:t>
              </a:r>
            </a:p>
          </p:txBody>
        </p:sp>
      </p:grpSp>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bg>
      <p:bgPr>
        <a:solidFill>
          <a:srgbClr val="C7D3FF"/>
        </a:solidFill>
      </p:bgPr>
    </p:bg>
    <p:spTree>
      <p:nvGrpSpPr>
        <p:cNvPr id="1" name=""/>
        <p:cNvGrpSpPr/>
        <p:nvPr/>
      </p:nvGrpSpPr>
      <p:grpSpPr>
        <a:xfrm>
          <a:off x="0" y="0"/>
          <a:ext cx="0" cy="0"/>
          <a:chOff x="0" y="0"/>
          <a:chExt cx="0" cy="0"/>
        </a:xfrm>
      </p:grpSpPr>
      <p:grpSp>
        <p:nvGrpSpPr>
          <p:cNvPr name="Group 2" id="2"/>
          <p:cNvGrpSpPr/>
          <p:nvPr/>
        </p:nvGrpSpPr>
        <p:grpSpPr>
          <a:xfrm rot="0">
            <a:off x="-217699" y="525326"/>
            <a:ext cx="17904046" cy="1338906"/>
            <a:chOff x="0" y="0"/>
            <a:chExt cx="4715469" cy="352634"/>
          </a:xfrm>
        </p:grpSpPr>
        <p:sp>
          <p:nvSpPr>
            <p:cNvPr name="Freeform 3" id="3"/>
            <p:cNvSpPr/>
            <p:nvPr/>
          </p:nvSpPr>
          <p:spPr>
            <a:xfrm flipH="false" flipV="false" rot="0">
              <a:off x="0" y="0"/>
              <a:ext cx="4715469" cy="352634"/>
            </a:xfrm>
            <a:custGeom>
              <a:avLst/>
              <a:gdLst/>
              <a:ahLst/>
              <a:cxnLst/>
              <a:rect r="r" b="b" t="t" l="l"/>
              <a:pathLst>
                <a:path h="352634" w="4715469">
                  <a:moveTo>
                    <a:pt x="0" y="0"/>
                  </a:moveTo>
                  <a:lnTo>
                    <a:pt x="4715469" y="0"/>
                  </a:lnTo>
                  <a:lnTo>
                    <a:pt x="4715469" y="352634"/>
                  </a:lnTo>
                  <a:lnTo>
                    <a:pt x="0" y="352634"/>
                  </a:lnTo>
                  <a:close/>
                </a:path>
              </a:pathLst>
            </a:custGeom>
            <a:solidFill>
              <a:srgbClr val="1022B1"/>
            </a:solidFill>
          </p:spPr>
        </p:sp>
        <p:sp>
          <p:nvSpPr>
            <p:cNvPr name="TextBox 4" id="4"/>
            <p:cNvSpPr txBox="true"/>
            <p:nvPr/>
          </p:nvSpPr>
          <p:spPr>
            <a:xfrm>
              <a:off x="0" y="-85725"/>
              <a:ext cx="4715469" cy="438359"/>
            </a:xfrm>
            <a:prstGeom prst="rect">
              <a:avLst/>
            </a:prstGeom>
          </p:spPr>
          <p:txBody>
            <a:bodyPr anchor="ctr" rtlCol="false" tIns="50800" lIns="50800" bIns="50800" rIns="50800"/>
            <a:lstStyle/>
            <a:p>
              <a:pPr algn="ctr">
                <a:lnSpc>
                  <a:spcPts val="2659"/>
                </a:lnSpc>
              </a:pPr>
            </a:p>
          </p:txBody>
        </p:sp>
      </p:grpSp>
      <p:grpSp>
        <p:nvGrpSpPr>
          <p:cNvPr name="Group 5" id="5"/>
          <p:cNvGrpSpPr/>
          <p:nvPr/>
        </p:nvGrpSpPr>
        <p:grpSpPr>
          <a:xfrm rot="0">
            <a:off x="15958661" y="-1019379"/>
            <a:ext cx="3853113" cy="3853113"/>
            <a:chOff x="0" y="0"/>
            <a:chExt cx="812800" cy="812800"/>
          </a:xfrm>
        </p:grpSpPr>
        <p:sp>
          <p:nvSpPr>
            <p:cNvPr name="Freeform 6" id="6"/>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F28EC"/>
            </a:solidFill>
          </p:spPr>
        </p:sp>
        <p:sp>
          <p:nvSpPr>
            <p:cNvPr name="TextBox 7" id="7"/>
            <p:cNvSpPr txBox="true"/>
            <p:nvPr/>
          </p:nvSpPr>
          <p:spPr>
            <a:xfrm>
              <a:off x="76200" y="38100"/>
              <a:ext cx="660400" cy="698500"/>
            </a:xfrm>
            <a:prstGeom prst="rect">
              <a:avLst/>
            </a:prstGeom>
          </p:spPr>
          <p:txBody>
            <a:bodyPr anchor="ctr" rtlCol="false" tIns="50800" lIns="50800" bIns="50800" rIns="50800"/>
            <a:lstStyle/>
            <a:p>
              <a:pPr algn="ctr">
                <a:lnSpc>
                  <a:spcPts val="2659"/>
                </a:lnSpc>
                <a:spcBef>
                  <a:spcPct val="0"/>
                </a:spcBef>
              </a:pPr>
            </a:p>
          </p:txBody>
        </p:sp>
      </p:grpSp>
      <p:sp>
        <p:nvSpPr>
          <p:cNvPr name="Freeform 8" id="8"/>
          <p:cNvSpPr/>
          <p:nvPr/>
        </p:nvSpPr>
        <p:spPr>
          <a:xfrm flipH="false" flipV="false" rot="0">
            <a:off x="17259300" y="1052847"/>
            <a:ext cx="427047" cy="427047"/>
          </a:xfrm>
          <a:custGeom>
            <a:avLst/>
            <a:gdLst/>
            <a:ahLst/>
            <a:cxnLst/>
            <a:rect r="r" b="b" t="t" l="l"/>
            <a:pathLst>
              <a:path h="427047" w="427047">
                <a:moveTo>
                  <a:pt x="0" y="0"/>
                </a:moveTo>
                <a:lnTo>
                  <a:pt x="427047" y="0"/>
                </a:lnTo>
                <a:lnTo>
                  <a:pt x="427047" y="427047"/>
                </a:lnTo>
                <a:lnTo>
                  <a:pt x="0" y="427047"/>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9" id="9"/>
          <p:cNvGrpSpPr/>
          <p:nvPr/>
        </p:nvGrpSpPr>
        <p:grpSpPr>
          <a:xfrm rot="0">
            <a:off x="17509719" y="9508719"/>
            <a:ext cx="778281" cy="778281"/>
            <a:chOff x="0" y="0"/>
            <a:chExt cx="204979" cy="204979"/>
          </a:xfrm>
        </p:grpSpPr>
        <p:sp>
          <p:nvSpPr>
            <p:cNvPr name="Freeform 10" id="10"/>
            <p:cNvSpPr/>
            <p:nvPr/>
          </p:nvSpPr>
          <p:spPr>
            <a:xfrm flipH="false" flipV="false" rot="0">
              <a:off x="0" y="0"/>
              <a:ext cx="204979" cy="204979"/>
            </a:xfrm>
            <a:custGeom>
              <a:avLst/>
              <a:gdLst/>
              <a:ahLst/>
              <a:cxnLst/>
              <a:rect r="r" b="b" t="t" l="l"/>
              <a:pathLst>
                <a:path h="204979" w="204979">
                  <a:moveTo>
                    <a:pt x="0" y="0"/>
                  </a:moveTo>
                  <a:lnTo>
                    <a:pt x="204979" y="0"/>
                  </a:lnTo>
                  <a:lnTo>
                    <a:pt x="204979" y="204979"/>
                  </a:lnTo>
                  <a:lnTo>
                    <a:pt x="0" y="204979"/>
                  </a:lnTo>
                  <a:close/>
                </a:path>
              </a:pathLst>
            </a:custGeom>
            <a:solidFill>
              <a:srgbClr val="0F28EC"/>
            </a:solidFill>
          </p:spPr>
        </p:sp>
        <p:sp>
          <p:nvSpPr>
            <p:cNvPr name="TextBox 11" id="11"/>
            <p:cNvSpPr txBox="true"/>
            <p:nvPr/>
          </p:nvSpPr>
          <p:spPr>
            <a:xfrm>
              <a:off x="0" y="-85725"/>
              <a:ext cx="204979" cy="290704"/>
            </a:xfrm>
            <a:prstGeom prst="rect">
              <a:avLst/>
            </a:prstGeom>
          </p:spPr>
          <p:txBody>
            <a:bodyPr anchor="ctr" rtlCol="false" tIns="50800" lIns="50800" bIns="50800" rIns="50800"/>
            <a:lstStyle/>
            <a:p>
              <a:pPr algn="ctr">
                <a:lnSpc>
                  <a:spcPts val="2659"/>
                </a:lnSpc>
              </a:pPr>
            </a:p>
          </p:txBody>
        </p:sp>
      </p:grpSp>
      <p:sp>
        <p:nvSpPr>
          <p:cNvPr name="TextBox 12" id="12"/>
          <p:cNvSpPr txBox="true"/>
          <p:nvPr/>
        </p:nvSpPr>
        <p:spPr>
          <a:xfrm rot="0">
            <a:off x="17736317" y="9669577"/>
            <a:ext cx="382236" cy="370840"/>
          </a:xfrm>
          <a:prstGeom prst="rect">
            <a:avLst/>
          </a:prstGeom>
        </p:spPr>
        <p:txBody>
          <a:bodyPr anchor="t" rtlCol="false" tIns="0" lIns="0" bIns="0" rIns="0">
            <a:spAutoFit/>
          </a:bodyPr>
          <a:lstStyle/>
          <a:p>
            <a:pPr algn="l">
              <a:lnSpc>
                <a:spcPts val="2659"/>
              </a:lnSpc>
              <a:spcBef>
                <a:spcPct val="0"/>
              </a:spcBef>
            </a:pPr>
            <a:r>
              <a:rPr lang="en-US" b="true" sz="1899">
                <a:solidFill>
                  <a:srgbClr val="FFFFFF"/>
                </a:solidFill>
                <a:latin typeface="Agrandir Bold"/>
                <a:ea typeface="Agrandir Bold"/>
                <a:cs typeface="Agrandir Bold"/>
                <a:sym typeface="Agrandir Bold"/>
              </a:rPr>
              <a:t>05</a:t>
            </a:r>
          </a:p>
        </p:txBody>
      </p:sp>
      <p:sp>
        <p:nvSpPr>
          <p:cNvPr name="TextBox 13" id="13"/>
          <p:cNvSpPr txBox="true"/>
          <p:nvPr/>
        </p:nvSpPr>
        <p:spPr>
          <a:xfrm rot="0">
            <a:off x="561398" y="397611"/>
            <a:ext cx="10951639" cy="1350274"/>
          </a:xfrm>
          <a:prstGeom prst="rect">
            <a:avLst/>
          </a:prstGeom>
        </p:spPr>
        <p:txBody>
          <a:bodyPr anchor="t" rtlCol="false" tIns="0" lIns="0" bIns="0" rIns="0">
            <a:spAutoFit/>
          </a:bodyPr>
          <a:lstStyle/>
          <a:p>
            <a:pPr algn="l">
              <a:lnSpc>
                <a:spcPts val="9575"/>
              </a:lnSpc>
              <a:spcBef>
                <a:spcPct val="0"/>
              </a:spcBef>
            </a:pPr>
            <a:r>
              <a:rPr lang="en-US" b="true" sz="6839">
                <a:solidFill>
                  <a:srgbClr val="FFFFFF"/>
                </a:solidFill>
                <a:latin typeface="Agrandir Bold"/>
                <a:ea typeface="Agrandir Bold"/>
                <a:cs typeface="Agrandir Bold"/>
                <a:sym typeface="Agrandir Bold"/>
              </a:rPr>
              <a:t>3. Cơ sở khoa học</a:t>
            </a:r>
          </a:p>
        </p:txBody>
      </p:sp>
      <p:grpSp>
        <p:nvGrpSpPr>
          <p:cNvPr name="Group 14" id="14"/>
          <p:cNvGrpSpPr/>
          <p:nvPr/>
        </p:nvGrpSpPr>
        <p:grpSpPr>
          <a:xfrm rot="0">
            <a:off x="2848718" y="4764739"/>
            <a:ext cx="12590564" cy="1042670"/>
            <a:chOff x="0" y="0"/>
            <a:chExt cx="16787418" cy="1390227"/>
          </a:xfrm>
        </p:grpSpPr>
        <p:sp>
          <p:nvSpPr>
            <p:cNvPr name="TextBox 15" id="15"/>
            <p:cNvSpPr txBox="true"/>
            <p:nvPr/>
          </p:nvSpPr>
          <p:spPr>
            <a:xfrm rot="0">
              <a:off x="1628452" y="-142875"/>
              <a:ext cx="15158966" cy="1533102"/>
            </a:xfrm>
            <a:prstGeom prst="rect">
              <a:avLst/>
            </a:prstGeom>
          </p:spPr>
          <p:txBody>
            <a:bodyPr anchor="t" rtlCol="false" tIns="0" lIns="0" bIns="0" rIns="0">
              <a:spAutoFit/>
            </a:bodyPr>
            <a:lstStyle/>
            <a:p>
              <a:pPr algn="just">
                <a:lnSpc>
                  <a:spcPts val="4480"/>
                </a:lnSpc>
                <a:spcBef>
                  <a:spcPct val="0"/>
                </a:spcBef>
              </a:pPr>
              <a:r>
                <a:rPr lang="en-US" sz="3200">
                  <a:solidFill>
                    <a:srgbClr val="000000"/>
                  </a:solidFill>
                  <a:latin typeface="Agrandir"/>
                  <a:ea typeface="Agrandir"/>
                  <a:cs typeface="Agrandir"/>
                  <a:sym typeface="Agrandir"/>
                </a:rPr>
                <a:t>Trẻ khiếm thính tiếp nhận thông tin chủ yếu qua thị giác, quan sát chuyển động, minh họa</a:t>
              </a:r>
            </a:p>
          </p:txBody>
        </p:sp>
        <p:sp>
          <p:nvSpPr>
            <p:cNvPr name="Freeform 16" id="16"/>
            <p:cNvSpPr/>
            <p:nvPr/>
          </p:nvSpPr>
          <p:spPr>
            <a:xfrm flipH="false" flipV="false" rot="0">
              <a:off x="0" y="276224"/>
              <a:ext cx="1094484" cy="837778"/>
            </a:xfrm>
            <a:custGeom>
              <a:avLst/>
              <a:gdLst/>
              <a:ahLst/>
              <a:cxnLst/>
              <a:rect r="r" b="b" t="t" l="l"/>
              <a:pathLst>
                <a:path h="837778" w="1094484">
                  <a:moveTo>
                    <a:pt x="0" y="0"/>
                  </a:moveTo>
                  <a:lnTo>
                    <a:pt x="1094484" y="0"/>
                  </a:lnTo>
                  <a:lnTo>
                    <a:pt x="1094484" y="837778"/>
                  </a:lnTo>
                  <a:lnTo>
                    <a:pt x="0" y="837778"/>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grpSp>
      <p:sp>
        <p:nvSpPr>
          <p:cNvPr name="TextBox 17" id="17"/>
          <p:cNvSpPr txBox="true"/>
          <p:nvPr/>
        </p:nvSpPr>
        <p:spPr>
          <a:xfrm rot="0">
            <a:off x="4133593" y="2680200"/>
            <a:ext cx="10020814" cy="1350274"/>
          </a:xfrm>
          <a:prstGeom prst="rect">
            <a:avLst/>
          </a:prstGeom>
        </p:spPr>
        <p:txBody>
          <a:bodyPr anchor="t" rtlCol="false" tIns="0" lIns="0" bIns="0" rIns="0">
            <a:spAutoFit/>
          </a:bodyPr>
          <a:lstStyle/>
          <a:p>
            <a:pPr algn="l">
              <a:lnSpc>
                <a:spcPts val="9575"/>
              </a:lnSpc>
              <a:spcBef>
                <a:spcPct val="0"/>
              </a:spcBef>
            </a:pPr>
            <a:r>
              <a:rPr lang="en-US" b="true" sz="6839">
                <a:solidFill>
                  <a:srgbClr val="0F28EC"/>
                </a:solidFill>
                <a:latin typeface="Agrandir Bold"/>
                <a:ea typeface="Agrandir Bold"/>
                <a:cs typeface="Agrandir Bold"/>
                <a:sym typeface="Agrandir Bold"/>
              </a:rPr>
              <a:t>Visual Learning Theory</a:t>
            </a:r>
          </a:p>
        </p:txBody>
      </p:sp>
      <p:grpSp>
        <p:nvGrpSpPr>
          <p:cNvPr name="Group 18" id="18"/>
          <p:cNvGrpSpPr/>
          <p:nvPr/>
        </p:nvGrpSpPr>
        <p:grpSpPr>
          <a:xfrm rot="0">
            <a:off x="2848718" y="6160639"/>
            <a:ext cx="11926882" cy="628334"/>
            <a:chOff x="0" y="0"/>
            <a:chExt cx="15902510" cy="837778"/>
          </a:xfrm>
        </p:grpSpPr>
        <p:sp>
          <p:nvSpPr>
            <p:cNvPr name="TextBox 19" id="19"/>
            <p:cNvSpPr txBox="true"/>
            <p:nvPr/>
          </p:nvSpPr>
          <p:spPr>
            <a:xfrm rot="0">
              <a:off x="1628452" y="-44449"/>
              <a:ext cx="14274058" cy="783802"/>
            </a:xfrm>
            <a:prstGeom prst="rect">
              <a:avLst/>
            </a:prstGeom>
          </p:spPr>
          <p:txBody>
            <a:bodyPr anchor="t" rtlCol="false" tIns="0" lIns="0" bIns="0" rIns="0">
              <a:spAutoFit/>
            </a:bodyPr>
            <a:lstStyle/>
            <a:p>
              <a:pPr algn="just">
                <a:lnSpc>
                  <a:spcPts val="4480"/>
                </a:lnSpc>
                <a:spcBef>
                  <a:spcPct val="0"/>
                </a:spcBef>
              </a:pPr>
              <a:r>
                <a:rPr lang="en-US" sz="3200">
                  <a:solidFill>
                    <a:srgbClr val="000000"/>
                  </a:solidFill>
                  <a:latin typeface="Agrandir"/>
                  <a:ea typeface="Agrandir"/>
                  <a:cs typeface="Agrandir"/>
                  <a:sym typeface="Agrandir"/>
                </a:rPr>
                <a:t>Khác với trẻ bình thường kết hợp nghe, đọc và quan sát</a:t>
              </a:r>
            </a:p>
          </p:txBody>
        </p:sp>
        <p:sp>
          <p:nvSpPr>
            <p:cNvPr name="Freeform 20" id="20"/>
            <p:cNvSpPr/>
            <p:nvPr/>
          </p:nvSpPr>
          <p:spPr>
            <a:xfrm flipH="false" flipV="false" rot="0">
              <a:off x="0" y="0"/>
              <a:ext cx="1094484" cy="837778"/>
            </a:xfrm>
            <a:custGeom>
              <a:avLst/>
              <a:gdLst/>
              <a:ahLst/>
              <a:cxnLst/>
              <a:rect r="r" b="b" t="t" l="l"/>
              <a:pathLst>
                <a:path h="837778" w="1094484">
                  <a:moveTo>
                    <a:pt x="0" y="0"/>
                  </a:moveTo>
                  <a:lnTo>
                    <a:pt x="1094484" y="0"/>
                  </a:lnTo>
                  <a:lnTo>
                    <a:pt x="1094484" y="837778"/>
                  </a:lnTo>
                  <a:lnTo>
                    <a:pt x="0" y="837778"/>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grpSp>
      <p:grpSp>
        <p:nvGrpSpPr>
          <p:cNvPr name="Group 21" id="21"/>
          <p:cNvGrpSpPr/>
          <p:nvPr/>
        </p:nvGrpSpPr>
        <p:grpSpPr>
          <a:xfrm rot="0">
            <a:off x="2848718" y="7142202"/>
            <a:ext cx="12575480" cy="1116489"/>
            <a:chOff x="0" y="0"/>
            <a:chExt cx="16767307" cy="1488652"/>
          </a:xfrm>
        </p:grpSpPr>
        <p:sp>
          <p:nvSpPr>
            <p:cNvPr name="TextBox 22" id="22"/>
            <p:cNvSpPr txBox="true"/>
            <p:nvPr/>
          </p:nvSpPr>
          <p:spPr>
            <a:xfrm rot="0">
              <a:off x="1628452" y="-44449"/>
              <a:ext cx="15138854" cy="1533102"/>
            </a:xfrm>
            <a:prstGeom prst="rect">
              <a:avLst/>
            </a:prstGeom>
          </p:spPr>
          <p:txBody>
            <a:bodyPr anchor="t" rtlCol="false" tIns="0" lIns="0" bIns="0" rIns="0">
              <a:spAutoFit/>
            </a:bodyPr>
            <a:lstStyle/>
            <a:p>
              <a:pPr algn="just">
                <a:lnSpc>
                  <a:spcPts val="4480"/>
                </a:lnSpc>
                <a:spcBef>
                  <a:spcPct val="0"/>
                </a:spcBef>
              </a:pPr>
              <a:r>
                <a:rPr lang="en-US" sz="3200">
                  <a:solidFill>
                    <a:srgbClr val="000000"/>
                  </a:solidFill>
                  <a:latin typeface="Agrandir"/>
                  <a:ea typeface="Agrandir"/>
                  <a:cs typeface="Agrandir"/>
                  <a:sym typeface="Agrandir"/>
                </a:rPr>
                <a:t>Hệ thống cần video minh họa trực quan, hình ảnh động, mô phỏng cử chỉ thực tế và hạn chế phụ thuộc vào âm thanh</a:t>
              </a:r>
            </a:p>
          </p:txBody>
        </p:sp>
        <p:sp>
          <p:nvSpPr>
            <p:cNvPr name="Freeform 23" id="23"/>
            <p:cNvSpPr/>
            <p:nvPr/>
          </p:nvSpPr>
          <p:spPr>
            <a:xfrm flipH="false" flipV="false" rot="0">
              <a:off x="0" y="0"/>
              <a:ext cx="1094484" cy="837778"/>
            </a:xfrm>
            <a:custGeom>
              <a:avLst/>
              <a:gdLst/>
              <a:ahLst/>
              <a:cxnLst/>
              <a:rect r="r" b="b" t="t" l="l"/>
              <a:pathLst>
                <a:path h="837778" w="1094484">
                  <a:moveTo>
                    <a:pt x="0" y="0"/>
                  </a:moveTo>
                  <a:lnTo>
                    <a:pt x="1094484" y="0"/>
                  </a:lnTo>
                  <a:lnTo>
                    <a:pt x="1094484" y="837778"/>
                  </a:lnTo>
                  <a:lnTo>
                    <a:pt x="0" y="837778"/>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grpSp>
    </p:spTree>
  </p:cSld>
  <p:clrMapOvr>
    <a:masterClrMapping/>
  </p:clrMapOvr>
</p:sld>
</file>

<file path=ppt/slides/slide13.xml><?xml version="1.0" encoding="utf-8"?>
<p:sld xmlns:p="http://schemas.openxmlformats.org/presentationml/2006/main" xmlns:a="http://schemas.openxmlformats.org/drawingml/2006/main" xmlns:r="http://schemas.openxmlformats.org/officeDocument/2006/relationships">
  <p:cSld>
    <p:bg>
      <p:bgPr>
        <a:solidFill>
          <a:srgbClr val="C7D3FF"/>
        </a:solidFill>
      </p:bgPr>
    </p:bg>
    <p:spTree>
      <p:nvGrpSpPr>
        <p:cNvPr id="1" name=""/>
        <p:cNvGrpSpPr/>
        <p:nvPr/>
      </p:nvGrpSpPr>
      <p:grpSpPr>
        <a:xfrm>
          <a:off x="0" y="0"/>
          <a:ext cx="0" cy="0"/>
          <a:chOff x="0" y="0"/>
          <a:chExt cx="0" cy="0"/>
        </a:xfrm>
      </p:grpSpPr>
      <p:grpSp>
        <p:nvGrpSpPr>
          <p:cNvPr name="Group 2" id="2"/>
          <p:cNvGrpSpPr/>
          <p:nvPr/>
        </p:nvGrpSpPr>
        <p:grpSpPr>
          <a:xfrm rot="0">
            <a:off x="-217699" y="525326"/>
            <a:ext cx="17904046" cy="1338906"/>
            <a:chOff x="0" y="0"/>
            <a:chExt cx="4715469" cy="352634"/>
          </a:xfrm>
        </p:grpSpPr>
        <p:sp>
          <p:nvSpPr>
            <p:cNvPr name="Freeform 3" id="3"/>
            <p:cNvSpPr/>
            <p:nvPr/>
          </p:nvSpPr>
          <p:spPr>
            <a:xfrm flipH="false" flipV="false" rot="0">
              <a:off x="0" y="0"/>
              <a:ext cx="4715469" cy="352634"/>
            </a:xfrm>
            <a:custGeom>
              <a:avLst/>
              <a:gdLst/>
              <a:ahLst/>
              <a:cxnLst/>
              <a:rect r="r" b="b" t="t" l="l"/>
              <a:pathLst>
                <a:path h="352634" w="4715469">
                  <a:moveTo>
                    <a:pt x="0" y="0"/>
                  </a:moveTo>
                  <a:lnTo>
                    <a:pt x="4715469" y="0"/>
                  </a:lnTo>
                  <a:lnTo>
                    <a:pt x="4715469" y="352634"/>
                  </a:lnTo>
                  <a:lnTo>
                    <a:pt x="0" y="352634"/>
                  </a:lnTo>
                  <a:close/>
                </a:path>
              </a:pathLst>
            </a:custGeom>
            <a:solidFill>
              <a:srgbClr val="1022B1"/>
            </a:solidFill>
          </p:spPr>
        </p:sp>
        <p:sp>
          <p:nvSpPr>
            <p:cNvPr name="TextBox 4" id="4"/>
            <p:cNvSpPr txBox="true"/>
            <p:nvPr/>
          </p:nvSpPr>
          <p:spPr>
            <a:xfrm>
              <a:off x="0" y="-85725"/>
              <a:ext cx="4715469" cy="438359"/>
            </a:xfrm>
            <a:prstGeom prst="rect">
              <a:avLst/>
            </a:prstGeom>
          </p:spPr>
          <p:txBody>
            <a:bodyPr anchor="ctr" rtlCol="false" tIns="50800" lIns="50800" bIns="50800" rIns="50800"/>
            <a:lstStyle/>
            <a:p>
              <a:pPr algn="ctr">
                <a:lnSpc>
                  <a:spcPts val="2659"/>
                </a:lnSpc>
              </a:pPr>
            </a:p>
          </p:txBody>
        </p:sp>
      </p:grpSp>
      <p:grpSp>
        <p:nvGrpSpPr>
          <p:cNvPr name="Group 5" id="5"/>
          <p:cNvGrpSpPr/>
          <p:nvPr/>
        </p:nvGrpSpPr>
        <p:grpSpPr>
          <a:xfrm rot="0">
            <a:off x="15958661" y="-1019379"/>
            <a:ext cx="3853113" cy="3853113"/>
            <a:chOff x="0" y="0"/>
            <a:chExt cx="812800" cy="812800"/>
          </a:xfrm>
        </p:grpSpPr>
        <p:sp>
          <p:nvSpPr>
            <p:cNvPr name="Freeform 6" id="6"/>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F28EC"/>
            </a:solidFill>
          </p:spPr>
        </p:sp>
        <p:sp>
          <p:nvSpPr>
            <p:cNvPr name="TextBox 7" id="7"/>
            <p:cNvSpPr txBox="true"/>
            <p:nvPr/>
          </p:nvSpPr>
          <p:spPr>
            <a:xfrm>
              <a:off x="76200" y="38100"/>
              <a:ext cx="660400" cy="698500"/>
            </a:xfrm>
            <a:prstGeom prst="rect">
              <a:avLst/>
            </a:prstGeom>
          </p:spPr>
          <p:txBody>
            <a:bodyPr anchor="ctr" rtlCol="false" tIns="50800" lIns="50800" bIns="50800" rIns="50800"/>
            <a:lstStyle/>
            <a:p>
              <a:pPr algn="ctr">
                <a:lnSpc>
                  <a:spcPts val="2659"/>
                </a:lnSpc>
                <a:spcBef>
                  <a:spcPct val="0"/>
                </a:spcBef>
              </a:pPr>
            </a:p>
          </p:txBody>
        </p:sp>
      </p:grpSp>
      <p:sp>
        <p:nvSpPr>
          <p:cNvPr name="Freeform 8" id="8"/>
          <p:cNvSpPr/>
          <p:nvPr/>
        </p:nvSpPr>
        <p:spPr>
          <a:xfrm flipH="false" flipV="false" rot="0">
            <a:off x="17259300" y="1052847"/>
            <a:ext cx="427047" cy="427047"/>
          </a:xfrm>
          <a:custGeom>
            <a:avLst/>
            <a:gdLst/>
            <a:ahLst/>
            <a:cxnLst/>
            <a:rect r="r" b="b" t="t" l="l"/>
            <a:pathLst>
              <a:path h="427047" w="427047">
                <a:moveTo>
                  <a:pt x="0" y="0"/>
                </a:moveTo>
                <a:lnTo>
                  <a:pt x="427047" y="0"/>
                </a:lnTo>
                <a:lnTo>
                  <a:pt x="427047" y="427047"/>
                </a:lnTo>
                <a:lnTo>
                  <a:pt x="0" y="427047"/>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9" id="9"/>
          <p:cNvGrpSpPr/>
          <p:nvPr/>
        </p:nvGrpSpPr>
        <p:grpSpPr>
          <a:xfrm rot="0">
            <a:off x="17509719" y="9508719"/>
            <a:ext cx="778281" cy="778281"/>
            <a:chOff x="0" y="0"/>
            <a:chExt cx="204979" cy="204979"/>
          </a:xfrm>
        </p:grpSpPr>
        <p:sp>
          <p:nvSpPr>
            <p:cNvPr name="Freeform 10" id="10"/>
            <p:cNvSpPr/>
            <p:nvPr/>
          </p:nvSpPr>
          <p:spPr>
            <a:xfrm flipH="false" flipV="false" rot="0">
              <a:off x="0" y="0"/>
              <a:ext cx="204979" cy="204979"/>
            </a:xfrm>
            <a:custGeom>
              <a:avLst/>
              <a:gdLst/>
              <a:ahLst/>
              <a:cxnLst/>
              <a:rect r="r" b="b" t="t" l="l"/>
              <a:pathLst>
                <a:path h="204979" w="204979">
                  <a:moveTo>
                    <a:pt x="0" y="0"/>
                  </a:moveTo>
                  <a:lnTo>
                    <a:pt x="204979" y="0"/>
                  </a:lnTo>
                  <a:lnTo>
                    <a:pt x="204979" y="204979"/>
                  </a:lnTo>
                  <a:lnTo>
                    <a:pt x="0" y="204979"/>
                  </a:lnTo>
                  <a:close/>
                </a:path>
              </a:pathLst>
            </a:custGeom>
            <a:solidFill>
              <a:srgbClr val="0F28EC"/>
            </a:solidFill>
          </p:spPr>
        </p:sp>
        <p:sp>
          <p:nvSpPr>
            <p:cNvPr name="TextBox 11" id="11"/>
            <p:cNvSpPr txBox="true"/>
            <p:nvPr/>
          </p:nvSpPr>
          <p:spPr>
            <a:xfrm>
              <a:off x="0" y="-85725"/>
              <a:ext cx="204979" cy="290704"/>
            </a:xfrm>
            <a:prstGeom prst="rect">
              <a:avLst/>
            </a:prstGeom>
          </p:spPr>
          <p:txBody>
            <a:bodyPr anchor="ctr" rtlCol="false" tIns="50800" lIns="50800" bIns="50800" rIns="50800"/>
            <a:lstStyle/>
            <a:p>
              <a:pPr algn="ctr">
                <a:lnSpc>
                  <a:spcPts val="2659"/>
                </a:lnSpc>
              </a:pPr>
            </a:p>
          </p:txBody>
        </p:sp>
      </p:grpSp>
      <p:sp>
        <p:nvSpPr>
          <p:cNvPr name="TextBox 12" id="12"/>
          <p:cNvSpPr txBox="true"/>
          <p:nvPr/>
        </p:nvSpPr>
        <p:spPr>
          <a:xfrm rot="0">
            <a:off x="17736317" y="9669577"/>
            <a:ext cx="382236" cy="370840"/>
          </a:xfrm>
          <a:prstGeom prst="rect">
            <a:avLst/>
          </a:prstGeom>
        </p:spPr>
        <p:txBody>
          <a:bodyPr anchor="t" rtlCol="false" tIns="0" lIns="0" bIns="0" rIns="0">
            <a:spAutoFit/>
          </a:bodyPr>
          <a:lstStyle/>
          <a:p>
            <a:pPr algn="l">
              <a:lnSpc>
                <a:spcPts val="2659"/>
              </a:lnSpc>
              <a:spcBef>
                <a:spcPct val="0"/>
              </a:spcBef>
            </a:pPr>
            <a:r>
              <a:rPr lang="en-US" b="true" sz="1899">
                <a:solidFill>
                  <a:srgbClr val="FFFFFF"/>
                </a:solidFill>
                <a:latin typeface="Agrandir Bold"/>
                <a:ea typeface="Agrandir Bold"/>
                <a:cs typeface="Agrandir Bold"/>
                <a:sym typeface="Agrandir Bold"/>
              </a:rPr>
              <a:t>05</a:t>
            </a:r>
          </a:p>
        </p:txBody>
      </p:sp>
      <p:sp>
        <p:nvSpPr>
          <p:cNvPr name="TextBox 13" id="13"/>
          <p:cNvSpPr txBox="true"/>
          <p:nvPr/>
        </p:nvSpPr>
        <p:spPr>
          <a:xfrm rot="0">
            <a:off x="561398" y="397611"/>
            <a:ext cx="10951639" cy="1350274"/>
          </a:xfrm>
          <a:prstGeom prst="rect">
            <a:avLst/>
          </a:prstGeom>
        </p:spPr>
        <p:txBody>
          <a:bodyPr anchor="t" rtlCol="false" tIns="0" lIns="0" bIns="0" rIns="0">
            <a:spAutoFit/>
          </a:bodyPr>
          <a:lstStyle/>
          <a:p>
            <a:pPr algn="l">
              <a:lnSpc>
                <a:spcPts val="9575"/>
              </a:lnSpc>
              <a:spcBef>
                <a:spcPct val="0"/>
              </a:spcBef>
            </a:pPr>
            <a:r>
              <a:rPr lang="en-US" b="true" sz="6839">
                <a:solidFill>
                  <a:srgbClr val="FFFFFF"/>
                </a:solidFill>
                <a:latin typeface="Agrandir Bold"/>
                <a:ea typeface="Agrandir Bold"/>
                <a:cs typeface="Agrandir Bold"/>
                <a:sym typeface="Agrandir Bold"/>
              </a:rPr>
              <a:t>3. Cơ sở khoa học</a:t>
            </a:r>
          </a:p>
        </p:txBody>
      </p:sp>
      <p:grpSp>
        <p:nvGrpSpPr>
          <p:cNvPr name="Group 14" id="14"/>
          <p:cNvGrpSpPr/>
          <p:nvPr/>
        </p:nvGrpSpPr>
        <p:grpSpPr>
          <a:xfrm rot="0">
            <a:off x="2803467" y="5143500"/>
            <a:ext cx="12590564" cy="1042670"/>
            <a:chOff x="0" y="0"/>
            <a:chExt cx="16787418" cy="1390227"/>
          </a:xfrm>
        </p:grpSpPr>
        <p:sp>
          <p:nvSpPr>
            <p:cNvPr name="TextBox 15" id="15"/>
            <p:cNvSpPr txBox="true"/>
            <p:nvPr/>
          </p:nvSpPr>
          <p:spPr>
            <a:xfrm rot="0">
              <a:off x="1628452" y="-142875"/>
              <a:ext cx="15158966" cy="1533102"/>
            </a:xfrm>
            <a:prstGeom prst="rect">
              <a:avLst/>
            </a:prstGeom>
          </p:spPr>
          <p:txBody>
            <a:bodyPr anchor="t" rtlCol="false" tIns="0" lIns="0" bIns="0" rIns="0">
              <a:spAutoFit/>
            </a:bodyPr>
            <a:lstStyle/>
            <a:p>
              <a:pPr algn="just">
                <a:lnSpc>
                  <a:spcPts val="4480"/>
                </a:lnSpc>
                <a:spcBef>
                  <a:spcPct val="0"/>
                </a:spcBef>
              </a:pPr>
              <a:r>
                <a:rPr lang="en-US" sz="3200">
                  <a:solidFill>
                    <a:srgbClr val="000000"/>
                  </a:solidFill>
                  <a:latin typeface="Agrandir"/>
                  <a:ea typeface="Agrandir"/>
                  <a:cs typeface="Agrandir"/>
                  <a:sym typeface="Agrandir"/>
                </a:rPr>
                <a:t>Người học tiếp thu tốt hơn khi kết hợp hình ảnh và văn bản, không chỉ sử dụng văn bản thuần</a:t>
              </a:r>
            </a:p>
          </p:txBody>
        </p:sp>
        <p:sp>
          <p:nvSpPr>
            <p:cNvPr name="Freeform 16" id="16"/>
            <p:cNvSpPr/>
            <p:nvPr/>
          </p:nvSpPr>
          <p:spPr>
            <a:xfrm flipH="false" flipV="false" rot="0">
              <a:off x="0" y="276224"/>
              <a:ext cx="1094484" cy="837778"/>
            </a:xfrm>
            <a:custGeom>
              <a:avLst/>
              <a:gdLst/>
              <a:ahLst/>
              <a:cxnLst/>
              <a:rect r="r" b="b" t="t" l="l"/>
              <a:pathLst>
                <a:path h="837778" w="1094484">
                  <a:moveTo>
                    <a:pt x="0" y="0"/>
                  </a:moveTo>
                  <a:lnTo>
                    <a:pt x="1094484" y="0"/>
                  </a:lnTo>
                  <a:lnTo>
                    <a:pt x="1094484" y="837778"/>
                  </a:lnTo>
                  <a:lnTo>
                    <a:pt x="0" y="837778"/>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grpSp>
      <p:sp>
        <p:nvSpPr>
          <p:cNvPr name="TextBox 17" id="17"/>
          <p:cNvSpPr txBox="true"/>
          <p:nvPr/>
        </p:nvSpPr>
        <p:spPr>
          <a:xfrm rot="0">
            <a:off x="3145613" y="3092589"/>
            <a:ext cx="11996774" cy="1350274"/>
          </a:xfrm>
          <a:prstGeom prst="rect">
            <a:avLst/>
          </a:prstGeom>
        </p:spPr>
        <p:txBody>
          <a:bodyPr anchor="t" rtlCol="false" tIns="0" lIns="0" bIns="0" rIns="0">
            <a:spAutoFit/>
          </a:bodyPr>
          <a:lstStyle/>
          <a:p>
            <a:pPr algn="l">
              <a:lnSpc>
                <a:spcPts val="9575"/>
              </a:lnSpc>
              <a:spcBef>
                <a:spcPct val="0"/>
              </a:spcBef>
            </a:pPr>
            <a:r>
              <a:rPr lang="en-US" b="true" sz="6839">
                <a:solidFill>
                  <a:srgbClr val="0F28EC"/>
                </a:solidFill>
                <a:latin typeface="Agrandir Bold"/>
                <a:ea typeface="Agrandir Bold"/>
                <a:cs typeface="Agrandir Bold"/>
                <a:sym typeface="Agrandir Bold"/>
              </a:rPr>
              <a:t>Multimedia Learning Theory</a:t>
            </a:r>
          </a:p>
        </p:txBody>
      </p:sp>
      <p:grpSp>
        <p:nvGrpSpPr>
          <p:cNvPr name="Group 18" id="18"/>
          <p:cNvGrpSpPr/>
          <p:nvPr/>
        </p:nvGrpSpPr>
        <p:grpSpPr>
          <a:xfrm rot="0">
            <a:off x="2803467" y="6690995"/>
            <a:ext cx="12681066" cy="1042670"/>
            <a:chOff x="0" y="0"/>
            <a:chExt cx="16908087" cy="1390227"/>
          </a:xfrm>
        </p:grpSpPr>
        <p:sp>
          <p:nvSpPr>
            <p:cNvPr name="TextBox 19" id="19"/>
            <p:cNvSpPr txBox="true"/>
            <p:nvPr/>
          </p:nvSpPr>
          <p:spPr>
            <a:xfrm rot="0">
              <a:off x="1648564" y="-142875"/>
              <a:ext cx="15259524" cy="1533102"/>
            </a:xfrm>
            <a:prstGeom prst="rect">
              <a:avLst/>
            </a:prstGeom>
          </p:spPr>
          <p:txBody>
            <a:bodyPr anchor="t" rtlCol="false" tIns="0" lIns="0" bIns="0" rIns="0">
              <a:spAutoFit/>
            </a:bodyPr>
            <a:lstStyle/>
            <a:p>
              <a:pPr algn="just">
                <a:lnSpc>
                  <a:spcPts val="4480"/>
                </a:lnSpc>
                <a:spcBef>
                  <a:spcPct val="0"/>
                </a:spcBef>
              </a:pPr>
              <a:r>
                <a:rPr lang="en-US" sz="3200">
                  <a:solidFill>
                    <a:srgbClr val="000000"/>
                  </a:solidFill>
                  <a:latin typeface="Agrandir"/>
                  <a:ea typeface="Agrandir"/>
                  <a:cs typeface="Agrandir"/>
                  <a:sym typeface="Agrandir"/>
                </a:rPr>
                <a:t>Một bài học nên bao gồm hình ảnh, video ký hiệu, từ vựng thay vì chỉ hiển thị chữ</a:t>
              </a:r>
            </a:p>
          </p:txBody>
        </p:sp>
        <p:sp>
          <p:nvSpPr>
            <p:cNvPr name="Freeform 20" id="20"/>
            <p:cNvSpPr/>
            <p:nvPr/>
          </p:nvSpPr>
          <p:spPr>
            <a:xfrm flipH="false" flipV="false" rot="0">
              <a:off x="0" y="276224"/>
              <a:ext cx="1094484" cy="837778"/>
            </a:xfrm>
            <a:custGeom>
              <a:avLst/>
              <a:gdLst/>
              <a:ahLst/>
              <a:cxnLst/>
              <a:rect r="r" b="b" t="t" l="l"/>
              <a:pathLst>
                <a:path h="837778" w="1094484">
                  <a:moveTo>
                    <a:pt x="0" y="0"/>
                  </a:moveTo>
                  <a:lnTo>
                    <a:pt x="1094484" y="0"/>
                  </a:lnTo>
                  <a:lnTo>
                    <a:pt x="1094484" y="837778"/>
                  </a:lnTo>
                  <a:lnTo>
                    <a:pt x="0" y="837778"/>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grpSp>
    </p:spTree>
  </p:cSld>
  <p:clrMapOvr>
    <a:masterClrMapping/>
  </p:clrMapOvr>
</p:sld>
</file>

<file path=ppt/slides/slide14.xml><?xml version="1.0" encoding="utf-8"?>
<p:sld xmlns:p="http://schemas.openxmlformats.org/presentationml/2006/main" xmlns:a="http://schemas.openxmlformats.org/drawingml/2006/main" xmlns:r="http://schemas.openxmlformats.org/officeDocument/2006/relationships">
  <p:cSld>
    <p:bg>
      <p:bgPr>
        <a:solidFill>
          <a:srgbClr val="C7D3FF"/>
        </a:solidFill>
      </p:bgPr>
    </p:bg>
    <p:spTree>
      <p:nvGrpSpPr>
        <p:cNvPr id="1" name=""/>
        <p:cNvGrpSpPr/>
        <p:nvPr/>
      </p:nvGrpSpPr>
      <p:grpSpPr>
        <a:xfrm>
          <a:off x="0" y="0"/>
          <a:ext cx="0" cy="0"/>
          <a:chOff x="0" y="0"/>
          <a:chExt cx="0" cy="0"/>
        </a:xfrm>
      </p:grpSpPr>
      <p:grpSp>
        <p:nvGrpSpPr>
          <p:cNvPr name="Group 2" id="2"/>
          <p:cNvGrpSpPr/>
          <p:nvPr/>
        </p:nvGrpSpPr>
        <p:grpSpPr>
          <a:xfrm rot="0">
            <a:off x="-217699" y="525326"/>
            <a:ext cx="17904046" cy="1338906"/>
            <a:chOff x="0" y="0"/>
            <a:chExt cx="4715469" cy="352634"/>
          </a:xfrm>
        </p:grpSpPr>
        <p:sp>
          <p:nvSpPr>
            <p:cNvPr name="Freeform 3" id="3"/>
            <p:cNvSpPr/>
            <p:nvPr/>
          </p:nvSpPr>
          <p:spPr>
            <a:xfrm flipH="false" flipV="false" rot="0">
              <a:off x="0" y="0"/>
              <a:ext cx="4715469" cy="352634"/>
            </a:xfrm>
            <a:custGeom>
              <a:avLst/>
              <a:gdLst/>
              <a:ahLst/>
              <a:cxnLst/>
              <a:rect r="r" b="b" t="t" l="l"/>
              <a:pathLst>
                <a:path h="352634" w="4715469">
                  <a:moveTo>
                    <a:pt x="0" y="0"/>
                  </a:moveTo>
                  <a:lnTo>
                    <a:pt x="4715469" y="0"/>
                  </a:lnTo>
                  <a:lnTo>
                    <a:pt x="4715469" y="352634"/>
                  </a:lnTo>
                  <a:lnTo>
                    <a:pt x="0" y="352634"/>
                  </a:lnTo>
                  <a:close/>
                </a:path>
              </a:pathLst>
            </a:custGeom>
            <a:solidFill>
              <a:srgbClr val="1022B1"/>
            </a:solidFill>
          </p:spPr>
        </p:sp>
        <p:sp>
          <p:nvSpPr>
            <p:cNvPr name="TextBox 4" id="4"/>
            <p:cNvSpPr txBox="true"/>
            <p:nvPr/>
          </p:nvSpPr>
          <p:spPr>
            <a:xfrm>
              <a:off x="0" y="-85725"/>
              <a:ext cx="4715469" cy="438359"/>
            </a:xfrm>
            <a:prstGeom prst="rect">
              <a:avLst/>
            </a:prstGeom>
          </p:spPr>
          <p:txBody>
            <a:bodyPr anchor="ctr" rtlCol="false" tIns="50800" lIns="50800" bIns="50800" rIns="50800"/>
            <a:lstStyle/>
            <a:p>
              <a:pPr algn="ctr">
                <a:lnSpc>
                  <a:spcPts val="2659"/>
                </a:lnSpc>
              </a:pPr>
            </a:p>
          </p:txBody>
        </p:sp>
      </p:grpSp>
      <p:grpSp>
        <p:nvGrpSpPr>
          <p:cNvPr name="Group 5" id="5"/>
          <p:cNvGrpSpPr/>
          <p:nvPr/>
        </p:nvGrpSpPr>
        <p:grpSpPr>
          <a:xfrm rot="0">
            <a:off x="15958661" y="-1019379"/>
            <a:ext cx="3853113" cy="3853113"/>
            <a:chOff x="0" y="0"/>
            <a:chExt cx="812800" cy="812800"/>
          </a:xfrm>
        </p:grpSpPr>
        <p:sp>
          <p:nvSpPr>
            <p:cNvPr name="Freeform 6" id="6"/>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F28EC"/>
            </a:solidFill>
          </p:spPr>
        </p:sp>
        <p:sp>
          <p:nvSpPr>
            <p:cNvPr name="TextBox 7" id="7"/>
            <p:cNvSpPr txBox="true"/>
            <p:nvPr/>
          </p:nvSpPr>
          <p:spPr>
            <a:xfrm>
              <a:off x="76200" y="38100"/>
              <a:ext cx="660400" cy="698500"/>
            </a:xfrm>
            <a:prstGeom prst="rect">
              <a:avLst/>
            </a:prstGeom>
          </p:spPr>
          <p:txBody>
            <a:bodyPr anchor="ctr" rtlCol="false" tIns="50800" lIns="50800" bIns="50800" rIns="50800"/>
            <a:lstStyle/>
            <a:p>
              <a:pPr algn="ctr">
                <a:lnSpc>
                  <a:spcPts val="2659"/>
                </a:lnSpc>
                <a:spcBef>
                  <a:spcPct val="0"/>
                </a:spcBef>
              </a:pPr>
            </a:p>
          </p:txBody>
        </p:sp>
      </p:grpSp>
      <p:sp>
        <p:nvSpPr>
          <p:cNvPr name="Freeform 8" id="8"/>
          <p:cNvSpPr/>
          <p:nvPr/>
        </p:nvSpPr>
        <p:spPr>
          <a:xfrm flipH="false" flipV="false" rot="0">
            <a:off x="17259300" y="1052847"/>
            <a:ext cx="427047" cy="427047"/>
          </a:xfrm>
          <a:custGeom>
            <a:avLst/>
            <a:gdLst/>
            <a:ahLst/>
            <a:cxnLst/>
            <a:rect r="r" b="b" t="t" l="l"/>
            <a:pathLst>
              <a:path h="427047" w="427047">
                <a:moveTo>
                  <a:pt x="0" y="0"/>
                </a:moveTo>
                <a:lnTo>
                  <a:pt x="427047" y="0"/>
                </a:lnTo>
                <a:lnTo>
                  <a:pt x="427047" y="427047"/>
                </a:lnTo>
                <a:lnTo>
                  <a:pt x="0" y="427047"/>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9" id="9"/>
          <p:cNvGrpSpPr/>
          <p:nvPr/>
        </p:nvGrpSpPr>
        <p:grpSpPr>
          <a:xfrm rot="0">
            <a:off x="17509719" y="9508719"/>
            <a:ext cx="778281" cy="778281"/>
            <a:chOff x="0" y="0"/>
            <a:chExt cx="204979" cy="204979"/>
          </a:xfrm>
        </p:grpSpPr>
        <p:sp>
          <p:nvSpPr>
            <p:cNvPr name="Freeform 10" id="10"/>
            <p:cNvSpPr/>
            <p:nvPr/>
          </p:nvSpPr>
          <p:spPr>
            <a:xfrm flipH="false" flipV="false" rot="0">
              <a:off x="0" y="0"/>
              <a:ext cx="204979" cy="204979"/>
            </a:xfrm>
            <a:custGeom>
              <a:avLst/>
              <a:gdLst/>
              <a:ahLst/>
              <a:cxnLst/>
              <a:rect r="r" b="b" t="t" l="l"/>
              <a:pathLst>
                <a:path h="204979" w="204979">
                  <a:moveTo>
                    <a:pt x="0" y="0"/>
                  </a:moveTo>
                  <a:lnTo>
                    <a:pt x="204979" y="0"/>
                  </a:lnTo>
                  <a:lnTo>
                    <a:pt x="204979" y="204979"/>
                  </a:lnTo>
                  <a:lnTo>
                    <a:pt x="0" y="204979"/>
                  </a:lnTo>
                  <a:close/>
                </a:path>
              </a:pathLst>
            </a:custGeom>
            <a:solidFill>
              <a:srgbClr val="0F28EC"/>
            </a:solidFill>
          </p:spPr>
        </p:sp>
        <p:sp>
          <p:nvSpPr>
            <p:cNvPr name="TextBox 11" id="11"/>
            <p:cNvSpPr txBox="true"/>
            <p:nvPr/>
          </p:nvSpPr>
          <p:spPr>
            <a:xfrm>
              <a:off x="0" y="-85725"/>
              <a:ext cx="204979" cy="290704"/>
            </a:xfrm>
            <a:prstGeom prst="rect">
              <a:avLst/>
            </a:prstGeom>
          </p:spPr>
          <p:txBody>
            <a:bodyPr anchor="ctr" rtlCol="false" tIns="50800" lIns="50800" bIns="50800" rIns="50800"/>
            <a:lstStyle/>
            <a:p>
              <a:pPr algn="ctr">
                <a:lnSpc>
                  <a:spcPts val="2659"/>
                </a:lnSpc>
              </a:pPr>
            </a:p>
          </p:txBody>
        </p:sp>
      </p:grpSp>
      <p:sp>
        <p:nvSpPr>
          <p:cNvPr name="TextBox 12" id="12"/>
          <p:cNvSpPr txBox="true"/>
          <p:nvPr/>
        </p:nvSpPr>
        <p:spPr>
          <a:xfrm rot="0">
            <a:off x="17736317" y="9669577"/>
            <a:ext cx="382236" cy="370840"/>
          </a:xfrm>
          <a:prstGeom prst="rect">
            <a:avLst/>
          </a:prstGeom>
        </p:spPr>
        <p:txBody>
          <a:bodyPr anchor="t" rtlCol="false" tIns="0" lIns="0" bIns="0" rIns="0">
            <a:spAutoFit/>
          </a:bodyPr>
          <a:lstStyle/>
          <a:p>
            <a:pPr algn="l">
              <a:lnSpc>
                <a:spcPts val="2659"/>
              </a:lnSpc>
              <a:spcBef>
                <a:spcPct val="0"/>
              </a:spcBef>
            </a:pPr>
            <a:r>
              <a:rPr lang="en-US" b="true" sz="1899">
                <a:solidFill>
                  <a:srgbClr val="FFFFFF"/>
                </a:solidFill>
                <a:latin typeface="Agrandir Bold"/>
                <a:ea typeface="Agrandir Bold"/>
                <a:cs typeface="Agrandir Bold"/>
                <a:sym typeface="Agrandir Bold"/>
              </a:rPr>
              <a:t>05</a:t>
            </a:r>
          </a:p>
        </p:txBody>
      </p:sp>
      <p:sp>
        <p:nvSpPr>
          <p:cNvPr name="TextBox 13" id="13"/>
          <p:cNvSpPr txBox="true"/>
          <p:nvPr/>
        </p:nvSpPr>
        <p:spPr>
          <a:xfrm rot="0">
            <a:off x="561398" y="397611"/>
            <a:ext cx="10951639" cy="1350274"/>
          </a:xfrm>
          <a:prstGeom prst="rect">
            <a:avLst/>
          </a:prstGeom>
        </p:spPr>
        <p:txBody>
          <a:bodyPr anchor="t" rtlCol="false" tIns="0" lIns="0" bIns="0" rIns="0">
            <a:spAutoFit/>
          </a:bodyPr>
          <a:lstStyle/>
          <a:p>
            <a:pPr algn="l">
              <a:lnSpc>
                <a:spcPts val="9575"/>
              </a:lnSpc>
              <a:spcBef>
                <a:spcPct val="0"/>
              </a:spcBef>
            </a:pPr>
            <a:r>
              <a:rPr lang="en-US" b="true" sz="6839">
                <a:solidFill>
                  <a:srgbClr val="FFFFFF"/>
                </a:solidFill>
                <a:latin typeface="Agrandir Bold"/>
                <a:ea typeface="Agrandir Bold"/>
                <a:cs typeface="Agrandir Bold"/>
                <a:sym typeface="Agrandir Bold"/>
              </a:rPr>
              <a:t>3. Cơ sở khoa học</a:t>
            </a:r>
          </a:p>
        </p:txBody>
      </p:sp>
      <p:grpSp>
        <p:nvGrpSpPr>
          <p:cNvPr name="Group 14" id="14"/>
          <p:cNvGrpSpPr/>
          <p:nvPr/>
        </p:nvGrpSpPr>
        <p:grpSpPr>
          <a:xfrm rot="0">
            <a:off x="2660172" y="4612831"/>
            <a:ext cx="12967655" cy="1042670"/>
            <a:chOff x="0" y="0"/>
            <a:chExt cx="17290207" cy="1390227"/>
          </a:xfrm>
        </p:grpSpPr>
        <p:sp>
          <p:nvSpPr>
            <p:cNvPr name="TextBox 15" id="15"/>
            <p:cNvSpPr txBox="true"/>
            <p:nvPr/>
          </p:nvSpPr>
          <p:spPr>
            <a:xfrm rot="0">
              <a:off x="1628452" y="-142875"/>
              <a:ext cx="15661755" cy="1533102"/>
            </a:xfrm>
            <a:prstGeom prst="rect">
              <a:avLst/>
            </a:prstGeom>
          </p:spPr>
          <p:txBody>
            <a:bodyPr anchor="t" rtlCol="false" tIns="0" lIns="0" bIns="0" rIns="0">
              <a:spAutoFit/>
            </a:bodyPr>
            <a:lstStyle/>
            <a:p>
              <a:pPr algn="just">
                <a:lnSpc>
                  <a:spcPts val="4480"/>
                </a:lnSpc>
                <a:spcBef>
                  <a:spcPct val="0"/>
                </a:spcBef>
              </a:pPr>
              <a:r>
                <a:rPr lang="en-US" sz="3200">
                  <a:solidFill>
                    <a:srgbClr val="000000"/>
                  </a:solidFill>
                  <a:latin typeface="Agrandir"/>
                  <a:ea typeface="Agrandir"/>
                  <a:cs typeface="Agrandir"/>
                  <a:sym typeface="Agrandir"/>
                </a:rPr>
                <a:t>Bộ nhớ của con người có hạn, nếu có quá nhiều thông tin cùng lúc thì người học sẽ bị quá tải và giảm hiệu quả học tập</a:t>
              </a:r>
            </a:p>
          </p:txBody>
        </p:sp>
        <p:sp>
          <p:nvSpPr>
            <p:cNvPr name="Freeform 16" id="16"/>
            <p:cNvSpPr/>
            <p:nvPr/>
          </p:nvSpPr>
          <p:spPr>
            <a:xfrm flipH="false" flipV="false" rot="0">
              <a:off x="0" y="276224"/>
              <a:ext cx="1094484" cy="837778"/>
            </a:xfrm>
            <a:custGeom>
              <a:avLst/>
              <a:gdLst/>
              <a:ahLst/>
              <a:cxnLst/>
              <a:rect r="r" b="b" t="t" l="l"/>
              <a:pathLst>
                <a:path h="837778" w="1094484">
                  <a:moveTo>
                    <a:pt x="0" y="0"/>
                  </a:moveTo>
                  <a:lnTo>
                    <a:pt x="1094484" y="0"/>
                  </a:lnTo>
                  <a:lnTo>
                    <a:pt x="1094484" y="837778"/>
                  </a:lnTo>
                  <a:lnTo>
                    <a:pt x="0" y="837778"/>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grpSp>
      <p:sp>
        <p:nvSpPr>
          <p:cNvPr name="TextBox 17" id="17"/>
          <p:cNvSpPr txBox="true"/>
          <p:nvPr/>
        </p:nvSpPr>
        <p:spPr>
          <a:xfrm rot="0">
            <a:off x="4322139" y="2719632"/>
            <a:ext cx="9643722" cy="1350274"/>
          </a:xfrm>
          <a:prstGeom prst="rect">
            <a:avLst/>
          </a:prstGeom>
        </p:spPr>
        <p:txBody>
          <a:bodyPr anchor="t" rtlCol="false" tIns="0" lIns="0" bIns="0" rIns="0">
            <a:spAutoFit/>
          </a:bodyPr>
          <a:lstStyle/>
          <a:p>
            <a:pPr algn="l">
              <a:lnSpc>
                <a:spcPts val="9575"/>
              </a:lnSpc>
              <a:spcBef>
                <a:spcPct val="0"/>
              </a:spcBef>
            </a:pPr>
            <a:r>
              <a:rPr lang="en-US" b="true" sz="6839">
                <a:solidFill>
                  <a:srgbClr val="0F28EC"/>
                </a:solidFill>
                <a:latin typeface="Agrandir Bold"/>
                <a:ea typeface="Agrandir Bold"/>
                <a:cs typeface="Agrandir Bold"/>
                <a:sym typeface="Agrandir Bold"/>
              </a:rPr>
              <a:t>Cognitive Load Theory</a:t>
            </a:r>
          </a:p>
        </p:txBody>
      </p:sp>
      <p:grpSp>
        <p:nvGrpSpPr>
          <p:cNvPr name="Group 18" id="18"/>
          <p:cNvGrpSpPr/>
          <p:nvPr/>
        </p:nvGrpSpPr>
        <p:grpSpPr>
          <a:xfrm rot="0">
            <a:off x="2660172" y="6196918"/>
            <a:ext cx="12967655" cy="1042670"/>
            <a:chOff x="0" y="0"/>
            <a:chExt cx="17290207" cy="1390227"/>
          </a:xfrm>
        </p:grpSpPr>
        <p:sp>
          <p:nvSpPr>
            <p:cNvPr name="TextBox 19" id="19"/>
            <p:cNvSpPr txBox="true"/>
            <p:nvPr/>
          </p:nvSpPr>
          <p:spPr>
            <a:xfrm rot="0">
              <a:off x="1648564" y="-142875"/>
              <a:ext cx="15641643" cy="1533102"/>
            </a:xfrm>
            <a:prstGeom prst="rect">
              <a:avLst/>
            </a:prstGeom>
          </p:spPr>
          <p:txBody>
            <a:bodyPr anchor="t" rtlCol="false" tIns="0" lIns="0" bIns="0" rIns="0">
              <a:spAutoFit/>
            </a:bodyPr>
            <a:lstStyle/>
            <a:p>
              <a:pPr algn="just">
                <a:lnSpc>
                  <a:spcPts val="4480"/>
                </a:lnSpc>
                <a:spcBef>
                  <a:spcPct val="0"/>
                </a:spcBef>
              </a:pPr>
              <a:r>
                <a:rPr lang="en-US" sz="3200">
                  <a:solidFill>
                    <a:srgbClr val="000000"/>
                  </a:solidFill>
                  <a:latin typeface="Agrandir"/>
                  <a:ea typeface="Agrandir"/>
                  <a:cs typeface="Agrandir"/>
                  <a:sym typeface="Agrandir"/>
                </a:rPr>
                <a:t>Không nên hiển thị nhiều video, nhiều nút chức năng, nhiều đoạn văn bản dài trên cùng một màn hình</a:t>
              </a:r>
            </a:p>
          </p:txBody>
        </p:sp>
        <p:sp>
          <p:nvSpPr>
            <p:cNvPr name="Freeform 20" id="20"/>
            <p:cNvSpPr/>
            <p:nvPr/>
          </p:nvSpPr>
          <p:spPr>
            <a:xfrm flipH="false" flipV="false" rot="0">
              <a:off x="0" y="276224"/>
              <a:ext cx="1094484" cy="837778"/>
            </a:xfrm>
            <a:custGeom>
              <a:avLst/>
              <a:gdLst/>
              <a:ahLst/>
              <a:cxnLst/>
              <a:rect r="r" b="b" t="t" l="l"/>
              <a:pathLst>
                <a:path h="837778" w="1094484">
                  <a:moveTo>
                    <a:pt x="0" y="0"/>
                  </a:moveTo>
                  <a:lnTo>
                    <a:pt x="1094484" y="0"/>
                  </a:lnTo>
                  <a:lnTo>
                    <a:pt x="1094484" y="837778"/>
                  </a:lnTo>
                  <a:lnTo>
                    <a:pt x="0" y="837778"/>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grpSp>
      <p:grpSp>
        <p:nvGrpSpPr>
          <p:cNvPr name="Group 21" id="21"/>
          <p:cNvGrpSpPr/>
          <p:nvPr/>
        </p:nvGrpSpPr>
        <p:grpSpPr>
          <a:xfrm rot="0">
            <a:off x="2660172" y="7782513"/>
            <a:ext cx="12967655" cy="1042670"/>
            <a:chOff x="0" y="0"/>
            <a:chExt cx="17290207" cy="1390227"/>
          </a:xfrm>
        </p:grpSpPr>
        <p:sp>
          <p:nvSpPr>
            <p:cNvPr name="TextBox 22" id="22"/>
            <p:cNvSpPr txBox="true"/>
            <p:nvPr/>
          </p:nvSpPr>
          <p:spPr>
            <a:xfrm rot="0">
              <a:off x="1648564" y="-142875"/>
              <a:ext cx="15641643" cy="1533102"/>
            </a:xfrm>
            <a:prstGeom prst="rect">
              <a:avLst/>
            </a:prstGeom>
          </p:spPr>
          <p:txBody>
            <a:bodyPr anchor="t" rtlCol="false" tIns="0" lIns="0" bIns="0" rIns="0">
              <a:spAutoFit/>
            </a:bodyPr>
            <a:lstStyle/>
            <a:p>
              <a:pPr algn="just">
                <a:lnSpc>
                  <a:spcPts val="4480"/>
                </a:lnSpc>
                <a:spcBef>
                  <a:spcPct val="0"/>
                </a:spcBef>
              </a:pPr>
              <a:r>
                <a:rPr lang="en-US" sz="3200">
                  <a:solidFill>
                    <a:srgbClr val="000000"/>
                  </a:solidFill>
                  <a:latin typeface="Agrandir"/>
                  <a:ea typeface="Agrandir"/>
                  <a:cs typeface="Agrandir"/>
                  <a:sym typeface="Agrandir"/>
                </a:rPr>
                <a:t>Mỗi màn hình nên hiển thị một từ vựng, một ký hiệu và một nhiệm vụ học tập</a:t>
              </a:r>
            </a:p>
          </p:txBody>
        </p:sp>
        <p:sp>
          <p:nvSpPr>
            <p:cNvPr name="Freeform 23" id="23"/>
            <p:cNvSpPr/>
            <p:nvPr/>
          </p:nvSpPr>
          <p:spPr>
            <a:xfrm flipH="false" flipV="false" rot="0">
              <a:off x="0" y="276224"/>
              <a:ext cx="1094484" cy="837778"/>
            </a:xfrm>
            <a:custGeom>
              <a:avLst/>
              <a:gdLst/>
              <a:ahLst/>
              <a:cxnLst/>
              <a:rect r="r" b="b" t="t" l="l"/>
              <a:pathLst>
                <a:path h="837778" w="1094484">
                  <a:moveTo>
                    <a:pt x="0" y="0"/>
                  </a:moveTo>
                  <a:lnTo>
                    <a:pt x="1094484" y="0"/>
                  </a:lnTo>
                  <a:lnTo>
                    <a:pt x="1094484" y="837778"/>
                  </a:lnTo>
                  <a:lnTo>
                    <a:pt x="0" y="837778"/>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grpSp>
    </p:spTree>
  </p:cSld>
  <p:clrMapOvr>
    <a:masterClrMapping/>
  </p:clrMapOvr>
</p:sld>
</file>

<file path=ppt/slides/slide15.xml><?xml version="1.0" encoding="utf-8"?>
<p:sld xmlns:p="http://schemas.openxmlformats.org/presentationml/2006/main" xmlns:a="http://schemas.openxmlformats.org/drawingml/2006/main" xmlns:r="http://schemas.openxmlformats.org/officeDocument/2006/relationships">
  <p:cSld>
    <p:bg>
      <p:bgPr>
        <a:solidFill>
          <a:srgbClr val="C7D3FF"/>
        </a:solidFill>
      </p:bgPr>
    </p:bg>
    <p:spTree>
      <p:nvGrpSpPr>
        <p:cNvPr id="1" name=""/>
        <p:cNvGrpSpPr/>
        <p:nvPr/>
      </p:nvGrpSpPr>
      <p:grpSpPr>
        <a:xfrm>
          <a:off x="0" y="0"/>
          <a:ext cx="0" cy="0"/>
          <a:chOff x="0" y="0"/>
          <a:chExt cx="0" cy="0"/>
        </a:xfrm>
      </p:grpSpPr>
      <p:grpSp>
        <p:nvGrpSpPr>
          <p:cNvPr name="Group 2" id="2"/>
          <p:cNvGrpSpPr/>
          <p:nvPr/>
        </p:nvGrpSpPr>
        <p:grpSpPr>
          <a:xfrm rot="0">
            <a:off x="-217699" y="525326"/>
            <a:ext cx="17904046" cy="1338906"/>
            <a:chOff x="0" y="0"/>
            <a:chExt cx="4715469" cy="352634"/>
          </a:xfrm>
        </p:grpSpPr>
        <p:sp>
          <p:nvSpPr>
            <p:cNvPr name="Freeform 3" id="3"/>
            <p:cNvSpPr/>
            <p:nvPr/>
          </p:nvSpPr>
          <p:spPr>
            <a:xfrm flipH="false" flipV="false" rot="0">
              <a:off x="0" y="0"/>
              <a:ext cx="4715469" cy="352634"/>
            </a:xfrm>
            <a:custGeom>
              <a:avLst/>
              <a:gdLst/>
              <a:ahLst/>
              <a:cxnLst/>
              <a:rect r="r" b="b" t="t" l="l"/>
              <a:pathLst>
                <a:path h="352634" w="4715469">
                  <a:moveTo>
                    <a:pt x="0" y="0"/>
                  </a:moveTo>
                  <a:lnTo>
                    <a:pt x="4715469" y="0"/>
                  </a:lnTo>
                  <a:lnTo>
                    <a:pt x="4715469" y="352634"/>
                  </a:lnTo>
                  <a:lnTo>
                    <a:pt x="0" y="352634"/>
                  </a:lnTo>
                  <a:close/>
                </a:path>
              </a:pathLst>
            </a:custGeom>
            <a:solidFill>
              <a:srgbClr val="1022B1"/>
            </a:solidFill>
          </p:spPr>
        </p:sp>
        <p:sp>
          <p:nvSpPr>
            <p:cNvPr name="TextBox 4" id="4"/>
            <p:cNvSpPr txBox="true"/>
            <p:nvPr/>
          </p:nvSpPr>
          <p:spPr>
            <a:xfrm>
              <a:off x="0" y="-85725"/>
              <a:ext cx="4715469" cy="438359"/>
            </a:xfrm>
            <a:prstGeom prst="rect">
              <a:avLst/>
            </a:prstGeom>
          </p:spPr>
          <p:txBody>
            <a:bodyPr anchor="ctr" rtlCol="false" tIns="50800" lIns="50800" bIns="50800" rIns="50800"/>
            <a:lstStyle/>
            <a:p>
              <a:pPr algn="ctr">
                <a:lnSpc>
                  <a:spcPts val="2659"/>
                </a:lnSpc>
              </a:pPr>
            </a:p>
          </p:txBody>
        </p:sp>
      </p:grpSp>
      <p:grpSp>
        <p:nvGrpSpPr>
          <p:cNvPr name="Group 5" id="5"/>
          <p:cNvGrpSpPr/>
          <p:nvPr/>
        </p:nvGrpSpPr>
        <p:grpSpPr>
          <a:xfrm rot="0">
            <a:off x="15958661" y="-1019379"/>
            <a:ext cx="3853113" cy="3853113"/>
            <a:chOff x="0" y="0"/>
            <a:chExt cx="812800" cy="812800"/>
          </a:xfrm>
        </p:grpSpPr>
        <p:sp>
          <p:nvSpPr>
            <p:cNvPr name="Freeform 6" id="6"/>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F28EC"/>
            </a:solidFill>
          </p:spPr>
        </p:sp>
        <p:sp>
          <p:nvSpPr>
            <p:cNvPr name="TextBox 7" id="7"/>
            <p:cNvSpPr txBox="true"/>
            <p:nvPr/>
          </p:nvSpPr>
          <p:spPr>
            <a:xfrm>
              <a:off x="76200" y="38100"/>
              <a:ext cx="660400" cy="698500"/>
            </a:xfrm>
            <a:prstGeom prst="rect">
              <a:avLst/>
            </a:prstGeom>
          </p:spPr>
          <p:txBody>
            <a:bodyPr anchor="ctr" rtlCol="false" tIns="50800" lIns="50800" bIns="50800" rIns="50800"/>
            <a:lstStyle/>
            <a:p>
              <a:pPr algn="ctr">
                <a:lnSpc>
                  <a:spcPts val="2659"/>
                </a:lnSpc>
                <a:spcBef>
                  <a:spcPct val="0"/>
                </a:spcBef>
              </a:pPr>
            </a:p>
          </p:txBody>
        </p:sp>
      </p:grpSp>
      <p:sp>
        <p:nvSpPr>
          <p:cNvPr name="Freeform 8" id="8"/>
          <p:cNvSpPr/>
          <p:nvPr/>
        </p:nvSpPr>
        <p:spPr>
          <a:xfrm flipH="false" flipV="false" rot="0">
            <a:off x="17259300" y="1052847"/>
            <a:ext cx="427047" cy="427047"/>
          </a:xfrm>
          <a:custGeom>
            <a:avLst/>
            <a:gdLst/>
            <a:ahLst/>
            <a:cxnLst/>
            <a:rect r="r" b="b" t="t" l="l"/>
            <a:pathLst>
              <a:path h="427047" w="427047">
                <a:moveTo>
                  <a:pt x="0" y="0"/>
                </a:moveTo>
                <a:lnTo>
                  <a:pt x="427047" y="0"/>
                </a:lnTo>
                <a:lnTo>
                  <a:pt x="427047" y="427047"/>
                </a:lnTo>
                <a:lnTo>
                  <a:pt x="0" y="427047"/>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9" id="9"/>
          <p:cNvGrpSpPr/>
          <p:nvPr/>
        </p:nvGrpSpPr>
        <p:grpSpPr>
          <a:xfrm rot="0">
            <a:off x="17509719" y="9508719"/>
            <a:ext cx="778281" cy="778281"/>
            <a:chOff x="0" y="0"/>
            <a:chExt cx="204979" cy="204979"/>
          </a:xfrm>
        </p:grpSpPr>
        <p:sp>
          <p:nvSpPr>
            <p:cNvPr name="Freeform 10" id="10"/>
            <p:cNvSpPr/>
            <p:nvPr/>
          </p:nvSpPr>
          <p:spPr>
            <a:xfrm flipH="false" flipV="false" rot="0">
              <a:off x="0" y="0"/>
              <a:ext cx="204979" cy="204979"/>
            </a:xfrm>
            <a:custGeom>
              <a:avLst/>
              <a:gdLst/>
              <a:ahLst/>
              <a:cxnLst/>
              <a:rect r="r" b="b" t="t" l="l"/>
              <a:pathLst>
                <a:path h="204979" w="204979">
                  <a:moveTo>
                    <a:pt x="0" y="0"/>
                  </a:moveTo>
                  <a:lnTo>
                    <a:pt x="204979" y="0"/>
                  </a:lnTo>
                  <a:lnTo>
                    <a:pt x="204979" y="204979"/>
                  </a:lnTo>
                  <a:lnTo>
                    <a:pt x="0" y="204979"/>
                  </a:lnTo>
                  <a:close/>
                </a:path>
              </a:pathLst>
            </a:custGeom>
            <a:solidFill>
              <a:srgbClr val="0F28EC"/>
            </a:solidFill>
          </p:spPr>
        </p:sp>
        <p:sp>
          <p:nvSpPr>
            <p:cNvPr name="TextBox 11" id="11"/>
            <p:cNvSpPr txBox="true"/>
            <p:nvPr/>
          </p:nvSpPr>
          <p:spPr>
            <a:xfrm>
              <a:off x="0" y="-85725"/>
              <a:ext cx="204979" cy="290704"/>
            </a:xfrm>
            <a:prstGeom prst="rect">
              <a:avLst/>
            </a:prstGeom>
          </p:spPr>
          <p:txBody>
            <a:bodyPr anchor="ctr" rtlCol="false" tIns="50800" lIns="50800" bIns="50800" rIns="50800"/>
            <a:lstStyle/>
            <a:p>
              <a:pPr algn="ctr">
                <a:lnSpc>
                  <a:spcPts val="2659"/>
                </a:lnSpc>
              </a:pPr>
            </a:p>
          </p:txBody>
        </p:sp>
      </p:grpSp>
      <p:sp>
        <p:nvSpPr>
          <p:cNvPr name="TextBox 12" id="12"/>
          <p:cNvSpPr txBox="true"/>
          <p:nvPr/>
        </p:nvSpPr>
        <p:spPr>
          <a:xfrm rot="0">
            <a:off x="17736317" y="9669577"/>
            <a:ext cx="382236" cy="370840"/>
          </a:xfrm>
          <a:prstGeom prst="rect">
            <a:avLst/>
          </a:prstGeom>
        </p:spPr>
        <p:txBody>
          <a:bodyPr anchor="t" rtlCol="false" tIns="0" lIns="0" bIns="0" rIns="0">
            <a:spAutoFit/>
          </a:bodyPr>
          <a:lstStyle/>
          <a:p>
            <a:pPr algn="l">
              <a:lnSpc>
                <a:spcPts val="2659"/>
              </a:lnSpc>
              <a:spcBef>
                <a:spcPct val="0"/>
              </a:spcBef>
            </a:pPr>
            <a:r>
              <a:rPr lang="en-US" b="true" sz="1899">
                <a:solidFill>
                  <a:srgbClr val="FFFFFF"/>
                </a:solidFill>
                <a:latin typeface="Agrandir Bold"/>
                <a:ea typeface="Agrandir Bold"/>
                <a:cs typeface="Agrandir Bold"/>
                <a:sym typeface="Agrandir Bold"/>
              </a:rPr>
              <a:t>05</a:t>
            </a:r>
          </a:p>
        </p:txBody>
      </p:sp>
      <p:sp>
        <p:nvSpPr>
          <p:cNvPr name="TextBox 13" id="13"/>
          <p:cNvSpPr txBox="true"/>
          <p:nvPr/>
        </p:nvSpPr>
        <p:spPr>
          <a:xfrm rot="0">
            <a:off x="561398" y="397611"/>
            <a:ext cx="10951639" cy="1350274"/>
          </a:xfrm>
          <a:prstGeom prst="rect">
            <a:avLst/>
          </a:prstGeom>
        </p:spPr>
        <p:txBody>
          <a:bodyPr anchor="t" rtlCol="false" tIns="0" lIns="0" bIns="0" rIns="0">
            <a:spAutoFit/>
          </a:bodyPr>
          <a:lstStyle/>
          <a:p>
            <a:pPr algn="l">
              <a:lnSpc>
                <a:spcPts val="9575"/>
              </a:lnSpc>
              <a:spcBef>
                <a:spcPct val="0"/>
              </a:spcBef>
            </a:pPr>
            <a:r>
              <a:rPr lang="en-US" b="true" sz="6839">
                <a:solidFill>
                  <a:srgbClr val="FFFFFF"/>
                </a:solidFill>
                <a:latin typeface="Agrandir Bold"/>
                <a:ea typeface="Agrandir Bold"/>
                <a:cs typeface="Agrandir Bold"/>
                <a:sym typeface="Agrandir Bold"/>
              </a:rPr>
              <a:t>3. Cơ sở khoa học</a:t>
            </a:r>
          </a:p>
        </p:txBody>
      </p:sp>
      <p:grpSp>
        <p:nvGrpSpPr>
          <p:cNvPr name="Group 14" id="14"/>
          <p:cNvGrpSpPr/>
          <p:nvPr/>
        </p:nvGrpSpPr>
        <p:grpSpPr>
          <a:xfrm rot="0">
            <a:off x="2660172" y="4612831"/>
            <a:ext cx="12967655" cy="1042670"/>
            <a:chOff x="0" y="0"/>
            <a:chExt cx="17290207" cy="1390227"/>
          </a:xfrm>
        </p:grpSpPr>
        <p:sp>
          <p:nvSpPr>
            <p:cNvPr name="TextBox 15" id="15"/>
            <p:cNvSpPr txBox="true"/>
            <p:nvPr/>
          </p:nvSpPr>
          <p:spPr>
            <a:xfrm rot="0">
              <a:off x="1628452" y="-142875"/>
              <a:ext cx="15661755" cy="1533102"/>
            </a:xfrm>
            <a:prstGeom prst="rect">
              <a:avLst/>
            </a:prstGeom>
          </p:spPr>
          <p:txBody>
            <a:bodyPr anchor="t" rtlCol="false" tIns="0" lIns="0" bIns="0" rIns="0">
              <a:spAutoFit/>
            </a:bodyPr>
            <a:lstStyle/>
            <a:p>
              <a:pPr algn="just">
                <a:lnSpc>
                  <a:spcPts val="4480"/>
                </a:lnSpc>
                <a:spcBef>
                  <a:spcPct val="0"/>
                </a:spcBef>
              </a:pPr>
              <a:r>
                <a:rPr lang="en-US" sz="3200">
                  <a:solidFill>
                    <a:srgbClr val="000000"/>
                  </a:solidFill>
                  <a:latin typeface="Agrandir"/>
                  <a:ea typeface="Agrandir"/>
                  <a:cs typeface="Agrandir"/>
                  <a:sym typeface="Agrandir"/>
                </a:rPr>
                <a:t>Người học tiến bộ nhanh hơn khi nhận được phản hồi ngay sau hành động</a:t>
              </a:r>
            </a:p>
          </p:txBody>
        </p:sp>
        <p:sp>
          <p:nvSpPr>
            <p:cNvPr name="Freeform 16" id="16"/>
            <p:cNvSpPr/>
            <p:nvPr/>
          </p:nvSpPr>
          <p:spPr>
            <a:xfrm flipH="false" flipV="false" rot="0">
              <a:off x="0" y="276224"/>
              <a:ext cx="1094484" cy="837778"/>
            </a:xfrm>
            <a:custGeom>
              <a:avLst/>
              <a:gdLst/>
              <a:ahLst/>
              <a:cxnLst/>
              <a:rect r="r" b="b" t="t" l="l"/>
              <a:pathLst>
                <a:path h="837778" w="1094484">
                  <a:moveTo>
                    <a:pt x="0" y="0"/>
                  </a:moveTo>
                  <a:lnTo>
                    <a:pt x="1094484" y="0"/>
                  </a:lnTo>
                  <a:lnTo>
                    <a:pt x="1094484" y="837778"/>
                  </a:lnTo>
                  <a:lnTo>
                    <a:pt x="0" y="837778"/>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grpSp>
      <p:sp>
        <p:nvSpPr>
          <p:cNvPr name="TextBox 17" id="17"/>
          <p:cNvSpPr txBox="true"/>
          <p:nvPr/>
        </p:nvSpPr>
        <p:spPr>
          <a:xfrm rot="0">
            <a:off x="5129115" y="2824407"/>
            <a:ext cx="8029770" cy="1350274"/>
          </a:xfrm>
          <a:prstGeom prst="rect">
            <a:avLst/>
          </a:prstGeom>
        </p:spPr>
        <p:txBody>
          <a:bodyPr anchor="t" rtlCol="false" tIns="0" lIns="0" bIns="0" rIns="0">
            <a:spAutoFit/>
          </a:bodyPr>
          <a:lstStyle/>
          <a:p>
            <a:pPr algn="l">
              <a:lnSpc>
                <a:spcPts val="9575"/>
              </a:lnSpc>
              <a:spcBef>
                <a:spcPct val="0"/>
              </a:spcBef>
            </a:pPr>
            <a:r>
              <a:rPr lang="en-US" b="true" sz="6839">
                <a:solidFill>
                  <a:srgbClr val="0F28EC"/>
                </a:solidFill>
                <a:latin typeface="Agrandir Bold"/>
                <a:ea typeface="Agrandir Bold"/>
                <a:cs typeface="Agrandir Bold"/>
                <a:sym typeface="Agrandir Bold"/>
              </a:rPr>
              <a:t>Feedback Learning</a:t>
            </a:r>
          </a:p>
        </p:txBody>
      </p:sp>
      <p:grpSp>
        <p:nvGrpSpPr>
          <p:cNvPr name="Group 18" id="18"/>
          <p:cNvGrpSpPr/>
          <p:nvPr/>
        </p:nvGrpSpPr>
        <p:grpSpPr>
          <a:xfrm rot="0">
            <a:off x="2660172" y="6091333"/>
            <a:ext cx="12967655" cy="1042670"/>
            <a:chOff x="0" y="0"/>
            <a:chExt cx="17290207" cy="1390227"/>
          </a:xfrm>
        </p:grpSpPr>
        <p:sp>
          <p:nvSpPr>
            <p:cNvPr name="TextBox 19" id="19"/>
            <p:cNvSpPr txBox="true"/>
            <p:nvPr/>
          </p:nvSpPr>
          <p:spPr>
            <a:xfrm rot="0">
              <a:off x="1648564" y="-142875"/>
              <a:ext cx="15641643" cy="1533102"/>
            </a:xfrm>
            <a:prstGeom prst="rect">
              <a:avLst/>
            </a:prstGeom>
          </p:spPr>
          <p:txBody>
            <a:bodyPr anchor="t" rtlCol="false" tIns="0" lIns="0" bIns="0" rIns="0">
              <a:spAutoFit/>
            </a:bodyPr>
            <a:lstStyle/>
            <a:p>
              <a:pPr algn="just">
                <a:lnSpc>
                  <a:spcPts val="4480"/>
                </a:lnSpc>
                <a:spcBef>
                  <a:spcPct val="0"/>
                </a:spcBef>
              </a:pPr>
              <a:r>
                <a:rPr lang="en-US" sz="3200">
                  <a:solidFill>
                    <a:srgbClr val="000000"/>
                  </a:solidFill>
                  <a:latin typeface="Agrandir"/>
                  <a:ea typeface="Agrandir"/>
                  <a:cs typeface="Agrandir"/>
                  <a:sym typeface="Agrandir"/>
                </a:rPr>
                <a:t>Nếu trả lời sai thì hiển thị đáp án đúng và giải thích. Nếu trả lời đúng thì thưởng điểm, hiệu ứng xác nhận</a:t>
              </a:r>
            </a:p>
          </p:txBody>
        </p:sp>
        <p:sp>
          <p:nvSpPr>
            <p:cNvPr name="Freeform 20" id="20"/>
            <p:cNvSpPr/>
            <p:nvPr/>
          </p:nvSpPr>
          <p:spPr>
            <a:xfrm flipH="false" flipV="false" rot="0">
              <a:off x="0" y="276224"/>
              <a:ext cx="1094484" cy="837778"/>
            </a:xfrm>
            <a:custGeom>
              <a:avLst/>
              <a:gdLst/>
              <a:ahLst/>
              <a:cxnLst/>
              <a:rect r="r" b="b" t="t" l="l"/>
              <a:pathLst>
                <a:path h="837778" w="1094484">
                  <a:moveTo>
                    <a:pt x="0" y="0"/>
                  </a:moveTo>
                  <a:lnTo>
                    <a:pt x="1094484" y="0"/>
                  </a:lnTo>
                  <a:lnTo>
                    <a:pt x="1094484" y="837778"/>
                  </a:lnTo>
                  <a:lnTo>
                    <a:pt x="0" y="837778"/>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grpSp>
      <p:grpSp>
        <p:nvGrpSpPr>
          <p:cNvPr name="Group 21" id="21"/>
          <p:cNvGrpSpPr/>
          <p:nvPr/>
        </p:nvGrpSpPr>
        <p:grpSpPr>
          <a:xfrm rot="0">
            <a:off x="2660172" y="7572153"/>
            <a:ext cx="12967655" cy="628334"/>
            <a:chOff x="0" y="0"/>
            <a:chExt cx="17290207" cy="837778"/>
          </a:xfrm>
        </p:grpSpPr>
        <p:sp>
          <p:nvSpPr>
            <p:cNvPr name="TextBox 22" id="22"/>
            <p:cNvSpPr txBox="true"/>
            <p:nvPr/>
          </p:nvSpPr>
          <p:spPr>
            <a:xfrm rot="0">
              <a:off x="1648564" y="-44449"/>
              <a:ext cx="15641643" cy="783802"/>
            </a:xfrm>
            <a:prstGeom prst="rect">
              <a:avLst/>
            </a:prstGeom>
          </p:spPr>
          <p:txBody>
            <a:bodyPr anchor="t" rtlCol="false" tIns="0" lIns="0" bIns="0" rIns="0">
              <a:spAutoFit/>
            </a:bodyPr>
            <a:lstStyle/>
            <a:p>
              <a:pPr algn="just">
                <a:lnSpc>
                  <a:spcPts val="4480"/>
                </a:lnSpc>
                <a:spcBef>
                  <a:spcPct val="0"/>
                </a:spcBef>
              </a:pPr>
              <a:r>
                <a:rPr lang="en-US" sz="3200">
                  <a:solidFill>
                    <a:srgbClr val="000000"/>
                  </a:solidFill>
                  <a:latin typeface="Agrandir"/>
                  <a:ea typeface="Agrandir"/>
                  <a:cs typeface="Agrandir"/>
                  <a:sym typeface="Agrandir"/>
                </a:rPr>
                <a:t>Giúp củng cố trí nhớ, sửa lỗi ngay lập tức</a:t>
              </a:r>
            </a:p>
          </p:txBody>
        </p:sp>
        <p:sp>
          <p:nvSpPr>
            <p:cNvPr name="Freeform 23" id="23"/>
            <p:cNvSpPr/>
            <p:nvPr/>
          </p:nvSpPr>
          <p:spPr>
            <a:xfrm flipH="false" flipV="false" rot="0">
              <a:off x="0" y="0"/>
              <a:ext cx="1094484" cy="837778"/>
            </a:xfrm>
            <a:custGeom>
              <a:avLst/>
              <a:gdLst/>
              <a:ahLst/>
              <a:cxnLst/>
              <a:rect r="r" b="b" t="t" l="l"/>
              <a:pathLst>
                <a:path h="837778" w="1094484">
                  <a:moveTo>
                    <a:pt x="0" y="0"/>
                  </a:moveTo>
                  <a:lnTo>
                    <a:pt x="1094484" y="0"/>
                  </a:lnTo>
                  <a:lnTo>
                    <a:pt x="1094484" y="837778"/>
                  </a:lnTo>
                  <a:lnTo>
                    <a:pt x="0" y="837778"/>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grpSp>
    </p:spTree>
  </p:cSld>
  <p:clrMapOvr>
    <a:masterClrMapping/>
  </p:clrMapOvr>
</p:sld>
</file>

<file path=ppt/slides/slide16.xml><?xml version="1.0" encoding="utf-8"?>
<p:sld xmlns:p="http://schemas.openxmlformats.org/presentationml/2006/main" xmlns:a="http://schemas.openxmlformats.org/drawingml/2006/main" xmlns:r="http://schemas.openxmlformats.org/officeDocument/2006/relationships">
  <p:cSld>
    <p:bg>
      <p:bgPr>
        <a:solidFill>
          <a:srgbClr val="C7D3FF"/>
        </a:solidFill>
      </p:bgPr>
    </p:bg>
    <p:spTree>
      <p:nvGrpSpPr>
        <p:cNvPr id="1" name=""/>
        <p:cNvGrpSpPr/>
        <p:nvPr/>
      </p:nvGrpSpPr>
      <p:grpSpPr>
        <a:xfrm>
          <a:off x="0" y="0"/>
          <a:ext cx="0" cy="0"/>
          <a:chOff x="0" y="0"/>
          <a:chExt cx="0" cy="0"/>
        </a:xfrm>
      </p:grpSpPr>
      <p:grpSp>
        <p:nvGrpSpPr>
          <p:cNvPr name="Group 2" id="2"/>
          <p:cNvGrpSpPr/>
          <p:nvPr/>
        </p:nvGrpSpPr>
        <p:grpSpPr>
          <a:xfrm rot="0">
            <a:off x="-217699" y="525326"/>
            <a:ext cx="17904046" cy="1338906"/>
            <a:chOff x="0" y="0"/>
            <a:chExt cx="4715469" cy="352634"/>
          </a:xfrm>
        </p:grpSpPr>
        <p:sp>
          <p:nvSpPr>
            <p:cNvPr name="Freeform 3" id="3"/>
            <p:cNvSpPr/>
            <p:nvPr/>
          </p:nvSpPr>
          <p:spPr>
            <a:xfrm flipH="false" flipV="false" rot="0">
              <a:off x="0" y="0"/>
              <a:ext cx="4715469" cy="352634"/>
            </a:xfrm>
            <a:custGeom>
              <a:avLst/>
              <a:gdLst/>
              <a:ahLst/>
              <a:cxnLst/>
              <a:rect r="r" b="b" t="t" l="l"/>
              <a:pathLst>
                <a:path h="352634" w="4715469">
                  <a:moveTo>
                    <a:pt x="0" y="0"/>
                  </a:moveTo>
                  <a:lnTo>
                    <a:pt x="4715469" y="0"/>
                  </a:lnTo>
                  <a:lnTo>
                    <a:pt x="4715469" y="352634"/>
                  </a:lnTo>
                  <a:lnTo>
                    <a:pt x="0" y="352634"/>
                  </a:lnTo>
                  <a:close/>
                </a:path>
              </a:pathLst>
            </a:custGeom>
            <a:solidFill>
              <a:srgbClr val="1022B1"/>
            </a:solidFill>
          </p:spPr>
        </p:sp>
        <p:sp>
          <p:nvSpPr>
            <p:cNvPr name="TextBox 4" id="4"/>
            <p:cNvSpPr txBox="true"/>
            <p:nvPr/>
          </p:nvSpPr>
          <p:spPr>
            <a:xfrm>
              <a:off x="0" y="-85725"/>
              <a:ext cx="4715469" cy="438359"/>
            </a:xfrm>
            <a:prstGeom prst="rect">
              <a:avLst/>
            </a:prstGeom>
          </p:spPr>
          <p:txBody>
            <a:bodyPr anchor="ctr" rtlCol="false" tIns="50800" lIns="50800" bIns="50800" rIns="50800"/>
            <a:lstStyle/>
            <a:p>
              <a:pPr algn="ctr">
                <a:lnSpc>
                  <a:spcPts val="2659"/>
                </a:lnSpc>
              </a:pPr>
            </a:p>
          </p:txBody>
        </p:sp>
      </p:grpSp>
      <p:grpSp>
        <p:nvGrpSpPr>
          <p:cNvPr name="Group 5" id="5"/>
          <p:cNvGrpSpPr/>
          <p:nvPr/>
        </p:nvGrpSpPr>
        <p:grpSpPr>
          <a:xfrm rot="0">
            <a:off x="15958661" y="-1019379"/>
            <a:ext cx="3853113" cy="3853113"/>
            <a:chOff x="0" y="0"/>
            <a:chExt cx="812800" cy="812800"/>
          </a:xfrm>
        </p:grpSpPr>
        <p:sp>
          <p:nvSpPr>
            <p:cNvPr name="Freeform 6" id="6"/>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F28EC"/>
            </a:solidFill>
          </p:spPr>
        </p:sp>
        <p:sp>
          <p:nvSpPr>
            <p:cNvPr name="TextBox 7" id="7"/>
            <p:cNvSpPr txBox="true"/>
            <p:nvPr/>
          </p:nvSpPr>
          <p:spPr>
            <a:xfrm>
              <a:off x="76200" y="38100"/>
              <a:ext cx="660400" cy="698500"/>
            </a:xfrm>
            <a:prstGeom prst="rect">
              <a:avLst/>
            </a:prstGeom>
          </p:spPr>
          <p:txBody>
            <a:bodyPr anchor="ctr" rtlCol="false" tIns="50800" lIns="50800" bIns="50800" rIns="50800"/>
            <a:lstStyle/>
            <a:p>
              <a:pPr algn="ctr">
                <a:lnSpc>
                  <a:spcPts val="2659"/>
                </a:lnSpc>
                <a:spcBef>
                  <a:spcPct val="0"/>
                </a:spcBef>
              </a:pPr>
            </a:p>
          </p:txBody>
        </p:sp>
      </p:grpSp>
      <p:sp>
        <p:nvSpPr>
          <p:cNvPr name="Freeform 8" id="8"/>
          <p:cNvSpPr/>
          <p:nvPr/>
        </p:nvSpPr>
        <p:spPr>
          <a:xfrm flipH="false" flipV="false" rot="0">
            <a:off x="17259300" y="1052847"/>
            <a:ext cx="427047" cy="427047"/>
          </a:xfrm>
          <a:custGeom>
            <a:avLst/>
            <a:gdLst/>
            <a:ahLst/>
            <a:cxnLst/>
            <a:rect r="r" b="b" t="t" l="l"/>
            <a:pathLst>
              <a:path h="427047" w="427047">
                <a:moveTo>
                  <a:pt x="0" y="0"/>
                </a:moveTo>
                <a:lnTo>
                  <a:pt x="427047" y="0"/>
                </a:lnTo>
                <a:lnTo>
                  <a:pt x="427047" y="427047"/>
                </a:lnTo>
                <a:lnTo>
                  <a:pt x="0" y="427047"/>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9" id="9"/>
          <p:cNvGrpSpPr/>
          <p:nvPr/>
        </p:nvGrpSpPr>
        <p:grpSpPr>
          <a:xfrm rot="0">
            <a:off x="17509719" y="9508719"/>
            <a:ext cx="778281" cy="778281"/>
            <a:chOff x="0" y="0"/>
            <a:chExt cx="204979" cy="204979"/>
          </a:xfrm>
        </p:grpSpPr>
        <p:sp>
          <p:nvSpPr>
            <p:cNvPr name="Freeform 10" id="10"/>
            <p:cNvSpPr/>
            <p:nvPr/>
          </p:nvSpPr>
          <p:spPr>
            <a:xfrm flipH="false" flipV="false" rot="0">
              <a:off x="0" y="0"/>
              <a:ext cx="204979" cy="204979"/>
            </a:xfrm>
            <a:custGeom>
              <a:avLst/>
              <a:gdLst/>
              <a:ahLst/>
              <a:cxnLst/>
              <a:rect r="r" b="b" t="t" l="l"/>
              <a:pathLst>
                <a:path h="204979" w="204979">
                  <a:moveTo>
                    <a:pt x="0" y="0"/>
                  </a:moveTo>
                  <a:lnTo>
                    <a:pt x="204979" y="0"/>
                  </a:lnTo>
                  <a:lnTo>
                    <a:pt x="204979" y="204979"/>
                  </a:lnTo>
                  <a:lnTo>
                    <a:pt x="0" y="204979"/>
                  </a:lnTo>
                  <a:close/>
                </a:path>
              </a:pathLst>
            </a:custGeom>
            <a:solidFill>
              <a:srgbClr val="0F28EC"/>
            </a:solidFill>
          </p:spPr>
        </p:sp>
        <p:sp>
          <p:nvSpPr>
            <p:cNvPr name="TextBox 11" id="11"/>
            <p:cNvSpPr txBox="true"/>
            <p:nvPr/>
          </p:nvSpPr>
          <p:spPr>
            <a:xfrm>
              <a:off x="0" y="-85725"/>
              <a:ext cx="204979" cy="290704"/>
            </a:xfrm>
            <a:prstGeom prst="rect">
              <a:avLst/>
            </a:prstGeom>
          </p:spPr>
          <p:txBody>
            <a:bodyPr anchor="ctr" rtlCol="false" tIns="50800" lIns="50800" bIns="50800" rIns="50800"/>
            <a:lstStyle/>
            <a:p>
              <a:pPr algn="ctr">
                <a:lnSpc>
                  <a:spcPts val="2659"/>
                </a:lnSpc>
              </a:pPr>
            </a:p>
          </p:txBody>
        </p:sp>
      </p:grpSp>
      <p:sp>
        <p:nvSpPr>
          <p:cNvPr name="TextBox 12" id="12"/>
          <p:cNvSpPr txBox="true"/>
          <p:nvPr/>
        </p:nvSpPr>
        <p:spPr>
          <a:xfrm rot="0">
            <a:off x="17736317" y="9669577"/>
            <a:ext cx="382236" cy="370840"/>
          </a:xfrm>
          <a:prstGeom prst="rect">
            <a:avLst/>
          </a:prstGeom>
        </p:spPr>
        <p:txBody>
          <a:bodyPr anchor="t" rtlCol="false" tIns="0" lIns="0" bIns="0" rIns="0">
            <a:spAutoFit/>
          </a:bodyPr>
          <a:lstStyle/>
          <a:p>
            <a:pPr algn="l">
              <a:lnSpc>
                <a:spcPts val="2659"/>
              </a:lnSpc>
              <a:spcBef>
                <a:spcPct val="0"/>
              </a:spcBef>
            </a:pPr>
            <a:r>
              <a:rPr lang="en-US" b="true" sz="1899">
                <a:solidFill>
                  <a:srgbClr val="FFFFFF"/>
                </a:solidFill>
                <a:latin typeface="Agrandir Bold"/>
                <a:ea typeface="Agrandir Bold"/>
                <a:cs typeface="Agrandir Bold"/>
                <a:sym typeface="Agrandir Bold"/>
              </a:rPr>
              <a:t>05</a:t>
            </a:r>
          </a:p>
        </p:txBody>
      </p:sp>
      <p:sp>
        <p:nvSpPr>
          <p:cNvPr name="TextBox 13" id="13"/>
          <p:cNvSpPr txBox="true"/>
          <p:nvPr/>
        </p:nvSpPr>
        <p:spPr>
          <a:xfrm rot="0">
            <a:off x="561398" y="397611"/>
            <a:ext cx="14179543" cy="1350274"/>
          </a:xfrm>
          <a:prstGeom prst="rect">
            <a:avLst/>
          </a:prstGeom>
        </p:spPr>
        <p:txBody>
          <a:bodyPr anchor="t" rtlCol="false" tIns="0" lIns="0" bIns="0" rIns="0">
            <a:spAutoFit/>
          </a:bodyPr>
          <a:lstStyle/>
          <a:p>
            <a:pPr algn="l">
              <a:lnSpc>
                <a:spcPts val="9575"/>
              </a:lnSpc>
              <a:spcBef>
                <a:spcPct val="0"/>
              </a:spcBef>
            </a:pPr>
            <a:r>
              <a:rPr lang="en-US" b="true" sz="6839">
                <a:solidFill>
                  <a:srgbClr val="FFFFFF"/>
                </a:solidFill>
                <a:latin typeface="Agrandir Bold"/>
                <a:ea typeface="Agrandir Bold"/>
                <a:cs typeface="Agrandir Bold"/>
                <a:sym typeface="Agrandir Bold"/>
              </a:rPr>
              <a:t>3. Nguyên lý thiết kế tương tác</a:t>
            </a:r>
          </a:p>
        </p:txBody>
      </p:sp>
      <p:grpSp>
        <p:nvGrpSpPr>
          <p:cNvPr name="Group 14" id="14"/>
          <p:cNvGrpSpPr/>
          <p:nvPr/>
        </p:nvGrpSpPr>
        <p:grpSpPr>
          <a:xfrm rot="0">
            <a:off x="2446649" y="4275828"/>
            <a:ext cx="14812651" cy="4820314"/>
            <a:chOff x="0" y="0"/>
            <a:chExt cx="19750202" cy="6427085"/>
          </a:xfrm>
        </p:grpSpPr>
        <p:sp>
          <p:nvSpPr>
            <p:cNvPr name="TextBox 15" id="15"/>
            <p:cNvSpPr txBox="true"/>
            <p:nvPr/>
          </p:nvSpPr>
          <p:spPr>
            <a:xfrm rot="0">
              <a:off x="1628452" y="-32003"/>
              <a:ext cx="18121749" cy="783802"/>
            </a:xfrm>
            <a:prstGeom prst="rect">
              <a:avLst/>
            </a:prstGeom>
          </p:spPr>
          <p:txBody>
            <a:bodyPr anchor="t" rtlCol="false" tIns="0" lIns="0" bIns="0" rIns="0">
              <a:spAutoFit/>
            </a:bodyPr>
            <a:lstStyle/>
            <a:p>
              <a:pPr algn="just">
                <a:lnSpc>
                  <a:spcPts val="4480"/>
                </a:lnSpc>
                <a:spcBef>
                  <a:spcPct val="0"/>
                </a:spcBef>
              </a:pPr>
              <a:r>
                <a:rPr lang="en-US" sz="3200">
                  <a:solidFill>
                    <a:srgbClr val="000000"/>
                  </a:solidFill>
                  <a:latin typeface="Agrandir"/>
                  <a:ea typeface="Agrandir"/>
                  <a:cs typeface="Agrandir"/>
                  <a:sym typeface="Agrandir"/>
                </a:rPr>
                <a:t>Đối tượng người sử dụng chính là trẻ em khiếm khuyết khoảng 6-12 tuổi</a:t>
              </a:r>
            </a:p>
          </p:txBody>
        </p:sp>
        <p:sp>
          <p:nvSpPr>
            <p:cNvPr name="Freeform 16" id="16"/>
            <p:cNvSpPr/>
            <p:nvPr/>
          </p:nvSpPr>
          <p:spPr>
            <a:xfrm flipH="false" flipV="false" rot="0">
              <a:off x="0" y="0"/>
              <a:ext cx="1094484" cy="837778"/>
            </a:xfrm>
            <a:custGeom>
              <a:avLst/>
              <a:gdLst/>
              <a:ahLst/>
              <a:cxnLst/>
              <a:rect r="r" b="b" t="t" l="l"/>
              <a:pathLst>
                <a:path h="837778" w="1094484">
                  <a:moveTo>
                    <a:pt x="0" y="0"/>
                  </a:moveTo>
                  <a:lnTo>
                    <a:pt x="1094484" y="0"/>
                  </a:lnTo>
                  <a:lnTo>
                    <a:pt x="1094484" y="837778"/>
                  </a:lnTo>
                  <a:lnTo>
                    <a:pt x="0" y="837778"/>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17" id="17"/>
            <p:cNvSpPr txBox="true"/>
            <p:nvPr/>
          </p:nvSpPr>
          <p:spPr>
            <a:xfrm rot="0">
              <a:off x="1648564" y="1355123"/>
              <a:ext cx="18101638" cy="783802"/>
            </a:xfrm>
            <a:prstGeom prst="rect">
              <a:avLst/>
            </a:prstGeom>
          </p:spPr>
          <p:txBody>
            <a:bodyPr anchor="t" rtlCol="false" tIns="0" lIns="0" bIns="0" rIns="0">
              <a:spAutoFit/>
            </a:bodyPr>
            <a:lstStyle/>
            <a:p>
              <a:pPr algn="just">
                <a:lnSpc>
                  <a:spcPts val="4480"/>
                </a:lnSpc>
                <a:spcBef>
                  <a:spcPct val="0"/>
                </a:spcBef>
              </a:pPr>
              <a:r>
                <a:rPr lang="en-US" sz="3200">
                  <a:solidFill>
                    <a:srgbClr val="000000"/>
                  </a:solidFill>
                  <a:latin typeface="Agrandir"/>
                  <a:ea typeface="Agrandir"/>
                  <a:cs typeface="Agrandir"/>
                  <a:sym typeface="Agrandir"/>
                </a:rPr>
                <a:t>Thường tiếp nhận bằng thị giác nên ưu tiên video và hình ảnh</a:t>
              </a:r>
            </a:p>
          </p:txBody>
        </p:sp>
        <p:sp>
          <p:nvSpPr>
            <p:cNvPr name="Freeform 18" id="18"/>
            <p:cNvSpPr/>
            <p:nvPr/>
          </p:nvSpPr>
          <p:spPr>
            <a:xfrm flipH="false" flipV="false" rot="0">
              <a:off x="0" y="1399573"/>
              <a:ext cx="1094484" cy="837778"/>
            </a:xfrm>
            <a:custGeom>
              <a:avLst/>
              <a:gdLst/>
              <a:ahLst/>
              <a:cxnLst/>
              <a:rect r="r" b="b" t="t" l="l"/>
              <a:pathLst>
                <a:path h="837778" w="1094484">
                  <a:moveTo>
                    <a:pt x="0" y="0"/>
                  </a:moveTo>
                  <a:lnTo>
                    <a:pt x="1094484" y="0"/>
                  </a:lnTo>
                  <a:lnTo>
                    <a:pt x="1094484" y="837778"/>
                  </a:lnTo>
                  <a:lnTo>
                    <a:pt x="0" y="837778"/>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19" id="19"/>
            <p:cNvSpPr txBox="true"/>
            <p:nvPr/>
          </p:nvSpPr>
          <p:spPr>
            <a:xfrm rot="0">
              <a:off x="1648564" y="2751701"/>
              <a:ext cx="18101638" cy="783802"/>
            </a:xfrm>
            <a:prstGeom prst="rect">
              <a:avLst/>
            </a:prstGeom>
          </p:spPr>
          <p:txBody>
            <a:bodyPr anchor="t" rtlCol="false" tIns="0" lIns="0" bIns="0" rIns="0">
              <a:spAutoFit/>
            </a:bodyPr>
            <a:lstStyle/>
            <a:p>
              <a:pPr algn="just">
                <a:lnSpc>
                  <a:spcPts val="4480"/>
                </a:lnSpc>
                <a:spcBef>
                  <a:spcPct val="0"/>
                </a:spcBef>
              </a:pPr>
              <a:r>
                <a:rPr lang="en-US" sz="3200">
                  <a:solidFill>
                    <a:srgbClr val="000000"/>
                  </a:solidFill>
                  <a:latin typeface="Agrandir"/>
                  <a:ea typeface="Agrandir"/>
                  <a:cs typeface="Agrandir"/>
                  <a:sym typeface="Agrandir"/>
                </a:rPr>
                <a:t>Khả năng tập trung ngắn nên bài học cần ngắn</a:t>
              </a:r>
            </a:p>
          </p:txBody>
        </p:sp>
        <p:sp>
          <p:nvSpPr>
            <p:cNvPr name="Freeform 20" id="20"/>
            <p:cNvSpPr/>
            <p:nvPr/>
          </p:nvSpPr>
          <p:spPr>
            <a:xfrm flipH="false" flipV="false" rot="0">
              <a:off x="0" y="2796151"/>
              <a:ext cx="1094484" cy="837778"/>
            </a:xfrm>
            <a:custGeom>
              <a:avLst/>
              <a:gdLst/>
              <a:ahLst/>
              <a:cxnLst/>
              <a:rect r="r" b="b" t="t" l="l"/>
              <a:pathLst>
                <a:path h="837778" w="1094484">
                  <a:moveTo>
                    <a:pt x="0" y="0"/>
                  </a:moveTo>
                  <a:lnTo>
                    <a:pt x="1094484" y="0"/>
                  </a:lnTo>
                  <a:lnTo>
                    <a:pt x="1094484" y="837778"/>
                  </a:lnTo>
                  <a:lnTo>
                    <a:pt x="0" y="837778"/>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21" id="21"/>
            <p:cNvSpPr txBox="true"/>
            <p:nvPr/>
          </p:nvSpPr>
          <p:spPr>
            <a:xfrm rot="0">
              <a:off x="1648564" y="4148280"/>
              <a:ext cx="18101638" cy="783802"/>
            </a:xfrm>
            <a:prstGeom prst="rect">
              <a:avLst/>
            </a:prstGeom>
          </p:spPr>
          <p:txBody>
            <a:bodyPr anchor="t" rtlCol="false" tIns="0" lIns="0" bIns="0" rIns="0">
              <a:spAutoFit/>
            </a:bodyPr>
            <a:lstStyle/>
            <a:p>
              <a:pPr algn="just">
                <a:lnSpc>
                  <a:spcPts val="4480"/>
                </a:lnSpc>
                <a:spcBef>
                  <a:spcPct val="0"/>
                </a:spcBef>
              </a:pPr>
              <a:r>
                <a:rPr lang="en-US" sz="3200">
                  <a:solidFill>
                    <a:srgbClr val="000000"/>
                  </a:solidFill>
                  <a:latin typeface="Agrandir"/>
                  <a:ea typeface="Agrandir"/>
                  <a:cs typeface="Agrandir"/>
                  <a:sym typeface="Agrandir"/>
                </a:rPr>
                <a:t>Thích khám phá nên thiết kế cần có khả năng tương tác</a:t>
              </a:r>
            </a:p>
          </p:txBody>
        </p:sp>
        <p:sp>
          <p:nvSpPr>
            <p:cNvPr name="Freeform 22" id="22"/>
            <p:cNvSpPr/>
            <p:nvPr/>
          </p:nvSpPr>
          <p:spPr>
            <a:xfrm flipH="false" flipV="false" rot="0">
              <a:off x="0" y="4192729"/>
              <a:ext cx="1094484" cy="837778"/>
            </a:xfrm>
            <a:custGeom>
              <a:avLst/>
              <a:gdLst/>
              <a:ahLst/>
              <a:cxnLst/>
              <a:rect r="r" b="b" t="t" l="l"/>
              <a:pathLst>
                <a:path h="837778" w="1094484">
                  <a:moveTo>
                    <a:pt x="0" y="0"/>
                  </a:moveTo>
                  <a:lnTo>
                    <a:pt x="1094484" y="0"/>
                  </a:lnTo>
                  <a:lnTo>
                    <a:pt x="1094484" y="837778"/>
                  </a:lnTo>
                  <a:lnTo>
                    <a:pt x="0" y="837778"/>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23" id="23"/>
            <p:cNvSpPr txBox="true"/>
            <p:nvPr/>
          </p:nvSpPr>
          <p:spPr>
            <a:xfrm rot="0">
              <a:off x="1648564" y="5544858"/>
              <a:ext cx="18101638" cy="783802"/>
            </a:xfrm>
            <a:prstGeom prst="rect">
              <a:avLst/>
            </a:prstGeom>
          </p:spPr>
          <p:txBody>
            <a:bodyPr anchor="t" rtlCol="false" tIns="0" lIns="0" bIns="0" rIns="0">
              <a:spAutoFit/>
            </a:bodyPr>
            <a:lstStyle/>
            <a:p>
              <a:pPr algn="just">
                <a:lnSpc>
                  <a:spcPts val="4480"/>
                </a:lnSpc>
                <a:spcBef>
                  <a:spcPct val="0"/>
                </a:spcBef>
              </a:pPr>
              <a:r>
                <a:rPr lang="en-US" sz="3200">
                  <a:solidFill>
                    <a:srgbClr val="000000"/>
                  </a:solidFill>
                  <a:latin typeface="Agrandir"/>
                  <a:ea typeface="Agrandir"/>
                  <a:cs typeface="Agrandir"/>
                  <a:sym typeface="Agrandir"/>
                </a:rPr>
                <a:t>Dễ mất động lực nên thiết kế có thể cần gamification</a:t>
              </a:r>
            </a:p>
          </p:txBody>
        </p:sp>
        <p:sp>
          <p:nvSpPr>
            <p:cNvPr name="Freeform 24" id="24"/>
            <p:cNvSpPr/>
            <p:nvPr/>
          </p:nvSpPr>
          <p:spPr>
            <a:xfrm flipH="false" flipV="false" rot="0">
              <a:off x="0" y="5589307"/>
              <a:ext cx="1094484" cy="837778"/>
            </a:xfrm>
            <a:custGeom>
              <a:avLst/>
              <a:gdLst/>
              <a:ahLst/>
              <a:cxnLst/>
              <a:rect r="r" b="b" t="t" l="l"/>
              <a:pathLst>
                <a:path h="837778" w="1094484">
                  <a:moveTo>
                    <a:pt x="0" y="0"/>
                  </a:moveTo>
                  <a:lnTo>
                    <a:pt x="1094484" y="0"/>
                  </a:lnTo>
                  <a:lnTo>
                    <a:pt x="1094484" y="837778"/>
                  </a:lnTo>
                  <a:lnTo>
                    <a:pt x="0" y="837778"/>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grpSp>
      <p:sp>
        <p:nvSpPr>
          <p:cNvPr name="TextBox 25" id="25"/>
          <p:cNvSpPr txBox="true"/>
          <p:nvPr/>
        </p:nvSpPr>
        <p:spPr>
          <a:xfrm rot="0">
            <a:off x="4276888" y="2519410"/>
            <a:ext cx="9734224" cy="1350274"/>
          </a:xfrm>
          <a:prstGeom prst="rect">
            <a:avLst/>
          </a:prstGeom>
        </p:spPr>
        <p:txBody>
          <a:bodyPr anchor="t" rtlCol="false" tIns="0" lIns="0" bIns="0" rIns="0">
            <a:spAutoFit/>
          </a:bodyPr>
          <a:lstStyle/>
          <a:p>
            <a:pPr algn="l">
              <a:lnSpc>
                <a:spcPts val="9575"/>
              </a:lnSpc>
              <a:spcBef>
                <a:spcPct val="0"/>
              </a:spcBef>
            </a:pPr>
            <a:r>
              <a:rPr lang="en-US" b="true" sz="6839">
                <a:solidFill>
                  <a:srgbClr val="0F28EC"/>
                </a:solidFill>
                <a:latin typeface="Agrandir Bold"/>
                <a:ea typeface="Agrandir Bold"/>
                <a:cs typeface="Agrandir Bold"/>
                <a:sym typeface="Agrandir Bold"/>
              </a:rPr>
              <a:t>User-Centered Design</a:t>
            </a:r>
          </a:p>
        </p:txBody>
      </p:sp>
    </p:spTree>
  </p:cSld>
  <p:clrMapOvr>
    <a:masterClrMapping/>
  </p:clrMapOvr>
</p:sld>
</file>

<file path=ppt/slides/slide17.xml><?xml version="1.0" encoding="utf-8"?>
<p:sld xmlns:p="http://schemas.openxmlformats.org/presentationml/2006/main" xmlns:a="http://schemas.openxmlformats.org/drawingml/2006/main" xmlns:r="http://schemas.openxmlformats.org/officeDocument/2006/relationships">
  <p:cSld>
    <p:bg>
      <p:bgPr>
        <a:solidFill>
          <a:srgbClr val="C7D3FF"/>
        </a:solidFill>
      </p:bgPr>
    </p:bg>
    <p:spTree>
      <p:nvGrpSpPr>
        <p:cNvPr id="1" name=""/>
        <p:cNvGrpSpPr/>
        <p:nvPr/>
      </p:nvGrpSpPr>
      <p:grpSpPr>
        <a:xfrm>
          <a:off x="0" y="0"/>
          <a:ext cx="0" cy="0"/>
          <a:chOff x="0" y="0"/>
          <a:chExt cx="0" cy="0"/>
        </a:xfrm>
      </p:grpSpPr>
      <p:grpSp>
        <p:nvGrpSpPr>
          <p:cNvPr name="Group 2" id="2"/>
          <p:cNvGrpSpPr/>
          <p:nvPr/>
        </p:nvGrpSpPr>
        <p:grpSpPr>
          <a:xfrm rot="0">
            <a:off x="-217699" y="525326"/>
            <a:ext cx="17904046" cy="1338906"/>
            <a:chOff x="0" y="0"/>
            <a:chExt cx="4715469" cy="352634"/>
          </a:xfrm>
        </p:grpSpPr>
        <p:sp>
          <p:nvSpPr>
            <p:cNvPr name="Freeform 3" id="3"/>
            <p:cNvSpPr/>
            <p:nvPr/>
          </p:nvSpPr>
          <p:spPr>
            <a:xfrm flipH="false" flipV="false" rot="0">
              <a:off x="0" y="0"/>
              <a:ext cx="4715469" cy="352634"/>
            </a:xfrm>
            <a:custGeom>
              <a:avLst/>
              <a:gdLst/>
              <a:ahLst/>
              <a:cxnLst/>
              <a:rect r="r" b="b" t="t" l="l"/>
              <a:pathLst>
                <a:path h="352634" w="4715469">
                  <a:moveTo>
                    <a:pt x="0" y="0"/>
                  </a:moveTo>
                  <a:lnTo>
                    <a:pt x="4715469" y="0"/>
                  </a:lnTo>
                  <a:lnTo>
                    <a:pt x="4715469" y="352634"/>
                  </a:lnTo>
                  <a:lnTo>
                    <a:pt x="0" y="352634"/>
                  </a:lnTo>
                  <a:close/>
                </a:path>
              </a:pathLst>
            </a:custGeom>
            <a:solidFill>
              <a:srgbClr val="1022B1"/>
            </a:solidFill>
          </p:spPr>
        </p:sp>
        <p:sp>
          <p:nvSpPr>
            <p:cNvPr name="TextBox 4" id="4"/>
            <p:cNvSpPr txBox="true"/>
            <p:nvPr/>
          </p:nvSpPr>
          <p:spPr>
            <a:xfrm>
              <a:off x="0" y="-85725"/>
              <a:ext cx="4715469" cy="438359"/>
            </a:xfrm>
            <a:prstGeom prst="rect">
              <a:avLst/>
            </a:prstGeom>
          </p:spPr>
          <p:txBody>
            <a:bodyPr anchor="ctr" rtlCol="false" tIns="50800" lIns="50800" bIns="50800" rIns="50800"/>
            <a:lstStyle/>
            <a:p>
              <a:pPr algn="ctr">
                <a:lnSpc>
                  <a:spcPts val="2659"/>
                </a:lnSpc>
              </a:pPr>
            </a:p>
          </p:txBody>
        </p:sp>
      </p:grpSp>
      <p:grpSp>
        <p:nvGrpSpPr>
          <p:cNvPr name="Group 5" id="5"/>
          <p:cNvGrpSpPr/>
          <p:nvPr/>
        </p:nvGrpSpPr>
        <p:grpSpPr>
          <a:xfrm rot="0">
            <a:off x="15958661" y="-1019379"/>
            <a:ext cx="3853113" cy="3853113"/>
            <a:chOff x="0" y="0"/>
            <a:chExt cx="812800" cy="812800"/>
          </a:xfrm>
        </p:grpSpPr>
        <p:sp>
          <p:nvSpPr>
            <p:cNvPr name="Freeform 6" id="6"/>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F28EC"/>
            </a:solidFill>
          </p:spPr>
        </p:sp>
        <p:sp>
          <p:nvSpPr>
            <p:cNvPr name="TextBox 7" id="7"/>
            <p:cNvSpPr txBox="true"/>
            <p:nvPr/>
          </p:nvSpPr>
          <p:spPr>
            <a:xfrm>
              <a:off x="76200" y="38100"/>
              <a:ext cx="660400" cy="698500"/>
            </a:xfrm>
            <a:prstGeom prst="rect">
              <a:avLst/>
            </a:prstGeom>
          </p:spPr>
          <p:txBody>
            <a:bodyPr anchor="ctr" rtlCol="false" tIns="50800" lIns="50800" bIns="50800" rIns="50800"/>
            <a:lstStyle/>
            <a:p>
              <a:pPr algn="ctr">
                <a:lnSpc>
                  <a:spcPts val="2659"/>
                </a:lnSpc>
                <a:spcBef>
                  <a:spcPct val="0"/>
                </a:spcBef>
              </a:pPr>
            </a:p>
          </p:txBody>
        </p:sp>
      </p:grpSp>
      <p:sp>
        <p:nvSpPr>
          <p:cNvPr name="Freeform 8" id="8"/>
          <p:cNvSpPr/>
          <p:nvPr/>
        </p:nvSpPr>
        <p:spPr>
          <a:xfrm flipH="false" flipV="false" rot="0">
            <a:off x="17259300" y="1052847"/>
            <a:ext cx="427047" cy="427047"/>
          </a:xfrm>
          <a:custGeom>
            <a:avLst/>
            <a:gdLst/>
            <a:ahLst/>
            <a:cxnLst/>
            <a:rect r="r" b="b" t="t" l="l"/>
            <a:pathLst>
              <a:path h="427047" w="427047">
                <a:moveTo>
                  <a:pt x="0" y="0"/>
                </a:moveTo>
                <a:lnTo>
                  <a:pt x="427047" y="0"/>
                </a:lnTo>
                <a:lnTo>
                  <a:pt x="427047" y="427047"/>
                </a:lnTo>
                <a:lnTo>
                  <a:pt x="0" y="427047"/>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9" id="9"/>
          <p:cNvGrpSpPr/>
          <p:nvPr/>
        </p:nvGrpSpPr>
        <p:grpSpPr>
          <a:xfrm rot="0">
            <a:off x="17509719" y="9508719"/>
            <a:ext cx="778281" cy="778281"/>
            <a:chOff x="0" y="0"/>
            <a:chExt cx="204979" cy="204979"/>
          </a:xfrm>
        </p:grpSpPr>
        <p:sp>
          <p:nvSpPr>
            <p:cNvPr name="Freeform 10" id="10"/>
            <p:cNvSpPr/>
            <p:nvPr/>
          </p:nvSpPr>
          <p:spPr>
            <a:xfrm flipH="false" flipV="false" rot="0">
              <a:off x="0" y="0"/>
              <a:ext cx="204979" cy="204979"/>
            </a:xfrm>
            <a:custGeom>
              <a:avLst/>
              <a:gdLst/>
              <a:ahLst/>
              <a:cxnLst/>
              <a:rect r="r" b="b" t="t" l="l"/>
              <a:pathLst>
                <a:path h="204979" w="204979">
                  <a:moveTo>
                    <a:pt x="0" y="0"/>
                  </a:moveTo>
                  <a:lnTo>
                    <a:pt x="204979" y="0"/>
                  </a:lnTo>
                  <a:lnTo>
                    <a:pt x="204979" y="204979"/>
                  </a:lnTo>
                  <a:lnTo>
                    <a:pt x="0" y="204979"/>
                  </a:lnTo>
                  <a:close/>
                </a:path>
              </a:pathLst>
            </a:custGeom>
            <a:solidFill>
              <a:srgbClr val="0F28EC"/>
            </a:solidFill>
          </p:spPr>
        </p:sp>
        <p:sp>
          <p:nvSpPr>
            <p:cNvPr name="TextBox 11" id="11"/>
            <p:cNvSpPr txBox="true"/>
            <p:nvPr/>
          </p:nvSpPr>
          <p:spPr>
            <a:xfrm>
              <a:off x="0" y="-85725"/>
              <a:ext cx="204979" cy="290704"/>
            </a:xfrm>
            <a:prstGeom prst="rect">
              <a:avLst/>
            </a:prstGeom>
          </p:spPr>
          <p:txBody>
            <a:bodyPr anchor="ctr" rtlCol="false" tIns="50800" lIns="50800" bIns="50800" rIns="50800"/>
            <a:lstStyle/>
            <a:p>
              <a:pPr algn="ctr">
                <a:lnSpc>
                  <a:spcPts val="2659"/>
                </a:lnSpc>
              </a:pPr>
            </a:p>
          </p:txBody>
        </p:sp>
      </p:grpSp>
      <p:sp>
        <p:nvSpPr>
          <p:cNvPr name="TextBox 12" id="12"/>
          <p:cNvSpPr txBox="true"/>
          <p:nvPr/>
        </p:nvSpPr>
        <p:spPr>
          <a:xfrm rot="0">
            <a:off x="17736317" y="9669577"/>
            <a:ext cx="382236" cy="370840"/>
          </a:xfrm>
          <a:prstGeom prst="rect">
            <a:avLst/>
          </a:prstGeom>
        </p:spPr>
        <p:txBody>
          <a:bodyPr anchor="t" rtlCol="false" tIns="0" lIns="0" bIns="0" rIns="0">
            <a:spAutoFit/>
          </a:bodyPr>
          <a:lstStyle/>
          <a:p>
            <a:pPr algn="l">
              <a:lnSpc>
                <a:spcPts val="2659"/>
              </a:lnSpc>
              <a:spcBef>
                <a:spcPct val="0"/>
              </a:spcBef>
            </a:pPr>
            <a:r>
              <a:rPr lang="en-US" b="true" sz="1899">
                <a:solidFill>
                  <a:srgbClr val="FFFFFF"/>
                </a:solidFill>
                <a:latin typeface="Agrandir Bold"/>
                <a:ea typeface="Agrandir Bold"/>
                <a:cs typeface="Agrandir Bold"/>
                <a:sym typeface="Agrandir Bold"/>
              </a:rPr>
              <a:t>05</a:t>
            </a:r>
          </a:p>
        </p:txBody>
      </p:sp>
      <p:sp>
        <p:nvSpPr>
          <p:cNvPr name="TextBox 13" id="13"/>
          <p:cNvSpPr txBox="true"/>
          <p:nvPr/>
        </p:nvSpPr>
        <p:spPr>
          <a:xfrm rot="0">
            <a:off x="561398" y="397611"/>
            <a:ext cx="14179543" cy="1350274"/>
          </a:xfrm>
          <a:prstGeom prst="rect">
            <a:avLst/>
          </a:prstGeom>
        </p:spPr>
        <p:txBody>
          <a:bodyPr anchor="t" rtlCol="false" tIns="0" lIns="0" bIns="0" rIns="0">
            <a:spAutoFit/>
          </a:bodyPr>
          <a:lstStyle/>
          <a:p>
            <a:pPr algn="l">
              <a:lnSpc>
                <a:spcPts val="9575"/>
              </a:lnSpc>
              <a:spcBef>
                <a:spcPct val="0"/>
              </a:spcBef>
            </a:pPr>
            <a:r>
              <a:rPr lang="en-US" b="true" sz="6839">
                <a:solidFill>
                  <a:srgbClr val="FFFFFF"/>
                </a:solidFill>
                <a:latin typeface="Agrandir Bold"/>
                <a:ea typeface="Agrandir Bold"/>
                <a:cs typeface="Agrandir Bold"/>
                <a:sym typeface="Agrandir Bold"/>
              </a:rPr>
              <a:t>3. Nguyên lý thiết kế tương tác</a:t>
            </a:r>
          </a:p>
        </p:txBody>
      </p:sp>
      <p:grpSp>
        <p:nvGrpSpPr>
          <p:cNvPr name="Group 14" id="14"/>
          <p:cNvGrpSpPr/>
          <p:nvPr/>
        </p:nvGrpSpPr>
        <p:grpSpPr>
          <a:xfrm rot="0">
            <a:off x="3690744" y="5206536"/>
            <a:ext cx="12294293" cy="1042670"/>
            <a:chOff x="0" y="0"/>
            <a:chExt cx="16392390" cy="1390227"/>
          </a:xfrm>
        </p:grpSpPr>
        <p:sp>
          <p:nvSpPr>
            <p:cNvPr name="TextBox 15" id="15"/>
            <p:cNvSpPr txBox="true"/>
            <p:nvPr/>
          </p:nvSpPr>
          <p:spPr>
            <a:xfrm rot="0">
              <a:off x="1628452" y="-142875"/>
              <a:ext cx="14763938" cy="1533102"/>
            </a:xfrm>
            <a:prstGeom prst="rect">
              <a:avLst/>
            </a:prstGeom>
          </p:spPr>
          <p:txBody>
            <a:bodyPr anchor="t" rtlCol="false" tIns="0" lIns="0" bIns="0" rIns="0">
              <a:spAutoFit/>
            </a:bodyPr>
            <a:lstStyle/>
            <a:p>
              <a:pPr algn="just">
                <a:lnSpc>
                  <a:spcPts val="4480"/>
                </a:lnSpc>
                <a:spcBef>
                  <a:spcPct val="0"/>
                </a:spcBef>
              </a:pPr>
              <a:r>
                <a:rPr lang="en-US" sz="3200">
                  <a:solidFill>
                    <a:srgbClr val="000000"/>
                  </a:solidFill>
                  <a:latin typeface="Agrandir"/>
                  <a:ea typeface="Agrandir"/>
                  <a:cs typeface="Agrandir"/>
                  <a:sym typeface="Agrandir"/>
                </a:rPr>
                <a:t>Người dùng phải luôn biết mình đang ở đâu, đang làm gì và tiến độ học tập như thế nào</a:t>
              </a:r>
            </a:p>
          </p:txBody>
        </p:sp>
        <p:sp>
          <p:nvSpPr>
            <p:cNvPr name="Freeform 16" id="16"/>
            <p:cNvSpPr/>
            <p:nvPr/>
          </p:nvSpPr>
          <p:spPr>
            <a:xfrm flipH="false" flipV="false" rot="0">
              <a:off x="0" y="245016"/>
              <a:ext cx="1094484" cy="837778"/>
            </a:xfrm>
            <a:custGeom>
              <a:avLst/>
              <a:gdLst/>
              <a:ahLst/>
              <a:cxnLst/>
              <a:rect r="r" b="b" t="t" l="l"/>
              <a:pathLst>
                <a:path h="837778" w="1094484">
                  <a:moveTo>
                    <a:pt x="0" y="0"/>
                  </a:moveTo>
                  <a:lnTo>
                    <a:pt x="1094484" y="0"/>
                  </a:lnTo>
                  <a:lnTo>
                    <a:pt x="1094484" y="837778"/>
                  </a:lnTo>
                  <a:lnTo>
                    <a:pt x="0" y="837778"/>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grpSp>
      <p:grpSp>
        <p:nvGrpSpPr>
          <p:cNvPr name="Group 17" id="17"/>
          <p:cNvGrpSpPr/>
          <p:nvPr/>
        </p:nvGrpSpPr>
        <p:grpSpPr>
          <a:xfrm rot="0">
            <a:off x="3690744" y="6655639"/>
            <a:ext cx="14812651" cy="628334"/>
            <a:chOff x="0" y="0"/>
            <a:chExt cx="19750202" cy="837778"/>
          </a:xfrm>
        </p:grpSpPr>
        <p:sp>
          <p:nvSpPr>
            <p:cNvPr name="TextBox 18" id="18"/>
            <p:cNvSpPr txBox="true"/>
            <p:nvPr/>
          </p:nvSpPr>
          <p:spPr>
            <a:xfrm rot="0">
              <a:off x="1648564" y="-44449"/>
              <a:ext cx="18101638" cy="783802"/>
            </a:xfrm>
            <a:prstGeom prst="rect">
              <a:avLst/>
            </a:prstGeom>
          </p:spPr>
          <p:txBody>
            <a:bodyPr anchor="t" rtlCol="false" tIns="0" lIns="0" bIns="0" rIns="0">
              <a:spAutoFit/>
            </a:bodyPr>
            <a:lstStyle/>
            <a:p>
              <a:pPr algn="just">
                <a:lnSpc>
                  <a:spcPts val="4480"/>
                </a:lnSpc>
                <a:spcBef>
                  <a:spcPct val="0"/>
                </a:spcBef>
              </a:pPr>
              <a:r>
                <a:rPr lang="en-US" sz="3200">
                  <a:solidFill>
                    <a:srgbClr val="000000"/>
                  </a:solidFill>
                  <a:latin typeface="Agrandir"/>
                  <a:ea typeface="Agrandir"/>
                  <a:cs typeface="Agrandir"/>
                  <a:sym typeface="Agrandir"/>
                </a:rPr>
                <a:t>Hệ thống cần hiển thị rõ ràng quá trình học tập</a:t>
              </a:r>
            </a:p>
          </p:txBody>
        </p:sp>
        <p:sp>
          <p:nvSpPr>
            <p:cNvPr name="Freeform 19" id="19"/>
            <p:cNvSpPr/>
            <p:nvPr/>
          </p:nvSpPr>
          <p:spPr>
            <a:xfrm flipH="false" flipV="false" rot="0">
              <a:off x="0" y="0"/>
              <a:ext cx="1094484" cy="837778"/>
            </a:xfrm>
            <a:custGeom>
              <a:avLst/>
              <a:gdLst/>
              <a:ahLst/>
              <a:cxnLst/>
              <a:rect r="r" b="b" t="t" l="l"/>
              <a:pathLst>
                <a:path h="837778" w="1094484">
                  <a:moveTo>
                    <a:pt x="0" y="0"/>
                  </a:moveTo>
                  <a:lnTo>
                    <a:pt x="1094484" y="0"/>
                  </a:lnTo>
                  <a:lnTo>
                    <a:pt x="1094484" y="837778"/>
                  </a:lnTo>
                  <a:lnTo>
                    <a:pt x="0" y="837778"/>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grpSp>
      <p:sp>
        <p:nvSpPr>
          <p:cNvPr name="TextBox 20" id="20"/>
          <p:cNvSpPr txBox="true"/>
          <p:nvPr/>
        </p:nvSpPr>
        <p:spPr>
          <a:xfrm rot="0">
            <a:off x="4186428" y="3080829"/>
            <a:ext cx="11302925" cy="1350274"/>
          </a:xfrm>
          <a:prstGeom prst="rect">
            <a:avLst/>
          </a:prstGeom>
        </p:spPr>
        <p:txBody>
          <a:bodyPr anchor="t" rtlCol="false" tIns="0" lIns="0" bIns="0" rIns="0">
            <a:spAutoFit/>
          </a:bodyPr>
          <a:lstStyle/>
          <a:p>
            <a:pPr algn="l">
              <a:lnSpc>
                <a:spcPts val="9575"/>
              </a:lnSpc>
              <a:spcBef>
                <a:spcPct val="0"/>
              </a:spcBef>
            </a:pPr>
            <a:r>
              <a:rPr lang="en-US" b="true" sz="6839">
                <a:solidFill>
                  <a:srgbClr val="0F28EC"/>
                </a:solidFill>
                <a:latin typeface="Agrandir Bold"/>
                <a:ea typeface="Agrandir Bold"/>
                <a:cs typeface="Agrandir Bold"/>
                <a:sym typeface="Agrandir Bold"/>
              </a:rPr>
              <a:t>Visibility of System Status</a:t>
            </a:r>
          </a:p>
        </p:txBody>
      </p:sp>
    </p:spTree>
  </p:cSld>
  <p:clrMapOvr>
    <a:masterClrMapping/>
  </p:clrMapOvr>
</p:sld>
</file>

<file path=ppt/slides/slide18.xml><?xml version="1.0" encoding="utf-8"?>
<p:sld xmlns:p="http://schemas.openxmlformats.org/presentationml/2006/main" xmlns:a="http://schemas.openxmlformats.org/drawingml/2006/main" xmlns:r="http://schemas.openxmlformats.org/officeDocument/2006/relationships">
  <p:cSld>
    <p:bg>
      <p:bgPr>
        <a:solidFill>
          <a:srgbClr val="C7D3FF"/>
        </a:solidFill>
      </p:bgPr>
    </p:bg>
    <p:spTree>
      <p:nvGrpSpPr>
        <p:cNvPr id="1" name=""/>
        <p:cNvGrpSpPr/>
        <p:nvPr/>
      </p:nvGrpSpPr>
      <p:grpSpPr>
        <a:xfrm>
          <a:off x="0" y="0"/>
          <a:ext cx="0" cy="0"/>
          <a:chOff x="0" y="0"/>
          <a:chExt cx="0" cy="0"/>
        </a:xfrm>
      </p:grpSpPr>
      <p:grpSp>
        <p:nvGrpSpPr>
          <p:cNvPr name="Group 2" id="2"/>
          <p:cNvGrpSpPr/>
          <p:nvPr/>
        </p:nvGrpSpPr>
        <p:grpSpPr>
          <a:xfrm rot="0">
            <a:off x="-217699" y="525326"/>
            <a:ext cx="17904046" cy="1338906"/>
            <a:chOff x="0" y="0"/>
            <a:chExt cx="4715469" cy="352634"/>
          </a:xfrm>
        </p:grpSpPr>
        <p:sp>
          <p:nvSpPr>
            <p:cNvPr name="Freeform 3" id="3"/>
            <p:cNvSpPr/>
            <p:nvPr/>
          </p:nvSpPr>
          <p:spPr>
            <a:xfrm flipH="false" flipV="false" rot="0">
              <a:off x="0" y="0"/>
              <a:ext cx="4715469" cy="352634"/>
            </a:xfrm>
            <a:custGeom>
              <a:avLst/>
              <a:gdLst/>
              <a:ahLst/>
              <a:cxnLst/>
              <a:rect r="r" b="b" t="t" l="l"/>
              <a:pathLst>
                <a:path h="352634" w="4715469">
                  <a:moveTo>
                    <a:pt x="0" y="0"/>
                  </a:moveTo>
                  <a:lnTo>
                    <a:pt x="4715469" y="0"/>
                  </a:lnTo>
                  <a:lnTo>
                    <a:pt x="4715469" y="352634"/>
                  </a:lnTo>
                  <a:lnTo>
                    <a:pt x="0" y="352634"/>
                  </a:lnTo>
                  <a:close/>
                </a:path>
              </a:pathLst>
            </a:custGeom>
            <a:solidFill>
              <a:srgbClr val="1022B1"/>
            </a:solidFill>
          </p:spPr>
        </p:sp>
        <p:sp>
          <p:nvSpPr>
            <p:cNvPr name="TextBox 4" id="4"/>
            <p:cNvSpPr txBox="true"/>
            <p:nvPr/>
          </p:nvSpPr>
          <p:spPr>
            <a:xfrm>
              <a:off x="0" y="-85725"/>
              <a:ext cx="4715469" cy="438359"/>
            </a:xfrm>
            <a:prstGeom prst="rect">
              <a:avLst/>
            </a:prstGeom>
          </p:spPr>
          <p:txBody>
            <a:bodyPr anchor="ctr" rtlCol="false" tIns="50800" lIns="50800" bIns="50800" rIns="50800"/>
            <a:lstStyle/>
            <a:p>
              <a:pPr algn="ctr">
                <a:lnSpc>
                  <a:spcPts val="2659"/>
                </a:lnSpc>
              </a:pPr>
            </a:p>
          </p:txBody>
        </p:sp>
      </p:grpSp>
      <p:grpSp>
        <p:nvGrpSpPr>
          <p:cNvPr name="Group 5" id="5"/>
          <p:cNvGrpSpPr/>
          <p:nvPr/>
        </p:nvGrpSpPr>
        <p:grpSpPr>
          <a:xfrm rot="0">
            <a:off x="15958661" y="-1019379"/>
            <a:ext cx="3853113" cy="3853113"/>
            <a:chOff x="0" y="0"/>
            <a:chExt cx="812800" cy="812800"/>
          </a:xfrm>
        </p:grpSpPr>
        <p:sp>
          <p:nvSpPr>
            <p:cNvPr name="Freeform 6" id="6"/>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F28EC"/>
            </a:solidFill>
          </p:spPr>
        </p:sp>
        <p:sp>
          <p:nvSpPr>
            <p:cNvPr name="TextBox 7" id="7"/>
            <p:cNvSpPr txBox="true"/>
            <p:nvPr/>
          </p:nvSpPr>
          <p:spPr>
            <a:xfrm>
              <a:off x="76200" y="38100"/>
              <a:ext cx="660400" cy="698500"/>
            </a:xfrm>
            <a:prstGeom prst="rect">
              <a:avLst/>
            </a:prstGeom>
          </p:spPr>
          <p:txBody>
            <a:bodyPr anchor="ctr" rtlCol="false" tIns="50800" lIns="50800" bIns="50800" rIns="50800"/>
            <a:lstStyle/>
            <a:p>
              <a:pPr algn="ctr">
                <a:lnSpc>
                  <a:spcPts val="2659"/>
                </a:lnSpc>
                <a:spcBef>
                  <a:spcPct val="0"/>
                </a:spcBef>
              </a:pPr>
            </a:p>
          </p:txBody>
        </p:sp>
      </p:grpSp>
      <p:sp>
        <p:nvSpPr>
          <p:cNvPr name="Freeform 8" id="8"/>
          <p:cNvSpPr/>
          <p:nvPr/>
        </p:nvSpPr>
        <p:spPr>
          <a:xfrm flipH="false" flipV="false" rot="0">
            <a:off x="17259300" y="1052847"/>
            <a:ext cx="427047" cy="427047"/>
          </a:xfrm>
          <a:custGeom>
            <a:avLst/>
            <a:gdLst/>
            <a:ahLst/>
            <a:cxnLst/>
            <a:rect r="r" b="b" t="t" l="l"/>
            <a:pathLst>
              <a:path h="427047" w="427047">
                <a:moveTo>
                  <a:pt x="0" y="0"/>
                </a:moveTo>
                <a:lnTo>
                  <a:pt x="427047" y="0"/>
                </a:lnTo>
                <a:lnTo>
                  <a:pt x="427047" y="427047"/>
                </a:lnTo>
                <a:lnTo>
                  <a:pt x="0" y="427047"/>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9" id="9"/>
          <p:cNvGrpSpPr/>
          <p:nvPr/>
        </p:nvGrpSpPr>
        <p:grpSpPr>
          <a:xfrm rot="0">
            <a:off x="17509719" y="9508719"/>
            <a:ext cx="778281" cy="778281"/>
            <a:chOff x="0" y="0"/>
            <a:chExt cx="204979" cy="204979"/>
          </a:xfrm>
        </p:grpSpPr>
        <p:sp>
          <p:nvSpPr>
            <p:cNvPr name="Freeform 10" id="10"/>
            <p:cNvSpPr/>
            <p:nvPr/>
          </p:nvSpPr>
          <p:spPr>
            <a:xfrm flipH="false" flipV="false" rot="0">
              <a:off x="0" y="0"/>
              <a:ext cx="204979" cy="204979"/>
            </a:xfrm>
            <a:custGeom>
              <a:avLst/>
              <a:gdLst/>
              <a:ahLst/>
              <a:cxnLst/>
              <a:rect r="r" b="b" t="t" l="l"/>
              <a:pathLst>
                <a:path h="204979" w="204979">
                  <a:moveTo>
                    <a:pt x="0" y="0"/>
                  </a:moveTo>
                  <a:lnTo>
                    <a:pt x="204979" y="0"/>
                  </a:lnTo>
                  <a:lnTo>
                    <a:pt x="204979" y="204979"/>
                  </a:lnTo>
                  <a:lnTo>
                    <a:pt x="0" y="204979"/>
                  </a:lnTo>
                  <a:close/>
                </a:path>
              </a:pathLst>
            </a:custGeom>
            <a:solidFill>
              <a:srgbClr val="0F28EC"/>
            </a:solidFill>
          </p:spPr>
        </p:sp>
        <p:sp>
          <p:nvSpPr>
            <p:cNvPr name="TextBox 11" id="11"/>
            <p:cNvSpPr txBox="true"/>
            <p:nvPr/>
          </p:nvSpPr>
          <p:spPr>
            <a:xfrm>
              <a:off x="0" y="-85725"/>
              <a:ext cx="204979" cy="290704"/>
            </a:xfrm>
            <a:prstGeom prst="rect">
              <a:avLst/>
            </a:prstGeom>
          </p:spPr>
          <p:txBody>
            <a:bodyPr anchor="ctr" rtlCol="false" tIns="50800" lIns="50800" bIns="50800" rIns="50800"/>
            <a:lstStyle/>
            <a:p>
              <a:pPr algn="ctr">
                <a:lnSpc>
                  <a:spcPts val="2659"/>
                </a:lnSpc>
              </a:pPr>
            </a:p>
          </p:txBody>
        </p:sp>
      </p:grpSp>
      <p:sp>
        <p:nvSpPr>
          <p:cNvPr name="TextBox 12" id="12"/>
          <p:cNvSpPr txBox="true"/>
          <p:nvPr/>
        </p:nvSpPr>
        <p:spPr>
          <a:xfrm rot="0">
            <a:off x="17736317" y="9669577"/>
            <a:ext cx="382236" cy="370840"/>
          </a:xfrm>
          <a:prstGeom prst="rect">
            <a:avLst/>
          </a:prstGeom>
        </p:spPr>
        <p:txBody>
          <a:bodyPr anchor="t" rtlCol="false" tIns="0" lIns="0" bIns="0" rIns="0">
            <a:spAutoFit/>
          </a:bodyPr>
          <a:lstStyle/>
          <a:p>
            <a:pPr algn="l">
              <a:lnSpc>
                <a:spcPts val="2659"/>
              </a:lnSpc>
              <a:spcBef>
                <a:spcPct val="0"/>
              </a:spcBef>
            </a:pPr>
            <a:r>
              <a:rPr lang="en-US" b="true" sz="1899">
                <a:solidFill>
                  <a:srgbClr val="FFFFFF"/>
                </a:solidFill>
                <a:latin typeface="Agrandir Bold"/>
                <a:ea typeface="Agrandir Bold"/>
                <a:cs typeface="Agrandir Bold"/>
                <a:sym typeface="Agrandir Bold"/>
              </a:rPr>
              <a:t>05</a:t>
            </a:r>
          </a:p>
        </p:txBody>
      </p:sp>
      <p:sp>
        <p:nvSpPr>
          <p:cNvPr name="TextBox 13" id="13"/>
          <p:cNvSpPr txBox="true"/>
          <p:nvPr/>
        </p:nvSpPr>
        <p:spPr>
          <a:xfrm rot="0">
            <a:off x="561398" y="397611"/>
            <a:ext cx="14179543" cy="1350274"/>
          </a:xfrm>
          <a:prstGeom prst="rect">
            <a:avLst/>
          </a:prstGeom>
        </p:spPr>
        <p:txBody>
          <a:bodyPr anchor="t" rtlCol="false" tIns="0" lIns="0" bIns="0" rIns="0">
            <a:spAutoFit/>
          </a:bodyPr>
          <a:lstStyle/>
          <a:p>
            <a:pPr algn="l">
              <a:lnSpc>
                <a:spcPts val="9575"/>
              </a:lnSpc>
              <a:spcBef>
                <a:spcPct val="0"/>
              </a:spcBef>
            </a:pPr>
            <a:r>
              <a:rPr lang="en-US" b="true" sz="6839">
                <a:solidFill>
                  <a:srgbClr val="FFFFFF"/>
                </a:solidFill>
                <a:latin typeface="Agrandir Bold"/>
                <a:ea typeface="Agrandir Bold"/>
                <a:cs typeface="Agrandir Bold"/>
                <a:sym typeface="Agrandir Bold"/>
              </a:rPr>
              <a:t>3. Nguyên lý thiết kế tương tác</a:t>
            </a:r>
          </a:p>
        </p:txBody>
      </p:sp>
      <p:grpSp>
        <p:nvGrpSpPr>
          <p:cNvPr name="Group 14" id="14"/>
          <p:cNvGrpSpPr/>
          <p:nvPr/>
        </p:nvGrpSpPr>
        <p:grpSpPr>
          <a:xfrm rot="0">
            <a:off x="3690744" y="5143500"/>
            <a:ext cx="12267916" cy="2801454"/>
            <a:chOff x="0" y="0"/>
            <a:chExt cx="16357222" cy="3735272"/>
          </a:xfrm>
        </p:grpSpPr>
        <p:sp>
          <p:nvSpPr>
            <p:cNvPr name="TextBox 15" id="15"/>
            <p:cNvSpPr txBox="true"/>
            <p:nvPr/>
          </p:nvSpPr>
          <p:spPr>
            <a:xfrm rot="0">
              <a:off x="1593284" y="-44449"/>
              <a:ext cx="14763938" cy="783802"/>
            </a:xfrm>
            <a:prstGeom prst="rect">
              <a:avLst/>
            </a:prstGeom>
          </p:spPr>
          <p:txBody>
            <a:bodyPr anchor="t" rtlCol="false" tIns="0" lIns="0" bIns="0" rIns="0">
              <a:spAutoFit/>
            </a:bodyPr>
            <a:lstStyle/>
            <a:p>
              <a:pPr algn="just">
                <a:lnSpc>
                  <a:spcPts val="4480"/>
                </a:lnSpc>
                <a:spcBef>
                  <a:spcPct val="0"/>
                </a:spcBef>
              </a:pPr>
              <a:r>
                <a:rPr lang="en-US" sz="3200">
                  <a:solidFill>
                    <a:srgbClr val="000000"/>
                  </a:solidFill>
                  <a:latin typeface="Agrandir"/>
                  <a:ea typeface="Agrandir"/>
                  <a:cs typeface="Agrandir"/>
                  <a:sym typeface="Agrandir"/>
                </a:rPr>
                <a:t>Mọi hành động cần được phản hồi nhanh chóng</a:t>
              </a:r>
            </a:p>
          </p:txBody>
        </p:sp>
        <p:sp>
          <p:nvSpPr>
            <p:cNvPr name="Freeform 16" id="16"/>
            <p:cNvSpPr/>
            <p:nvPr/>
          </p:nvSpPr>
          <p:spPr>
            <a:xfrm flipH="false" flipV="false" rot="0">
              <a:off x="0" y="0"/>
              <a:ext cx="1094484" cy="837778"/>
            </a:xfrm>
            <a:custGeom>
              <a:avLst/>
              <a:gdLst/>
              <a:ahLst/>
              <a:cxnLst/>
              <a:rect r="r" b="b" t="t" l="l"/>
              <a:pathLst>
                <a:path h="837778" w="1094484">
                  <a:moveTo>
                    <a:pt x="0" y="0"/>
                  </a:moveTo>
                  <a:lnTo>
                    <a:pt x="1094484" y="0"/>
                  </a:lnTo>
                  <a:lnTo>
                    <a:pt x="1094484" y="837778"/>
                  </a:lnTo>
                  <a:lnTo>
                    <a:pt x="0" y="837778"/>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17" id="17"/>
            <p:cNvSpPr txBox="true"/>
            <p:nvPr/>
          </p:nvSpPr>
          <p:spPr>
            <a:xfrm rot="0">
              <a:off x="1648564" y="1402929"/>
              <a:ext cx="13938547" cy="783802"/>
            </a:xfrm>
            <a:prstGeom prst="rect">
              <a:avLst/>
            </a:prstGeom>
          </p:spPr>
          <p:txBody>
            <a:bodyPr anchor="t" rtlCol="false" tIns="0" lIns="0" bIns="0" rIns="0">
              <a:spAutoFit/>
            </a:bodyPr>
            <a:lstStyle/>
            <a:p>
              <a:pPr algn="just">
                <a:lnSpc>
                  <a:spcPts val="4480"/>
                </a:lnSpc>
                <a:spcBef>
                  <a:spcPct val="0"/>
                </a:spcBef>
              </a:pPr>
              <a:r>
                <a:rPr lang="en-US" sz="3200">
                  <a:solidFill>
                    <a:srgbClr val="000000"/>
                  </a:solidFill>
                  <a:latin typeface="Agrandir"/>
                  <a:ea typeface="Agrandir"/>
                  <a:cs typeface="Agrandir"/>
                  <a:sym typeface="Agrandir"/>
                </a:rPr>
                <a:t>Khi học xong bài học phải có phương pháp để đánh giá</a:t>
              </a:r>
            </a:p>
          </p:txBody>
        </p:sp>
        <p:sp>
          <p:nvSpPr>
            <p:cNvPr name="Freeform 18" id="18"/>
            <p:cNvSpPr/>
            <p:nvPr/>
          </p:nvSpPr>
          <p:spPr>
            <a:xfrm flipH="false" flipV="false" rot="0">
              <a:off x="0" y="1447378"/>
              <a:ext cx="1094484" cy="837778"/>
            </a:xfrm>
            <a:custGeom>
              <a:avLst/>
              <a:gdLst/>
              <a:ahLst/>
              <a:cxnLst/>
              <a:rect r="r" b="b" t="t" l="l"/>
              <a:pathLst>
                <a:path h="837778" w="1094484">
                  <a:moveTo>
                    <a:pt x="0" y="0"/>
                  </a:moveTo>
                  <a:lnTo>
                    <a:pt x="1094484" y="0"/>
                  </a:lnTo>
                  <a:lnTo>
                    <a:pt x="1094484" y="837778"/>
                  </a:lnTo>
                  <a:lnTo>
                    <a:pt x="0" y="837778"/>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19" id="19"/>
            <p:cNvSpPr txBox="true"/>
            <p:nvPr/>
          </p:nvSpPr>
          <p:spPr>
            <a:xfrm rot="0">
              <a:off x="1648564" y="2853045"/>
              <a:ext cx="14642451" cy="783802"/>
            </a:xfrm>
            <a:prstGeom prst="rect">
              <a:avLst/>
            </a:prstGeom>
          </p:spPr>
          <p:txBody>
            <a:bodyPr anchor="t" rtlCol="false" tIns="0" lIns="0" bIns="0" rIns="0">
              <a:spAutoFit/>
            </a:bodyPr>
            <a:lstStyle/>
            <a:p>
              <a:pPr algn="just">
                <a:lnSpc>
                  <a:spcPts val="4480"/>
                </a:lnSpc>
                <a:spcBef>
                  <a:spcPct val="0"/>
                </a:spcBef>
              </a:pPr>
              <a:r>
                <a:rPr lang="en-US" sz="3200">
                  <a:solidFill>
                    <a:srgbClr val="000000"/>
                  </a:solidFill>
                  <a:latin typeface="Agrandir"/>
                  <a:ea typeface="Agrandir"/>
                  <a:cs typeface="Agrandir"/>
                  <a:sym typeface="Agrandir"/>
                </a:rPr>
                <a:t>Giúp tăng động lực, giảm nhầm lẫn, tăng khả năng ghi nhớ</a:t>
              </a:r>
            </a:p>
          </p:txBody>
        </p:sp>
        <p:sp>
          <p:nvSpPr>
            <p:cNvPr name="Freeform 20" id="20"/>
            <p:cNvSpPr/>
            <p:nvPr/>
          </p:nvSpPr>
          <p:spPr>
            <a:xfrm flipH="false" flipV="false" rot="0">
              <a:off x="0" y="2897494"/>
              <a:ext cx="1094484" cy="837778"/>
            </a:xfrm>
            <a:custGeom>
              <a:avLst/>
              <a:gdLst/>
              <a:ahLst/>
              <a:cxnLst/>
              <a:rect r="r" b="b" t="t" l="l"/>
              <a:pathLst>
                <a:path h="837778" w="1094484">
                  <a:moveTo>
                    <a:pt x="0" y="0"/>
                  </a:moveTo>
                  <a:lnTo>
                    <a:pt x="1094484" y="0"/>
                  </a:lnTo>
                  <a:lnTo>
                    <a:pt x="1094484" y="837778"/>
                  </a:lnTo>
                  <a:lnTo>
                    <a:pt x="0" y="837778"/>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grpSp>
      <p:sp>
        <p:nvSpPr>
          <p:cNvPr name="TextBox 21" id="21"/>
          <p:cNvSpPr txBox="true"/>
          <p:nvPr/>
        </p:nvSpPr>
        <p:spPr>
          <a:xfrm rot="0">
            <a:off x="4752023" y="3246749"/>
            <a:ext cx="8783954" cy="1350274"/>
          </a:xfrm>
          <a:prstGeom prst="rect">
            <a:avLst/>
          </a:prstGeom>
        </p:spPr>
        <p:txBody>
          <a:bodyPr anchor="t" rtlCol="false" tIns="0" lIns="0" bIns="0" rIns="0">
            <a:spAutoFit/>
          </a:bodyPr>
          <a:lstStyle/>
          <a:p>
            <a:pPr algn="l">
              <a:lnSpc>
                <a:spcPts val="9575"/>
              </a:lnSpc>
              <a:spcBef>
                <a:spcPct val="0"/>
              </a:spcBef>
            </a:pPr>
            <a:r>
              <a:rPr lang="en-US" b="true" sz="6839">
                <a:solidFill>
                  <a:srgbClr val="0F28EC"/>
                </a:solidFill>
                <a:latin typeface="Agrandir Bold"/>
                <a:ea typeface="Agrandir Bold"/>
                <a:cs typeface="Agrandir Bold"/>
                <a:sym typeface="Agrandir Bold"/>
              </a:rPr>
              <a:t>Immediate Feedback</a:t>
            </a:r>
          </a:p>
        </p:txBody>
      </p:sp>
    </p:spTree>
  </p:cSld>
  <p:clrMapOvr>
    <a:masterClrMapping/>
  </p:clrMapOvr>
</p:sld>
</file>

<file path=ppt/slides/slide19.xml><?xml version="1.0" encoding="utf-8"?>
<p:sld xmlns:p="http://schemas.openxmlformats.org/presentationml/2006/main" xmlns:a="http://schemas.openxmlformats.org/drawingml/2006/main" xmlns:r="http://schemas.openxmlformats.org/officeDocument/2006/relationships">
  <p:cSld>
    <p:bg>
      <p:bgPr>
        <a:solidFill>
          <a:srgbClr val="C7D3FF"/>
        </a:solidFill>
      </p:bgPr>
    </p:bg>
    <p:spTree>
      <p:nvGrpSpPr>
        <p:cNvPr id="1" name=""/>
        <p:cNvGrpSpPr/>
        <p:nvPr/>
      </p:nvGrpSpPr>
      <p:grpSpPr>
        <a:xfrm>
          <a:off x="0" y="0"/>
          <a:ext cx="0" cy="0"/>
          <a:chOff x="0" y="0"/>
          <a:chExt cx="0" cy="0"/>
        </a:xfrm>
      </p:grpSpPr>
      <p:grpSp>
        <p:nvGrpSpPr>
          <p:cNvPr name="Group 2" id="2"/>
          <p:cNvGrpSpPr/>
          <p:nvPr/>
        </p:nvGrpSpPr>
        <p:grpSpPr>
          <a:xfrm rot="0">
            <a:off x="-217699" y="525326"/>
            <a:ext cx="17904046" cy="1338906"/>
            <a:chOff x="0" y="0"/>
            <a:chExt cx="4715469" cy="352634"/>
          </a:xfrm>
        </p:grpSpPr>
        <p:sp>
          <p:nvSpPr>
            <p:cNvPr name="Freeform 3" id="3"/>
            <p:cNvSpPr/>
            <p:nvPr/>
          </p:nvSpPr>
          <p:spPr>
            <a:xfrm flipH="false" flipV="false" rot="0">
              <a:off x="0" y="0"/>
              <a:ext cx="4715469" cy="352634"/>
            </a:xfrm>
            <a:custGeom>
              <a:avLst/>
              <a:gdLst/>
              <a:ahLst/>
              <a:cxnLst/>
              <a:rect r="r" b="b" t="t" l="l"/>
              <a:pathLst>
                <a:path h="352634" w="4715469">
                  <a:moveTo>
                    <a:pt x="0" y="0"/>
                  </a:moveTo>
                  <a:lnTo>
                    <a:pt x="4715469" y="0"/>
                  </a:lnTo>
                  <a:lnTo>
                    <a:pt x="4715469" y="352634"/>
                  </a:lnTo>
                  <a:lnTo>
                    <a:pt x="0" y="352634"/>
                  </a:lnTo>
                  <a:close/>
                </a:path>
              </a:pathLst>
            </a:custGeom>
            <a:solidFill>
              <a:srgbClr val="1022B1"/>
            </a:solidFill>
          </p:spPr>
        </p:sp>
        <p:sp>
          <p:nvSpPr>
            <p:cNvPr name="TextBox 4" id="4"/>
            <p:cNvSpPr txBox="true"/>
            <p:nvPr/>
          </p:nvSpPr>
          <p:spPr>
            <a:xfrm>
              <a:off x="0" y="-85725"/>
              <a:ext cx="4715469" cy="438359"/>
            </a:xfrm>
            <a:prstGeom prst="rect">
              <a:avLst/>
            </a:prstGeom>
          </p:spPr>
          <p:txBody>
            <a:bodyPr anchor="ctr" rtlCol="false" tIns="50800" lIns="50800" bIns="50800" rIns="50800"/>
            <a:lstStyle/>
            <a:p>
              <a:pPr algn="ctr">
                <a:lnSpc>
                  <a:spcPts val="2659"/>
                </a:lnSpc>
              </a:pPr>
            </a:p>
          </p:txBody>
        </p:sp>
      </p:grpSp>
      <p:grpSp>
        <p:nvGrpSpPr>
          <p:cNvPr name="Group 5" id="5"/>
          <p:cNvGrpSpPr/>
          <p:nvPr/>
        </p:nvGrpSpPr>
        <p:grpSpPr>
          <a:xfrm rot="0">
            <a:off x="15958661" y="-1019379"/>
            <a:ext cx="3853113" cy="3853113"/>
            <a:chOff x="0" y="0"/>
            <a:chExt cx="812800" cy="812800"/>
          </a:xfrm>
        </p:grpSpPr>
        <p:sp>
          <p:nvSpPr>
            <p:cNvPr name="Freeform 6" id="6"/>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F28EC"/>
            </a:solidFill>
          </p:spPr>
        </p:sp>
        <p:sp>
          <p:nvSpPr>
            <p:cNvPr name="TextBox 7" id="7"/>
            <p:cNvSpPr txBox="true"/>
            <p:nvPr/>
          </p:nvSpPr>
          <p:spPr>
            <a:xfrm>
              <a:off x="76200" y="38100"/>
              <a:ext cx="660400" cy="698500"/>
            </a:xfrm>
            <a:prstGeom prst="rect">
              <a:avLst/>
            </a:prstGeom>
          </p:spPr>
          <p:txBody>
            <a:bodyPr anchor="ctr" rtlCol="false" tIns="50800" lIns="50800" bIns="50800" rIns="50800"/>
            <a:lstStyle/>
            <a:p>
              <a:pPr algn="ctr">
                <a:lnSpc>
                  <a:spcPts val="2659"/>
                </a:lnSpc>
                <a:spcBef>
                  <a:spcPct val="0"/>
                </a:spcBef>
              </a:pPr>
            </a:p>
          </p:txBody>
        </p:sp>
      </p:grpSp>
      <p:sp>
        <p:nvSpPr>
          <p:cNvPr name="Freeform 8" id="8"/>
          <p:cNvSpPr/>
          <p:nvPr/>
        </p:nvSpPr>
        <p:spPr>
          <a:xfrm flipH="false" flipV="false" rot="0">
            <a:off x="17259300" y="1052847"/>
            <a:ext cx="427047" cy="427047"/>
          </a:xfrm>
          <a:custGeom>
            <a:avLst/>
            <a:gdLst/>
            <a:ahLst/>
            <a:cxnLst/>
            <a:rect r="r" b="b" t="t" l="l"/>
            <a:pathLst>
              <a:path h="427047" w="427047">
                <a:moveTo>
                  <a:pt x="0" y="0"/>
                </a:moveTo>
                <a:lnTo>
                  <a:pt x="427047" y="0"/>
                </a:lnTo>
                <a:lnTo>
                  <a:pt x="427047" y="427047"/>
                </a:lnTo>
                <a:lnTo>
                  <a:pt x="0" y="427047"/>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9" id="9"/>
          <p:cNvGrpSpPr/>
          <p:nvPr/>
        </p:nvGrpSpPr>
        <p:grpSpPr>
          <a:xfrm rot="0">
            <a:off x="17509719" y="9508719"/>
            <a:ext cx="778281" cy="778281"/>
            <a:chOff x="0" y="0"/>
            <a:chExt cx="204979" cy="204979"/>
          </a:xfrm>
        </p:grpSpPr>
        <p:sp>
          <p:nvSpPr>
            <p:cNvPr name="Freeform 10" id="10"/>
            <p:cNvSpPr/>
            <p:nvPr/>
          </p:nvSpPr>
          <p:spPr>
            <a:xfrm flipH="false" flipV="false" rot="0">
              <a:off x="0" y="0"/>
              <a:ext cx="204979" cy="204979"/>
            </a:xfrm>
            <a:custGeom>
              <a:avLst/>
              <a:gdLst/>
              <a:ahLst/>
              <a:cxnLst/>
              <a:rect r="r" b="b" t="t" l="l"/>
              <a:pathLst>
                <a:path h="204979" w="204979">
                  <a:moveTo>
                    <a:pt x="0" y="0"/>
                  </a:moveTo>
                  <a:lnTo>
                    <a:pt x="204979" y="0"/>
                  </a:lnTo>
                  <a:lnTo>
                    <a:pt x="204979" y="204979"/>
                  </a:lnTo>
                  <a:lnTo>
                    <a:pt x="0" y="204979"/>
                  </a:lnTo>
                  <a:close/>
                </a:path>
              </a:pathLst>
            </a:custGeom>
            <a:solidFill>
              <a:srgbClr val="0F28EC"/>
            </a:solidFill>
          </p:spPr>
        </p:sp>
        <p:sp>
          <p:nvSpPr>
            <p:cNvPr name="TextBox 11" id="11"/>
            <p:cNvSpPr txBox="true"/>
            <p:nvPr/>
          </p:nvSpPr>
          <p:spPr>
            <a:xfrm>
              <a:off x="0" y="-85725"/>
              <a:ext cx="204979" cy="290704"/>
            </a:xfrm>
            <a:prstGeom prst="rect">
              <a:avLst/>
            </a:prstGeom>
          </p:spPr>
          <p:txBody>
            <a:bodyPr anchor="ctr" rtlCol="false" tIns="50800" lIns="50800" bIns="50800" rIns="50800"/>
            <a:lstStyle/>
            <a:p>
              <a:pPr algn="ctr">
                <a:lnSpc>
                  <a:spcPts val="2659"/>
                </a:lnSpc>
              </a:pPr>
            </a:p>
          </p:txBody>
        </p:sp>
      </p:grpSp>
      <p:sp>
        <p:nvSpPr>
          <p:cNvPr name="TextBox 12" id="12"/>
          <p:cNvSpPr txBox="true"/>
          <p:nvPr/>
        </p:nvSpPr>
        <p:spPr>
          <a:xfrm rot="0">
            <a:off x="17736317" y="9669577"/>
            <a:ext cx="382236" cy="370840"/>
          </a:xfrm>
          <a:prstGeom prst="rect">
            <a:avLst/>
          </a:prstGeom>
        </p:spPr>
        <p:txBody>
          <a:bodyPr anchor="t" rtlCol="false" tIns="0" lIns="0" bIns="0" rIns="0">
            <a:spAutoFit/>
          </a:bodyPr>
          <a:lstStyle/>
          <a:p>
            <a:pPr algn="l">
              <a:lnSpc>
                <a:spcPts val="2659"/>
              </a:lnSpc>
              <a:spcBef>
                <a:spcPct val="0"/>
              </a:spcBef>
            </a:pPr>
            <a:r>
              <a:rPr lang="en-US" b="true" sz="1899">
                <a:solidFill>
                  <a:srgbClr val="FFFFFF"/>
                </a:solidFill>
                <a:latin typeface="Agrandir Bold"/>
                <a:ea typeface="Agrandir Bold"/>
                <a:cs typeface="Agrandir Bold"/>
                <a:sym typeface="Agrandir Bold"/>
              </a:rPr>
              <a:t>05</a:t>
            </a:r>
          </a:p>
        </p:txBody>
      </p:sp>
      <p:sp>
        <p:nvSpPr>
          <p:cNvPr name="TextBox 13" id="13"/>
          <p:cNvSpPr txBox="true"/>
          <p:nvPr/>
        </p:nvSpPr>
        <p:spPr>
          <a:xfrm rot="0">
            <a:off x="561398" y="397611"/>
            <a:ext cx="14179543" cy="1350274"/>
          </a:xfrm>
          <a:prstGeom prst="rect">
            <a:avLst/>
          </a:prstGeom>
        </p:spPr>
        <p:txBody>
          <a:bodyPr anchor="t" rtlCol="false" tIns="0" lIns="0" bIns="0" rIns="0">
            <a:spAutoFit/>
          </a:bodyPr>
          <a:lstStyle/>
          <a:p>
            <a:pPr algn="l">
              <a:lnSpc>
                <a:spcPts val="9575"/>
              </a:lnSpc>
              <a:spcBef>
                <a:spcPct val="0"/>
              </a:spcBef>
            </a:pPr>
            <a:r>
              <a:rPr lang="en-US" b="true" sz="6839">
                <a:solidFill>
                  <a:srgbClr val="FFFFFF"/>
                </a:solidFill>
                <a:latin typeface="Agrandir Bold"/>
                <a:ea typeface="Agrandir Bold"/>
                <a:cs typeface="Agrandir Bold"/>
                <a:sym typeface="Agrandir Bold"/>
              </a:rPr>
              <a:t>3. Nguyên lý thiết kế tương tác</a:t>
            </a:r>
          </a:p>
        </p:txBody>
      </p:sp>
      <p:grpSp>
        <p:nvGrpSpPr>
          <p:cNvPr name="Group 14" id="14"/>
          <p:cNvGrpSpPr/>
          <p:nvPr/>
        </p:nvGrpSpPr>
        <p:grpSpPr>
          <a:xfrm rot="0">
            <a:off x="3190864" y="5143500"/>
            <a:ext cx="12267916" cy="628334"/>
            <a:chOff x="0" y="0"/>
            <a:chExt cx="16357222" cy="837778"/>
          </a:xfrm>
        </p:grpSpPr>
        <p:sp>
          <p:nvSpPr>
            <p:cNvPr name="TextBox 15" id="15"/>
            <p:cNvSpPr txBox="true"/>
            <p:nvPr/>
          </p:nvSpPr>
          <p:spPr>
            <a:xfrm rot="0">
              <a:off x="1593284" y="-44449"/>
              <a:ext cx="14763938" cy="783802"/>
            </a:xfrm>
            <a:prstGeom prst="rect">
              <a:avLst/>
            </a:prstGeom>
          </p:spPr>
          <p:txBody>
            <a:bodyPr anchor="t" rtlCol="false" tIns="0" lIns="0" bIns="0" rIns="0">
              <a:spAutoFit/>
            </a:bodyPr>
            <a:lstStyle/>
            <a:p>
              <a:pPr algn="just">
                <a:lnSpc>
                  <a:spcPts val="4480"/>
                </a:lnSpc>
                <a:spcBef>
                  <a:spcPct val="0"/>
                </a:spcBef>
              </a:pPr>
              <a:r>
                <a:rPr lang="en-US" sz="3200">
                  <a:solidFill>
                    <a:srgbClr val="000000"/>
                  </a:solidFill>
                  <a:latin typeface="Agrandir"/>
                  <a:ea typeface="Agrandir"/>
                  <a:cs typeface="Agrandir"/>
                  <a:sym typeface="Agrandir"/>
                </a:rPr>
                <a:t>Các thành phần giao diện cần nhất quán</a:t>
              </a:r>
            </a:p>
          </p:txBody>
        </p:sp>
        <p:sp>
          <p:nvSpPr>
            <p:cNvPr name="Freeform 16" id="16"/>
            <p:cNvSpPr/>
            <p:nvPr/>
          </p:nvSpPr>
          <p:spPr>
            <a:xfrm flipH="false" flipV="false" rot="0">
              <a:off x="0" y="0"/>
              <a:ext cx="1094484" cy="837778"/>
            </a:xfrm>
            <a:custGeom>
              <a:avLst/>
              <a:gdLst/>
              <a:ahLst/>
              <a:cxnLst/>
              <a:rect r="r" b="b" t="t" l="l"/>
              <a:pathLst>
                <a:path h="837778" w="1094484">
                  <a:moveTo>
                    <a:pt x="0" y="0"/>
                  </a:moveTo>
                  <a:lnTo>
                    <a:pt x="1094484" y="0"/>
                  </a:lnTo>
                  <a:lnTo>
                    <a:pt x="1094484" y="837778"/>
                  </a:lnTo>
                  <a:lnTo>
                    <a:pt x="0" y="837778"/>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grpSp>
      <p:grpSp>
        <p:nvGrpSpPr>
          <p:cNvPr name="Group 17" id="17"/>
          <p:cNvGrpSpPr/>
          <p:nvPr/>
        </p:nvGrpSpPr>
        <p:grpSpPr>
          <a:xfrm rot="0">
            <a:off x="3190864" y="6166187"/>
            <a:ext cx="12746189" cy="1042670"/>
            <a:chOff x="0" y="0"/>
            <a:chExt cx="16994919" cy="1390227"/>
          </a:xfrm>
        </p:grpSpPr>
        <p:sp>
          <p:nvSpPr>
            <p:cNvPr name="TextBox 18" id="18"/>
            <p:cNvSpPr txBox="true"/>
            <p:nvPr/>
          </p:nvSpPr>
          <p:spPr>
            <a:xfrm rot="0">
              <a:off x="1648564" y="-142875"/>
              <a:ext cx="15346355" cy="1533102"/>
            </a:xfrm>
            <a:prstGeom prst="rect">
              <a:avLst/>
            </a:prstGeom>
          </p:spPr>
          <p:txBody>
            <a:bodyPr anchor="t" rtlCol="false" tIns="0" lIns="0" bIns="0" rIns="0">
              <a:spAutoFit/>
            </a:bodyPr>
            <a:lstStyle/>
            <a:p>
              <a:pPr algn="just">
                <a:lnSpc>
                  <a:spcPts val="4480"/>
                </a:lnSpc>
                <a:spcBef>
                  <a:spcPct val="0"/>
                </a:spcBef>
              </a:pPr>
              <a:r>
                <a:rPr lang="en-US" sz="3200">
                  <a:solidFill>
                    <a:srgbClr val="000000"/>
                  </a:solidFill>
                  <a:latin typeface="Agrandir"/>
                  <a:ea typeface="Agrandir"/>
                  <a:cs typeface="Agrandir"/>
                  <a:sym typeface="Agrandir"/>
                </a:rPr>
                <a:t>Áp dụng cùng màu cho các nút chức năng giống nhau, cùng cách hiển thị bài học</a:t>
              </a:r>
            </a:p>
          </p:txBody>
        </p:sp>
        <p:sp>
          <p:nvSpPr>
            <p:cNvPr name="Freeform 19" id="19"/>
            <p:cNvSpPr/>
            <p:nvPr/>
          </p:nvSpPr>
          <p:spPr>
            <a:xfrm flipH="false" flipV="false" rot="0">
              <a:off x="0" y="274855"/>
              <a:ext cx="1094484" cy="837778"/>
            </a:xfrm>
            <a:custGeom>
              <a:avLst/>
              <a:gdLst/>
              <a:ahLst/>
              <a:cxnLst/>
              <a:rect r="r" b="b" t="t" l="l"/>
              <a:pathLst>
                <a:path h="837778" w="1094484">
                  <a:moveTo>
                    <a:pt x="0" y="0"/>
                  </a:moveTo>
                  <a:lnTo>
                    <a:pt x="1094484" y="0"/>
                  </a:lnTo>
                  <a:lnTo>
                    <a:pt x="1094484" y="837778"/>
                  </a:lnTo>
                  <a:lnTo>
                    <a:pt x="0" y="837778"/>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grpSp>
      <p:grpSp>
        <p:nvGrpSpPr>
          <p:cNvPr name="Group 20" id="20"/>
          <p:cNvGrpSpPr/>
          <p:nvPr/>
        </p:nvGrpSpPr>
        <p:grpSpPr>
          <a:xfrm rot="0">
            <a:off x="3190864" y="7603210"/>
            <a:ext cx="12746189" cy="628334"/>
            <a:chOff x="0" y="0"/>
            <a:chExt cx="16994919" cy="837778"/>
          </a:xfrm>
        </p:grpSpPr>
        <p:sp>
          <p:nvSpPr>
            <p:cNvPr name="TextBox 21" id="21"/>
            <p:cNvSpPr txBox="true"/>
            <p:nvPr/>
          </p:nvSpPr>
          <p:spPr>
            <a:xfrm rot="0">
              <a:off x="1648564" y="-44449"/>
              <a:ext cx="15346355" cy="783802"/>
            </a:xfrm>
            <a:prstGeom prst="rect">
              <a:avLst/>
            </a:prstGeom>
          </p:spPr>
          <p:txBody>
            <a:bodyPr anchor="t" rtlCol="false" tIns="0" lIns="0" bIns="0" rIns="0">
              <a:spAutoFit/>
            </a:bodyPr>
            <a:lstStyle/>
            <a:p>
              <a:pPr algn="just">
                <a:lnSpc>
                  <a:spcPts val="4480"/>
                </a:lnSpc>
                <a:spcBef>
                  <a:spcPct val="0"/>
                </a:spcBef>
              </a:pPr>
              <a:r>
                <a:rPr lang="en-US" sz="3200">
                  <a:solidFill>
                    <a:srgbClr val="000000"/>
                  </a:solidFill>
                  <a:latin typeface="Agrandir"/>
                  <a:ea typeface="Agrandir"/>
                  <a:cs typeface="Agrandir"/>
                  <a:sym typeface="Agrandir"/>
                </a:rPr>
                <a:t>Giúp trẻ em dễ tiếp cận và giảm thời gian làm quen hệ thống</a:t>
              </a:r>
            </a:p>
          </p:txBody>
        </p:sp>
        <p:sp>
          <p:nvSpPr>
            <p:cNvPr name="Freeform 22" id="22"/>
            <p:cNvSpPr/>
            <p:nvPr/>
          </p:nvSpPr>
          <p:spPr>
            <a:xfrm flipH="false" flipV="false" rot="0">
              <a:off x="0" y="0"/>
              <a:ext cx="1094484" cy="837778"/>
            </a:xfrm>
            <a:custGeom>
              <a:avLst/>
              <a:gdLst/>
              <a:ahLst/>
              <a:cxnLst/>
              <a:rect r="r" b="b" t="t" l="l"/>
              <a:pathLst>
                <a:path h="837778" w="1094484">
                  <a:moveTo>
                    <a:pt x="0" y="0"/>
                  </a:moveTo>
                  <a:lnTo>
                    <a:pt x="1094484" y="0"/>
                  </a:lnTo>
                  <a:lnTo>
                    <a:pt x="1094484" y="837778"/>
                  </a:lnTo>
                  <a:lnTo>
                    <a:pt x="0" y="837778"/>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grpSp>
      <p:sp>
        <p:nvSpPr>
          <p:cNvPr name="TextBox 23" id="23"/>
          <p:cNvSpPr txBox="true"/>
          <p:nvPr/>
        </p:nvSpPr>
        <p:spPr>
          <a:xfrm rot="0">
            <a:off x="3371686" y="3124736"/>
            <a:ext cx="11906272" cy="1350274"/>
          </a:xfrm>
          <a:prstGeom prst="rect">
            <a:avLst/>
          </a:prstGeom>
        </p:spPr>
        <p:txBody>
          <a:bodyPr anchor="t" rtlCol="false" tIns="0" lIns="0" bIns="0" rIns="0">
            <a:spAutoFit/>
          </a:bodyPr>
          <a:lstStyle/>
          <a:p>
            <a:pPr algn="l">
              <a:lnSpc>
                <a:spcPts val="9575"/>
              </a:lnSpc>
              <a:spcBef>
                <a:spcPct val="0"/>
              </a:spcBef>
            </a:pPr>
            <a:r>
              <a:rPr lang="en-US" b="true" sz="6839">
                <a:solidFill>
                  <a:srgbClr val="0F28EC"/>
                </a:solidFill>
                <a:latin typeface="Agrandir Bold"/>
                <a:ea typeface="Agrandir Bold"/>
                <a:cs typeface="Agrandir Bold"/>
                <a:sym typeface="Agrandir Bold"/>
              </a:rPr>
              <a:t>Consistency and Standards</a:t>
            </a:r>
          </a:p>
        </p:txBody>
      </p:sp>
    </p:spTree>
  </p:cSld>
  <p:clrMapOvr>
    <a:masterClrMapping/>
  </p:clrMapOvr>
</p:sld>
</file>

<file path=ppt/slides/slide20.xml><?xml version="1.0" encoding="utf-8"?>
<p:sld xmlns:p="http://schemas.openxmlformats.org/presentationml/2006/main" xmlns:a="http://schemas.openxmlformats.org/drawingml/2006/main" xmlns:r="http://schemas.openxmlformats.org/officeDocument/2006/relationships">
  <p:cSld>
    <p:bg>
      <p:bgPr>
        <a:solidFill>
          <a:srgbClr val="C7D3FF"/>
        </a:solidFill>
      </p:bgPr>
    </p:bg>
    <p:spTree>
      <p:nvGrpSpPr>
        <p:cNvPr id="1" name=""/>
        <p:cNvGrpSpPr/>
        <p:nvPr/>
      </p:nvGrpSpPr>
      <p:grpSpPr>
        <a:xfrm>
          <a:off x="0" y="0"/>
          <a:ext cx="0" cy="0"/>
          <a:chOff x="0" y="0"/>
          <a:chExt cx="0" cy="0"/>
        </a:xfrm>
      </p:grpSpPr>
      <p:grpSp>
        <p:nvGrpSpPr>
          <p:cNvPr name="Group 2" id="2"/>
          <p:cNvGrpSpPr/>
          <p:nvPr/>
        </p:nvGrpSpPr>
        <p:grpSpPr>
          <a:xfrm rot="0">
            <a:off x="-217699" y="525326"/>
            <a:ext cx="17904046" cy="1338906"/>
            <a:chOff x="0" y="0"/>
            <a:chExt cx="4715469" cy="352634"/>
          </a:xfrm>
        </p:grpSpPr>
        <p:sp>
          <p:nvSpPr>
            <p:cNvPr name="Freeform 3" id="3"/>
            <p:cNvSpPr/>
            <p:nvPr/>
          </p:nvSpPr>
          <p:spPr>
            <a:xfrm flipH="false" flipV="false" rot="0">
              <a:off x="0" y="0"/>
              <a:ext cx="4715469" cy="352634"/>
            </a:xfrm>
            <a:custGeom>
              <a:avLst/>
              <a:gdLst/>
              <a:ahLst/>
              <a:cxnLst/>
              <a:rect r="r" b="b" t="t" l="l"/>
              <a:pathLst>
                <a:path h="352634" w="4715469">
                  <a:moveTo>
                    <a:pt x="0" y="0"/>
                  </a:moveTo>
                  <a:lnTo>
                    <a:pt x="4715469" y="0"/>
                  </a:lnTo>
                  <a:lnTo>
                    <a:pt x="4715469" y="352634"/>
                  </a:lnTo>
                  <a:lnTo>
                    <a:pt x="0" y="352634"/>
                  </a:lnTo>
                  <a:close/>
                </a:path>
              </a:pathLst>
            </a:custGeom>
            <a:solidFill>
              <a:srgbClr val="1022B1"/>
            </a:solidFill>
          </p:spPr>
        </p:sp>
        <p:sp>
          <p:nvSpPr>
            <p:cNvPr name="TextBox 4" id="4"/>
            <p:cNvSpPr txBox="true"/>
            <p:nvPr/>
          </p:nvSpPr>
          <p:spPr>
            <a:xfrm>
              <a:off x="0" y="-85725"/>
              <a:ext cx="4715469" cy="438359"/>
            </a:xfrm>
            <a:prstGeom prst="rect">
              <a:avLst/>
            </a:prstGeom>
          </p:spPr>
          <p:txBody>
            <a:bodyPr anchor="ctr" rtlCol="false" tIns="50800" lIns="50800" bIns="50800" rIns="50800"/>
            <a:lstStyle/>
            <a:p>
              <a:pPr algn="ctr">
                <a:lnSpc>
                  <a:spcPts val="2659"/>
                </a:lnSpc>
              </a:pPr>
            </a:p>
          </p:txBody>
        </p:sp>
      </p:grpSp>
      <p:grpSp>
        <p:nvGrpSpPr>
          <p:cNvPr name="Group 5" id="5"/>
          <p:cNvGrpSpPr/>
          <p:nvPr/>
        </p:nvGrpSpPr>
        <p:grpSpPr>
          <a:xfrm rot="0">
            <a:off x="15958661" y="-1019379"/>
            <a:ext cx="3853113" cy="3853113"/>
            <a:chOff x="0" y="0"/>
            <a:chExt cx="812800" cy="812800"/>
          </a:xfrm>
        </p:grpSpPr>
        <p:sp>
          <p:nvSpPr>
            <p:cNvPr name="Freeform 6" id="6"/>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F28EC"/>
            </a:solidFill>
          </p:spPr>
        </p:sp>
        <p:sp>
          <p:nvSpPr>
            <p:cNvPr name="TextBox 7" id="7"/>
            <p:cNvSpPr txBox="true"/>
            <p:nvPr/>
          </p:nvSpPr>
          <p:spPr>
            <a:xfrm>
              <a:off x="76200" y="38100"/>
              <a:ext cx="660400" cy="698500"/>
            </a:xfrm>
            <a:prstGeom prst="rect">
              <a:avLst/>
            </a:prstGeom>
          </p:spPr>
          <p:txBody>
            <a:bodyPr anchor="ctr" rtlCol="false" tIns="50800" lIns="50800" bIns="50800" rIns="50800"/>
            <a:lstStyle/>
            <a:p>
              <a:pPr algn="ctr">
                <a:lnSpc>
                  <a:spcPts val="2659"/>
                </a:lnSpc>
                <a:spcBef>
                  <a:spcPct val="0"/>
                </a:spcBef>
              </a:pPr>
            </a:p>
          </p:txBody>
        </p:sp>
      </p:grpSp>
      <p:sp>
        <p:nvSpPr>
          <p:cNvPr name="Freeform 8" id="8"/>
          <p:cNvSpPr/>
          <p:nvPr/>
        </p:nvSpPr>
        <p:spPr>
          <a:xfrm flipH="false" flipV="false" rot="0">
            <a:off x="17259300" y="1052847"/>
            <a:ext cx="427047" cy="427047"/>
          </a:xfrm>
          <a:custGeom>
            <a:avLst/>
            <a:gdLst/>
            <a:ahLst/>
            <a:cxnLst/>
            <a:rect r="r" b="b" t="t" l="l"/>
            <a:pathLst>
              <a:path h="427047" w="427047">
                <a:moveTo>
                  <a:pt x="0" y="0"/>
                </a:moveTo>
                <a:lnTo>
                  <a:pt x="427047" y="0"/>
                </a:lnTo>
                <a:lnTo>
                  <a:pt x="427047" y="427047"/>
                </a:lnTo>
                <a:lnTo>
                  <a:pt x="0" y="427047"/>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9" id="9"/>
          <p:cNvGrpSpPr/>
          <p:nvPr/>
        </p:nvGrpSpPr>
        <p:grpSpPr>
          <a:xfrm rot="0">
            <a:off x="17509719" y="9508719"/>
            <a:ext cx="778281" cy="778281"/>
            <a:chOff x="0" y="0"/>
            <a:chExt cx="204979" cy="204979"/>
          </a:xfrm>
        </p:grpSpPr>
        <p:sp>
          <p:nvSpPr>
            <p:cNvPr name="Freeform 10" id="10"/>
            <p:cNvSpPr/>
            <p:nvPr/>
          </p:nvSpPr>
          <p:spPr>
            <a:xfrm flipH="false" flipV="false" rot="0">
              <a:off x="0" y="0"/>
              <a:ext cx="204979" cy="204979"/>
            </a:xfrm>
            <a:custGeom>
              <a:avLst/>
              <a:gdLst/>
              <a:ahLst/>
              <a:cxnLst/>
              <a:rect r="r" b="b" t="t" l="l"/>
              <a:pathLst>
                <a:path h="204979" w="204979">
                  <a:moveTo>
                    <a:pt x="0" y="0"/>
                  </a:moveTo>
                  <a:lnTo>
                    <a:pt x="204979" y="0"/>
                  </a:lnTo>
                  <a:lnTo>
                    <a:pt x="204979" y="204979"/>
                  </a:lnTo>
                  <a:lnTo>
                    <a:pt x="0" y="204979"/>
                  </a:lnTo>
                  <a:close/>
                </a:path>
              </a:pathLst>
            </a:custGeom>
            <a:solidFill>
              <a:srgbClr val="0F28EC"/>
            </a:solidFill>
          </p:spPr>
        </p:sp>
        <p:sp>
          <p:nvSpPr>
            <p:cNvPr name="TextBox 11" id="11"/>
            <p:cNvSpPr txBox="true"/>
            <p:nvPr/>
          </p:nvSpPr>
          <p:spPr>
            <a:xfrm>
              <a:off x="0" y="-85725"/>
              <a:ext cx="204979" cy="290704"/>
            </a:xfrm>
            <a:prstGeom prst="rect">
              <a:avLst/>
            </a:prstGeom>
          </p:spPr>
          <p:txBody>
            <a:bodyPr anchor="ctr" rtlCol="false" tIns="50800" lIns="50800" bIns="50800" rIns="50800"/>
            <a:lstStyle/>
            <a:p>
              <a:pPr algn="ctr">
                <a:lnSpc>
                  <a:spcPts val="2659"/>
                </a:lnSpc>
              </a:pPr>
            </a:p>
          </p:txBody>
        </p:sp>
      </p:grpSp>
      <p:sp>
        <p:nvSpPr>
          <p:cNvPr name="TextBox 12" id="12"/>
          <p:cNvSpPr txBox="true"/>
          <p:nvPr/>
        </p:nvSpPr>
        <p:spPr>
          <a:xfrm rot="0">
            <a:off x="17736317" y="9669577"/>
            <a:ext cx="382236" cy="370840"/>
          </a:xfrm>
          <a:prstGeom prst="rect">
            <a:avLst/>
          </a:prstGeom>
        </p:spPr>
        <p:txBody>
          <a:bodyPr anchor="t" rtlCol="false" tIns="0" lIns="0" bIns="0" rIns="0">
            <a:spAutoFit/>
          </a:bodyPr>
          <a:lstStyle/>
          <a:p>
            <a:pPr algn="l">
              <a:lnSpc>
                <a:spcPts val="2659"/>
              </a:lnSpc>
              <a:spcBef>
                <a:spcPct val="0"/>
              </a:spcBef>
            </a:pPr>
            <a:r>
              <a:rPr lang="en-US" b="true" sz="1899">
                <a:solidFill>
                  <a:srgbClr val="FFFFFF"/>
                </a:solidFill>
                <a:latin typeface="Agrandir Bold"/>
                <a:ea typeface="Agrandir Bold"/>
                <a:cs typeface="Agrandir Bold"/>
                <a:sym typeface="Agrandir Bold"/>
              </a:rPr>
              <a:t>03</a:t>
            </a:r>
          </a:p>
        </p:txBody>
      </p:sp>
      <p:grpSp>
        <p:nvGrpSpPr>
          <p:cNvPr name="Group 13" id="13"/>
          <p:cNvGrpSpPr/>
          <p:nvPr/>
        </p:nvGrpSpPr>
        <p:grpSpPr>
          <a:xfrm rot="0">
            <a:off x="1767800" y="3587918"/>
            <a:ext cx="11784068" cy="4571929"/>
            <a:chOff x="0" y="0"/>
            <a:chExt cx="15712090" cy="6095905"/>
          </a:xfrm>
        </p:grpSpPr>
        <p:sp>
          <p:nvSpPr>
            <p:cNvPr name="TextBox 14" id="14"/>
            <p:cNvSpPr txBox="true"/>
            <p:nvPr/>
          </p:nvSpPr>
          <p:spPr>
            <a:xfrm rot="0">
              <a:off x="0" y="4400315"/>
              <a:ext cx="15712090" cy="1695590"/>
            </a:xfrm>
            <a:prstGeom prst="rect">
              <a:avLst/>
            </a:prstGeom>
          </p:spPr>
          <p:txBody>
            <a:bodyPr anchor="t" rtlCol="false" tIns="0" lIns="0" bIns="0" rIns="0">
              <a:spAutoFit/>
            </a:bodyPr>
            <a:lstStyle/>
            <a:p>
              <a:pPr algn="l">
                <a:lnSpc>
                  <a:spcPts val="9575"/>
                </a:lnSpc>
                <a:spcBef>
                  <a:spcPct val="0"/>
                </a:spcBef>
              </a:pPr>
              <a:r>
                <a:rPr lang="en-US" b="true" sz="6839">
                  <a:solidFill>
                    <a:srgbClr val="0F28EC"/>
                  </a:solidFill>
                  <a:latin typeface="Agrandir Bold"/>
                  <a:ea typeface="Agrandir Bold"/>
                  <a:cs typeface="Agrandir Bold"/>
                  <a:sym typeface="Agrandir Bold"/>
                </a:rPr>
                <a:t>Kiến trúc hệ thống</a:t>
              </a:r>
            </a:p>
          </p:txBody>
        </p:sp>
        <p:sp>
          <p:nvSpPr>
            <p:cNvPr name="TextBox 15" id="15"/>
            <p:cNvSpPr txBox="true"/>
            <p:nvPr/>
          </p:nvSpPr>
          <p:spPr>
            <a:xfrm rot="0">
              <a:off x="0" y="-1390650"/>
              <a:ext cx="3098161" cy="7270992"/>
            </a:xfrm>
            <a:prstGeom prst="rect">
              <a:avLst/>
            </a:prstGeom>
          </p:spPr>
          <p:txBody>
            <a:bodyPr anchor="t" rtlCol="false" tIns="0" lIns="0" bIns="0" rIns="0">
              <a:spAutoFit/>
            </a:bodyPr>
            <a:lstStyle/>
            <a:p>
              <a:pPr algn="l">
                <a:lnSpc>
                  <a:spcPts val="40655"/>
                </a:lnSpc>
                <a:spcBef>
                  <a:spcPct val="0"/>
                </a:spcBef>
              </a:pPr>
              <a:r>
                <a:rPr lang="en-US" b="true" sz="29039">
                  <a:solidFill>
                    <a:srgbClr val="0F28EC"/>
                  </a:solidFill>
                  <a:latin typeface="Agrandir Bold"/>
                  <a:ea typeface="Agrandir Bold"/>
                  <a:cs typeface="Agrandir Bold"/>
                  <a:sym typeface="Agrandir Bold"/>
                </a:rPr>
                <a:t>4</a:t>
              </a:r>
            </a:p>
          </p:txBody>
        </p:sp>
      </p:grpSp>
      <p:sp>
        <p:nvSpPr>
          <p:cNvPr name="Freeform 16" id="16"/>
          <p:cNvSpPr/>
          <p:nvPr/>
        </p:nvSpPr>
        <p:spPr>
          <a:xfrm flipH="false" flipV="false" rot="0">
            <a:off x="11712575" y="2744214"/>
            <a:ext cx="4666454" cy="6514086"/>
          </a:xfrm>
          <a:custGeom>
            <a:avLst/>
            <a:gdLst/>
            <a:ahLst/>
            <a:cxnLst/>
            <a:rect r="r" b="b" t="t" l="l"/>
            <a:pathLst>
              <a:path h="6514086" w="4666454">
                <a:moveTo>
                  <a:pt x="0" y="0"/>
                </a:moveTo>
                <a:lnTo>
                  <a:pt x="4666455" y="0"/>
                </a:lnTo>
                <a:lnTo>
                  <a:pt x="4666455" y="6514086"/>
                </a:lnTo>
                <a:lnTo>
                  <a:pt x="0" y="6514086"/>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Tree>
  </p:cSld>
  <p:clrMapOvr>
    <a:masterClrMapping/>
  </p:clrMapOvr>
</p:sld>
</file>

<file path=ppt/slides/slide21.xml><?xml version="1.0" encoding="utf-8"?>
<p:sld xmlns:p="http://schemas.openxmlformats.org/presentationml/2006/main" xmlns:a="http://schemas.openxmlformats.org/drawingml/2006/main" xmlns:r="http://schemas.openxmlformats.org/officeDocument/2006/relationships">
  <p:cSld>
    <p:bg>
      <p:bgPr>
        <a:solidFill>
          <a:srgbClr val="C7D3FF"/>
        </a:solidFill>
      </p:bgPr>
    </p:bg>
    <p:spTree>
      <p:nvGrpSpPr>
        <p:cNvPr id="1" name=""/>
        <p:cNvGrpSpPr/>
        <p:nvPr/>
      </p:nvGrpSpPr>
      <p:grpSpPr>
        <a:xfrm>
          <a:off x="0" y="0"/>
          <a:ext cx="0" cy="0"/>
          <a:chOff x="0" y="0"/>
          <a:chExt cx="0" cy="0"/>
        </a:xfrm>
      </p:grpSpPr>
      <p:grpSp>
        <p:nvGrpSpPr>
          <p:cNvPr name="Group 2" id="2"/>
          <p:cNvGrpSpPr/>
          <p:nvPr/>
        </p:nvGrpSpPr>
        <p:grpSpPr>
          <a:xfrm rot="0">
            <a:off x="-217699" y="525326"/>
            <a:ext cx="17904046" cy="1338906"/>
            <a:chOff x="0" y="0"/>
            <a:chExt cx="4715469" cy="352634"/>
          </a:xfrm>
        </p:grpSpPr>
        <p:sp>
          <p:nvSpPr>
            <p:cNvPr name="Freeform 3" id="3"/>
            <p:cNvSpPr/>
            <p:nvPr/>
          </p:nvSpPr>
          <p:spPr>
            <a:xfrm flipH="false" flipV="false" rot="0">
              <a:off x="0" y="0"/>
              <a:ext cx="4715469" cy="352634"/>
            </a:xfrm>
            <a:custGeom>
              <a:avLst/>
              <a:gdLst/>
              <a:ahLst/>
              <a:cxnLst/>
              <a:rect r="r" b="b" t="t" l="l"/>
              <a:pathLst>
                <a:path h="352634" w="4715469">
                  <a:moveTo>
                    <a:pt x="0" y="0"/>
                  </a:moveTo>
                  <a:lnTo>
                    <a:pt x="4715469" y="0"/>
                  </a:lnTo>
                  <a:lnTo>
                    <a:pt x="4715469" y="352634"/>
                  </a:lnTo>
                  <a:lnTo>
                    <a:pt x="0" y="352634"/>
                  </a:lnTo>
                  <a:close/>
                </a:path>
              </a:pathLst>
            </a:custGeom>
            <a:solidFill>
              <a:srgbClr val="1022B1"/>
            </a:solidFill>
          </p:spPr>
        </p:sp>
        <p:sp>
          <p:nvSpPr>
            <p:cNvPr name="TextBox 4" id="4"/>
            <p:cNvSpPr txBox="true"/>
            <p:nvPr/>
          </p:nvSpPr>
          <p:spPr>
            <a:xfrm>
              <a:off x="0" y="-85725"/>
              <a:ext cx="4715469" cy="438359"/>
            </a:xfrm>
            <a:prstGeom prst="rect">
              <a:avLst/>
            </a:prstGeom>
          </p:spPr>
          <p:txBody>
            <a:bodyPr anchor="ctr" rtlCol="false" tIns="50800" lIns="50800" bIns="50800" rIns="50800"/>
            <a:lstStyle/>
            <a:p>
              <a:pPr algn="ctr">
                <a:lnSpc>
                  <a:spcPts val="2659"/>
                </a:lnSpc>
              </a:pPr>
            </a:p>
          </p:txBody>
        </p:sp>
      </p:grpSp>
      <p:grpSp>
        <p:nvGrpSpPr>
          <p:cNvPr name="Group 5" id="5"/>
          <p:cNvGrpSpPr/>
          <p:nvPr/>
        </p:nvGrpSpPr>
        <p:grpSpPr>
          <a:xfrm rot="0">
            <a:off x="15958661" y="-1019379"/>
            <a:ext cx="3853113" cy="3853113"/>
            <a:chOff x="0" y="0"/>
            <a:chExt cx="812800" cy="812800"/>
          </a:xfrm>
        </p:grpSpPr>
        <p:sp>
          <p:nvSpPr>
            <p:cNvPr name="Freeform 6" id="6"/>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F28EC"/>
            </a:solidFill>
          </p:spPr>
        </p:sp>
        <p:sp>
          <p:nvSpPr>
            <p:cNvPr name="TextBox 7" id="7"/>
            <p:cNvSpPr txBox="true"/>
            <p:nvPr/>
          </p:nvSpPr>
          <p:spPr>
            <a:xfrm>
              <a:off x="76200" y="38100"/>
              <a:ext cx="660400" cy="698500"/>
            </a:xfrm>
            <a:prstGeom prst="rect">
              <a:avLst/>
            </a:prstGeom>
          </p:spPr>
          <p:txBody>
            <a:bodyPr anchor="ctr" rtlCol="false" tIns="50800" lIns="50800" bIns="50800" rIns="50800"/>
            <a:lstStyle/>
            <a:p>
              <a:pPr algn="ctr">
                <a:lnSpc>
                  <a:spcPts val="2659"/>
                </a:lnSpc>
                <a:spcBef>
                  <a:spcPct val="0"/>
                </a:spcBef>
              </a:pPr>
            </a:p>
          </p:txBody>
        </p:sp>
      </p:grpSp>
      <p:sp>
        <p:nvSpPr>
          <p:cNvPr name="Freeform 8" id="8"/>
          <p:cNvSpPr/>
          <p:nvPr/>
        </p:nvSpPr>
        <p:spPr>
          <a:xfrm flipH="false" flipV="false" rot="0">
            <a:off x="17259300" y="1052847"/>
            <a:ext cx="427047" cy="427047"/>
          </a:xfrm>
          <a:custGeom>
            <a:avLst/>
            <a:gdLst/>
            <a:ahLst/>
            <a:cxnLst/>
            <a:rect r="r" b="b" t="t" l="l"/>
            <a:pathLst>
              <a:path h="427047" w="427047">
                <a:moveTo>
                  <a:pt x="0" y="0"/>
                </a:moveTo>
                <a:lnTo>
                  <a:pt x="427047" y="0"/>
                </a:lnTo>
                <a:lnTo>
                  <a:pt x="427047" y="427047"/>
                </a:lnTo>
                <a:lnTo>
                  <a:pt x="0" y="427047"/>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9" id="9"/>
          <p:cNvGrpSpPr/>
          <p:nvPr/>
        </p:nvGrpSpPr>
        <p:grpSpPr>
          <a:xfrm rot="0">
            <a:off x="17509719" y="9508719"/>
            <a:ext cx="778281" cy="778281"/>
            <a:chOff x="0" y="0"/>
            <a:chExt cx="204979" cy="204979"/>
          </a:xfrm>
        </p:grpSpPr>
        <p:sp>
          <p:nvSpPr>
            <p:cNvPr name="Freeform 10" id="10"/>
            <p:cNvSpPr/>
            <p:nvPr/>
          </p:nvSpPr>
          <p:spPr>
            <a:xfrm flipH="false" flipV="false" rot="0">
              <a:off x="0" y="0"/>
              <a:ext cx="204979" cy="204979"/>
            </a:xfrm>
            <a:custGeom>
              <a:avLst/>
              <a:gdLst/>
              <a:ahLst/>
              <a:cxnLst/>
              <a:rect r="r" b="b" t="t" l="l"/>
              <a:pathLst>
                <a:path h="204979" w="204979">
                  <a:moveTo>
                    <a:pt x="0" y="0"/>
                  </a:moveTo>
                  <a:lnTo>
                    <a:pt x="204979" y="0"/>
                  </a:lnTo>
                  <a:lnTo>
                    <a:pt x="204979" y="204979"/>
                  </a:lnTo>
                  <a:lnTo>
                    <a:pt x="0" y="204979"/>
                  </a:lnTo>
                  <a:close/>
                </a:path>
              </a:pathLst>
            </a:custGeom>
            <a:solidFill>
              <a:srgbClr val="0F28EC"/>
            </a:solidFill>
          </p:spPr>
        </p:sp>
        <p:sp>
          <p:nvSpPr>
            <p:cNvPr name="TextBox 11" id="11"/>
            <p:cNvSpPr txBox="true"/>
            <p:nvPr/>
          </p:nvSpPr>
          <p:spPr>
            <a:xfrm>
              <a:off x="0" y="-85725"/>
              <a:ext cx="204979" cy="290704"/>
            </a:xfrm>
            <a:prstGeom prst="rect">
              <a:avLst/>
            </a:prstGeom>
          </p:spPr>
          <p:txBody>
            <a:bodyPr anchor="ctr" rtlCol="false" tIns="50800" lIns="50800" bIns="50800" rIns="50800"/>
            <a:lstStyle/>
            <a:p>
              <a:pPr algn="ctr">
                <a:lnSpc>
                  <a:spcPts val="2659"/>
                </a:lnSpc>
              </a:pPr>
            </a:p>
          </p:txBody>
        </p:sp>
      </p:grpSp>
      <p:sp>
        <p:nvSpPr>
          <p:cNvPr name="TextBox 12" id="12"/>
          <p:cNvSpPr txBox="true"/>
          <p:nvPr/>
        </p:nvSpPr>
        <p:spPr>
          <a:xfrm rot="0">
            <a:off x="17736317" y="9669577"/>
            <a:ext cx="382236" cy="370840"/>
          </a:xfrm>
          <a:prstGeom prst="rect">
            <a:avLst/>
          </a:prstGeom>
        </p:spPr>
        <p:txBody>
          <a:bodyPr anchor="t" rtlCol="false" tIns="0" lIns="0" bIns="0" rIns="0">
            <a:spAutoFit/>
          </a:bodyPr>
          <a:lstStyle/>
          <a:p>
            <a:pPr algn="l">
              <a:lnSpc>
                <a:spcPts val="2659"/>
              </a:lnSpc>
              <a:spcBef>
                <a:spcPct val="0"/>
              </a:spcBef>
            </a:pPr>
            <a:r>
              <a:rPr lang="en-US" b="true" sz="1899">
                <a:solidFill>
                  <a:srgbClr val="FFFFFF"/>
                </a:solidFill>
                <a:latin typeface="Agrandir Bold"/>
                <a:ea typeface="Agrandir Bold"/>
                <a:cs typeface="Agrandir Bold"/>
                <a:sym typeface="Agrandir Bold"/>
              </a:rPr>
              <a:t>05</a:t>
            </a:r>
          </a:p>
        </p:txBody>
      </p:sp>
      <p:sp>
        <p:nvSpPr>
          <p:cNvPr name="TextBox 13" id="13"/>
          <p:cNvSpPr txBox="true"/>
          <p:nvPr/>
        </p:nvSpPr>
        <p:spPr>
          <a:xfrm rot="0">
            <a:off x="561398" y="397611"/>
            <a:ext cx="14179543" cy="1350274"/>
          </a:xfrm>
          <a:prstGeom prst="rect">
            <a:avLst/>
          </a:prstGeom>
        </p:spPr>
        <p:txBody>
          <a:bodyPr anchor="t" rtlCol="false" tIns="0" lIns="0" bIns="0" rIns="0">
            <a:spAutoFit/>
          </a:bodyPr>
          <a:lstStyle/>
          <a:p>
            <a:pPr algn="l">
              <a:lnSpc>
                <a:spcPts val="9575"/>
              </a:lnSpc>
              <a:spcBef>
                <a:spcPct val="0"/>
              </a:spcBef>
            </a:pPr>
            <a:r>
              <a:rPr lang="en-US" b="true" sz="6839">
                <a:solidFill>
                  <a:srgbClr val="FFFFFF"/>
                </a:solidFill>
                <a:latin typeface="Agrandir Bold"/>
                <a:ea typeface="Agrandir Bold"/>
                <a:cs typeface="Agrandir Bold"/>
                <a:sym typeface="Agrandir Bold"/>
              </a:rPr>
              <a:t>4. Frontend</a:t>
            </a:r>
          </a:p>
        </p:txBody>
      </p:sp>
    </p:spTree>
  </p:cSld>
  <p:clrMapOvr>
    <a:masterClrMapping/>
  </p:clrMapOvr>
</p:sld>
</file>

<file path=ppt/slides/slide22.xml><?xml version="1.0" encoding="utf-8"?>
<p:sld xmlns:p="http://schemas.openxmlformats.org/presentationml/2006/main" xmlns:a="http://schemas.openxmlformats.org/drawingml/2006/main" xmlns:r="http://schemas.openxmlformats.org/officeDocument/2006/relationships">
  <p:cSld>
    <p:bg>
      <p:bgPr>
        <a:solidFill>
          <a:srgbClr val="C7D3FF"/>
        </a:solidFill>
      </p:bgPr>
    </p:bg>
    <p:spTree>
      <p:nvGrpSpPr>
        <p:cNvPr id="1" name=""/>
        <p:cNvGrpSpPr/>
        <p:nvPr/>
      </p:nvGrpSpPr>
      <p:grpSpPr>
        <a:xfrm>
          <a:off x="0" y="0"/>
          <a:ext cx="0" cy="0"/>
          <a:chOff x="0" y="0"/>
          <a:chExt cx="0" cy="0"/>
        </a:xfrm>
      </p:grpSpPr>
      <p:grpSp>
        <p:nvGrpSpPr>
          <p:cNvPr name="Group 2" id="2"/>
          <p:cNvGrpSpPr/>
          <p:nvPr/>
        </p:nvGrpSpPr>
        <p:grpSpPr>
          <a:xfrm rot="0">
            <a:off x="-217699" y="525326"/>
            <a:ext cx="17904046" cy="1338906"/>
            <a:chOff x="0" y="0"/>
            <a:chExt cx="4715469" cy="352634"/>
          </a:xfrm>
        </p:grpSpPr>
        <p:sp>
          <p:nvSpPr>
            <p:cNvPr name="Freeform 3" id="3"/>
            <p:cNvSpPr/>
            <p:nvPr/>
          </p:nvSpPr>
          <p:spPr>
            <a:xfrm flipH="false" flipV="false" rot="0">
              <a:off x="0" y="0"/>
              <a:ext cx="4715469" cy="352634"/>
            </a:xfrm>
            <a:custGeom>
              <a:avLst/>
              <a:gdLst/>
              <a:ahLst/>
              <a:cxnLst/>
              <a:rect r="r" b="b" t="t" l="l"/>
              <a:pathLst>
                <a:path h="352634" w="4715469">
                  <a:moveTo>
                    <a:pt x="0" y="0"/>
                  </a:moveTo>
                  <a:lnTo>
                    <a:pt x="4715469" y="0"/>
                  </a:lnTo>
                  <a:lnTo>
                    <a:pt x="4715469" y="352634"/>
                  </a:lnTo>
                  <a:lnTo>
                    <a:pt x="0" y="352634"/>
                  </a:lnTo>
                  <a:close/>
                </a:path>
              </a:pathLst>
            </a:custGeom>
            <a:solidFill>
              <a:srgbClr val="1022B1"/>
            </a:solidFill>
          </p:spPr>
        </p:sp>
        <p:sp>
          <p:nvSpPr>
            <p:cNvPr name="TextBox 4" id="4"/>
            <p:cNvSpPr txBox="true"/>
            <p:nvPr/>
          </p:nvSpPr>
          <p:spPr>
            <a:xfrm>
              <a:off x="0" y="-85725"/>
              <a:ext cx="4715469" cy="438359"/>
            </a:xfrm>
            <a:prstGeom prst="rect">
              <a:avLst/>
            </a:prstGeom>
          </p:spPr>
          <p:txBody>
            <a:bodyPr anchor="ctr" rtlCol="false" tIns="50800" lIns="50800" bIns="50800" rIns="50800"/>
            <a:lstStyle/>
            <a:p>
              <a:pPr algn="ctr">
                <a:lnSpc>
                  <a:spcPts val="2659"/>
                </a:lnSpc>
              </a:pPr>
            </a:p>
          </p:txBody>
        </p:sp>
      </p:grpSp>
      <p:grpSp>
        <p:nvGrpSpPr>
          <p:cNvPr name="Group 5" id="5"/>
          <p:cNvGrpSpPr/>
          <p:nvPr/>
        </p:nvGrpSpPr>
        <p:grpSpPr>
          <a:xfrm rot="0">
            <a:off x="15958661" y="-1019379"/>
            <a:ext cx="3853113" cy="3853113"/>
            <a:chOff x="0" y="0"/>
            <a:chExt cx="812800" cy="812800"/>
          </a:xfrm>
        </p:grpSpPr>
        <p:sp>
          <p:nvSpPr>
            <p:cNvPr name="Freeform 6" id="6"/>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F28EC"/>
            </a:solidFill>
          </p:spPr>
        </p:sp>
        <p:sp>
          <p:nvSpPr>
            <p:cNvPr name="TextBox 7" id="7"/>
            <p:cNvSpPr txBox="true"/>
            <p:nvPr/>
          </p:nvSpPr>
          <p:spPr>
            <a:xfrm>
              <a:off x="76200" y="38100"/>
              <a:ext cx="660400" cy="698500"/>
            </a:xfrm>
            <a:prstGeom prst="rect">
              <a:avLst/>
            </a:prstGeom>
          </p:spPr>
          <p:txBody>
            <a:bodyPr anchor="ctr" rtlCol="false" tIns="50800" lIns="50800" bIns="50800" rIns="50800"/>
            <a:lstStyle/>
            <a:p>
              <a:pPr algn="ctr">
                <a:lnSpc>
                  <a:spcPts val="2659"/>
                </a:lnSpc>
                <a:spcBef>
                  <a:spcPct val="0"/>
                </a:spcBef>
              </a:pPr>
            </a:p>
          </p:txBody>
        </p:sp>
      </p:grpSp>
      <p:sp>
        <p:nvSpPr>
          <p:cNvPr name="Freeform 8" id="8"/>
          <p:cNvSpPr/>
          <p:nvPr/>
        </p:nvSpPr>
        <p:spPr>
          <a:xfrm flipH="false" flipV="false" rot="0">
            <a:off x="17259300" y="1052847"/>
            <a:ext cx="427047" cy="427047"/>
          </a:xfrm>
          <a:custGeom>
            <a:avLst/>
            <a:gdLst/>
            <a:ahLst/>
            <a:cxnLst/>
            <a:rect r="r" b="b" t="t" l="l"/>
            <a:pathLst>
              <a:path h="427047" w="427047">
                <a:moveTo>
                  <a:pt x="0" y="0"/>
                </a:moveTo>
                <a:lnTo>
                  <a:pt x="427047" y="0"/>
                </a:lnTo>
                <a:lnTo>
                  <a:pt x="427047" y="427047"/>
                </a:lnTo>
                <a:lnTo>
                  <a:pt x="0" y="427047"/>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9" id="9"/>
          <p:cNvGrpSpPr/>
          <p:nvPr/>
        </p:nvGrpSpPr>
        <p:grpSpPr>
          <a:xfrm rot="0">
            <a:off x="17509719" y="9508719"/>
            <a:ext cx="778281" cy="778281"/>
            <a:chOff x="0" y="0"/>
            <a:chExt cx="204979" cy="204979"/>
          </a:xfrm>
        </p:grpSpPr>
        <p:sp>
          <p:nvSpPr>
            <p:cNvPr name="Freeform 10" id="10"/>
            <p:cNvSpPr/>
            <p:nvPr/>
          </p:nvSpPr>
          <p:spPr>
            <a:xfrm flipH="false" flipV="false" rot="0">
              <a:off x="0" y="0"/>
              <a:ext cx="204979" cy="204979"/>
            </a:xfrm>
            <a:custGeom>
              <a:avLst/>
              <a:gdLst/>
              <a:ahLst/>
              <a:cxnLst/>
              <a:rect r="r" b="b" t="t" l="l"/>
              <a:pathLst>
                <a:path h="204979" w="204979">
                  <a:moveTo>
                    <a:pt x="0" y="0"/>
                  </a:moveTo>
                  <a:lnTo>
                    <a:pt x="204979" y="0"/>
                  </a:lnTo>
                  <a:lnTo>
                    <a:pt x="204979" y="204979"/>
                  </a:lnTo>
                  <a:lnTo>
                    <a:pt x="0" y="204979"/>
                  </a:lnTo>
                  <a:close/>
                </a:path>
              </a:pathLst>
            </a:custGeom>
            <a:solidFill>
              <a:srgbClr val="0F28EC"/>
            </a:solidFill>
          </p:spPr>
        </p:sp>
        <p:sp>
          <p:nvSpPr>
            <p:cNvPr name="TextBox 11" id="11"/>
            <p:cNvSpPr txBox="true"/>
            <p:nvPr/>
          </p:nvSpPr>
          <p:spPr>
            <a:xfrm>
              <a:off x="0" y="-85725"/>
              <a:ext cx="204979" cy="290704"/>
            </a:xfrm>
            <a:prstGeom prst="rect">
              <a:avLst/>
            </a:prstGeom>
          </p:spPr>
          <p:txBody>
            <a:bodyPr anchor="ctr" rtlCol="false" tIns="50800" lIns="50800" bIns="50800" rIns="50800"/>
            <a:lstStyle/>
            <a:p>
              <a:pPr algn="ctr">
                <a:lnSpc>
                  <a:spcPts val="2659"/>
                </a:lnSpc>
              </a:pPr>
            </a:p>
          </p:txBody>
        </p:sp>
      </p:grpSp>
      <p:sp>
        <p:nvSpPr>
          <p:cNvPr name="TextBox 12" id="12"/>
          <p:cNvSpPr txBox="true"/>
          <p:nvPr/>
        </p:nvSpPr>
        <p:spPr>
          <a:xfrm rot="0">
            <a:off x="17736317" y="9669577"/>
            <a:ext cx="382236" cy="370840"/>
          </a:xfrm>
          <a:prstGeom prst="rect">
            <a:avLst/>
          </a:prstGeom>
        </p:spPr>
        <p:txBody>
          <a:bodyPr anchor="t" rtlCol="false" tIns="0" lIns="0" bIns="0" rIns="0">
            <a:spAutoFit/>
          </a:bodyPr>
          <a:lstStyle/>
          <a:p>
            <a:pPr algn="l">
              <a:lnSpc>
                <a:spcPts val="2659"/>
              </a:lnSpc>
              <a:spcBef>
                <a:spcPct val="0"/>
              </a:spcBef>
            </a:pPr>
            <a:r>
              <a:rPr lang="en-US" b="true" sz="1899">
                <a:solidFill>
                  <a:srgbClr val="FFFFFF"/>
                </a:solidFill>
                <a:latin typeface="Agrandir Bold"/>
                <a:ea typeface="Agrandir Bold"/>
                <a:cs typeface="Agrandir Bold"/>
                <a:sym typeface="Agrandir Bold"/>
              </a:rPr>
              <a:t>05</a:t>
            </a:r>
          </a:p>
        </p:txBody>
      </p:sp>
      <p:sp>
        <p:nvSpPr>
          <p:cNvPr name="TextBox 13" id="13"/>
          <p:cNvSpPr txBox="true"/>
          <p:nvPr/>
        </p:nvSpPr>
        <p:spPr>
          <a:xfrm rot="0">
            <a:off x="561398" y="397611"/>
            <a:ext cx="14179543" cy="1350274"/>
          </a:xfrm>
          <a:prstGeom prst="rect">
            <a:avLst/>
          </a:prstGeom>
        </p:spPr>
        <p:txBody>
          <a:bodyPr anchor="t" rtlCol="false" tIns="0" lIns="0" bIns="0" rIns="0">
            <a:spAutoFit/>
          </a:bodyPr>
          <a:lstStyle/>
          <a:p>
            <a:pPr algn="l">
              <a:lnSpc>
                <a:spcPts val="9575"/>
              </a:lnSpc>
              <a:spcBef>
                <a:spcPct val="0"/>
              </a:spcBef>
            </a:pPr>
            <a:r>
              <a:rPr lang="en-US" b="true" sz="6839">
                <a:solidFill>
                  <a:srgbClr val="FFFFFF"/>
                </a:solidFill>
                <a:latin typeface="Agrandir Bold"/>
                <a:ea typeface="Agrandir Bold"/>
                <a:cs typeface="Agrandir Bold"/>
                <a:sym typeface="Agrandir Bold"/>
              </a:rPr>
              <a:t>4. Backend</a:t>
            </a:r>
          </a:p>
        </p:txBody>
      </p:sp>
    </p:spTree>
  </p:cSld>
  <p:clrMapOvr>
    <a:masterClrMapping/>
  </p:clrMapOvr>
</p:sld>
</file>

<file path=ppt/slides/slide23.xml><?xml version="1.0" encoding="utf-8"?>
<p:sld xmlns:p="http://schemas.openxmlformats.org/presentationml/2006/main" xmlns:a="http://schemas.openxmlformats.org/drawingml/2006/main" xmlns:r="http://schemas.openxmlformats.org/officeDocument/2006/relationships">
  <p:cSld>
    <p:bg>
      <p:bgPr>
        <a:solidFill>
          <a:srgbClr val="C7D3FF"/>
        </a:solidFill>
      </p:bgPr>
    </p:bg>
    <p:spTree>
      <p:nvGrpSpPr>
        <p:cNvPr id="1" name=""/>
        <p:cNvGrpSpPr/>
        <p:nvPr/>
      </p:nvGrpSpPr>
      <p:grpSpPr>
        <a:xfrm>
          <a:off x="0" y="0"/>
          <a:ext cx="0" cy="0"/>
          <a:chOff x="0" y="0"/>
          <a:chExt cx="0" cy="0"/>
        </a:xfrm>
      </p:grpSpPr>
      <p:grpSp>
        <p:nvGrpSpPr>
          <p:cNvPr name="Group 2" id="2"/>
          <p:cNvGrpSpPr/>
          <p:nvPr/>
        </p:nvGrpSpPr>
        <p:grpSpPr>
          <a:xfrm rot="0">
            <a:off x="-217699" y="525326"/>
            <a:ext cx="17904046" cy="1338906"/>
            <a:chOff x="0" y="0"/>
            <a:chExt cx="4715469" cy="352634"/>
          </a:xfrm>
        </p:grpSpPr>
        <p:sp>
          <p:nvSpPr>
            <p:cNvPr name="Freeform 3" id="3"/>
            <p:cNvSpPr/>
            <p:nvPr/>
          </p:nvSpPr>
          <p:spPr>
            <a:xfrm flipH="false" flipV="false" rot="0">
              <a:off x="0" y="0"/>
              <a:ext cx="4715469" cy="352634"/>
            </a:xfrm>
            <a:custGeom>
              <a:avLst/>
              <a:gdLst/>
              <a:ahLst/>
              <a:cxnLst/>
              <a:rect r="r" b="b" t="t" l="l"/>
              <a:pathLst>
                <a:path h="352634" w="4715469">
                  <a:moveTo>
                    <a:pt x="0" y="0"/>
                  </a:moveTo>
                  <a:lnTo>
                    <a:pt x="4715469" y="0"/>
                  </a:lnTo>
                  <a:lnTo>
                    <a:pt x="4715469" y="352634"/>
                  </a:lnTo>
                  <a:lnTo>
                    <a:pt x="0" y="352634"/>
                  </a:lnTo>
                  <a:close/>
                </a:path>
              </a:pathLst>
            </a:custGeom>
            <a:solidFill>
              <a:srgbClr val="1022B1"/>
            </a:solidFill>
          </p:spPr>
        </p:sp>
        <p:sp>
          <p:nvSpPr>
            <p:cNvPr name="TextBox 4" id="4"/>
            <p:cNvSpPr txBox="true"/>
            <p:nvPr/>
          </p:nvSpPr>
          <p:spPr>
            <a:xfrm>
              <a:off x="0" y="-85725"/>
              <a:ext cx="4715469" cy="438359"/>
            </a:xfrm>
            <a:prstGeom prst="rect">
              <a:avLst/>
            </a:prstGeom>
          </p:spPr>
          <p:txBody>
            <a:bodyPr anchor="ctr" rtlCol="false" tIns="50800" lIns="50800" bIns="50800" rIns="50800"/>
            <a:lstStyle/>
            <a:p>
              <a:pPr algn="ctr">
                <a:lnSpc>
                  <a:spcPts val="2659"/>
                </a:lnSpc>
              </a:pPr>
            </a:p>
          </p:txBody>
        </p:sp>
      </p:grpSp>
      <p:grpSp>
        <p:nvGrpSpPr>
          <p:cNvPr name="Group 5" id="5"/>
          <p:cNvGrpSpPr/>
          <p:nvPr/>
        </p:nvGrpSpPr>
        <p:grpSpPr>
          <a:xfrm rot="0">
            <a:off x="15958661" y="-1019379"/>
            <a:ext cx="3853113" cy="3853113"/>
            <a:chOff x="0" y="0"/>
            <a:chExt cx="812800" cy="812800"/>
          </a:xfrm>
        </p:grpSpPr>
        <p:sp>
          <p:nvSpPr>
            <p:cNvPr name="Freeform 6" id="6"/>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F28EC"/>
            </a:solidFill>
          </p:spPr>
        </p:sp>
        <p:sp>
          <p:nvSpPr>
            <p:cNvPr name="TextBox 7" id="7"/>
            <p:cNvSpPr txBox="true"/>
            <p:nvPr/>
          </p:nvSpPr>
          <p:spPr>
            <a:xfrm>
              <a:off x="76200" y="38100"/>
              <a:ext cx="660400" cy="698500"/>
            </a:xfrm>
            <a:prstGeom prst="rect">
              <a:avLst/>
            </a:prstGeom>
          </p:spPr>
          <p:txBody>
            <a:bodyPr anchor="ctr" rtlCol="false" tIns="50800" lIns="50800" bIns="50800" rIns="50800"/>
            <a:lstStyle/>
            <a:p>
              <a:pPr algn="ctr">
                <a:lnSpc>
                  <a:spcPts val="2659"/>
                </a:lnSpc>
                <a:spcBef>
                  <a:spcPct val="0"/>
                </a:spcBef>
              </a:pPr>
            </a:p>
          </p:txBody>
        </p:sp>
      </p:grpSp>
      <p:sp>
        <p:nvSpPr>
          <p:cNvPr name="Freeform 8" id="8"/>
          <p:cNvSpPr/>
          <p:nvPr/>
        </p:nvSpPr>
        <p:spPr>
          <a:xfrm flipH="false" flipV="false" rot="0">
            <a:off x="17259300" y="1052847"/>
            <a:ext cx="427047" cy="427047"/>
          </a:xfrm>
          <a:custGeom>
            <a:avLst/>
            <a:gdLst/>
            <a:ahLst/>
            <a:cxnLst/>
            <a:rect r="r" b="b" t="t" l="l"/>
            <a:pathLst>
              <a:path h="427047" w="427047">
                <a:moveTo>
                  <a:pt x="0" y="0"/>
                </a:moveTo>
                <a:lnTo>
                  <a:pt x="427047" y="0"/>
                </a:lnTo>
                <a:lnTo>
                  <a:pt x="427047" y="427047"/>
                </a:lnTo>
                <a:lnTo>
                  <a:pt x="0" y="427047"/>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9" id="9"/>
          <p:cNvGrpSpPr/>
          <p:nvPr/>
        </p:nvGrpSpPr>
        <p:grpSpPr>
          <a:xfrm rot="0">
            <a:off x="17509719" y="9508719"/>
            <a:ext cx="778281" cy="778281"/>
            <a:chOff x="0" y="0"/>
            <a:chExt cx="204979" cy="204979"/>
          </a:xfrm>
        </p:grpSpPr>
        <p:sp>
          <p:nvSpPr>
            <p:cNvPr name="Freeform 10" id="10"/>
            <p:cNvSpPr/>
            <p:nvPr/>
          </p:nvSpPr>
          <p:spPr>
            <a:xfrm flipH="false" flipV="false" rot="0">
              <a:off x="0" y="0"/>
              <a:ext cx="204979" cy="204979"/>
            </a:xfrm>
            <a:custGeom>
              <a:avLst/>
              <a:gdLst/>
              <a:ahLst/>
              <a:cxnLst/>
              <a:rect r="r" b="b" t="t" l="l"/>
              <a:pathLst>
                <a:path h="204979" w="204979">
                  <a:moveTo>
                    <a:pt x="0" y="0"/>
                  </a:moveTo>
                  <a:lnTo>
                    <a:pt x="204979" y="0"/>
                  </a:lnTo>
                  <a:lnTo>
                    <a:pt x="204979" y="204979"/>
                  </a:lnTo>
                  <a:lnTo>
                    <a:pt x="0" y="204979"/>
                  </a:lnTo>
                  <a:close/>
                </a:path>
              </a:pathLst>
            </a:custGeom>
            <a:solidFill>
              <a:srgbClr val="0F28EC"/>
            </a:solidFill>
          </p:spPr>
        </p:sp>
        <p:sp>
          <p:nvSpPr>
            <p:cNvPr name="TextBox 11" id="11"/>
            <p:cNvSpPr txBox="true"/>
            <p:nvPr/>
          </p:nvSpPr>
          <p:spPr>
            <a:xfrm>
              <a:off x="0" y="-85725"/>
              <a:ext cx="204979" cy="290704"/>
            </a:xfrm>
            <a:prstGeom prst="rect">
              <a:avLst/>
            </a:prstGeom>
          </p:spPr>
          <p:txBody>
            <a:bodyPr anchor="ctr" rtlCol="false" tIns="50800" lIns="50800" bIns="50800" rIns="50800"/>
            <a:lstStyle/>
            <a:p>
              <a:pPr algn="ctr">
                <a:lnSpc>
                  <a:spcPts val="2659"/>
                </a:lnSpc>
              </a:pPr>
            </a:p>
          </p:txBody>
        </p:sp>
      </p:grpSp>
      <p:sp>
        <p:nvSpPr>
          <p:cNvPr name="TextBox 12" id="12"/>
          <p:cNvSpPr txBox="true"/>
          <p:nvPr/>
        </p:nvSpPr>
        <p:spPr>
          <a:xfrm rot="0">
            <a:off x="17736317" y="9669577"/>
            <a:ext cx="382236" cy="370840"/>
          </a:xfrm>
          <a:prstGeom prst="rect">
            <a:avLst/>
          </a:prstGeom>
        </p:spPr>
        <p:txBody>
          <a:bodyPr anchor="t" rtlCol="false" tIns="0" lIns="0" bIns="0" rIns="0">
            <a:spAutoFit/>
          </a:bodyPr>
          <a:lstStyle/>
          <a:p>
            <a:pPr algn="l">
              <a:lnSpc>
                <a:spcPts val="2659"/>
              </a:lnSpc>
              <a:spcBef>
                <a:spcPct val="0"/>
              </a:spcBef>
            </a:pPr>
            <a:r>
              <a:rPr lang="en-US" b="true" sz="1899">
                <a:solidFill>
                  <a:srgbClr val="FFFFFF"/>
                </a:solidFill>
                <a:latin typeface="Agrandir Bold"/>
                <a:ea typeface="Agrandir Bold"/>
                <a:cs typeface="Agrandir Bold"/>
                <a:sym typeface="Agrandir Bold"/>
              </a:rPr>
              <a:t>03</a:t>
            </a:r>
          </a:p>
        </p:txBody>
      </p:sp>
      <p:grpSp>
        <p:nvGrpSpPr>
          <p:cNvPr name="Group 13" id="13"/>
          <p:cNvGrpSpPr/>
          <p:nvPr/>
        </p:nvGrpSpPr>
        <p:grpSpPr>
          <a:xfrm rot="0">
            <a:off x="1767800" y="3587918"/>
            <a:ext cx="11784068" cy="4571929"/>
            <a:chOff x="0" y="0"/>
            <a:chExt cx="15712090" cy="6095905"/>
          </a:xfrm>
        </p:grpSpPr>
        <p:sp>
          <p:nvSpPr>
            <p:cNvPr name="TextBox 14" id="14"/>
            <p:cNvSpPr txBox="true"/>
            <p:nvPr/>
          </p:nvSpPr>
          <p:spPr>
            <a:xfrm rot="0">
              <a:off x="0" y="4400315"/>
              <a:ext cx="15712090" cy="1695590"/>
            </a:xfrm>
            <a:prstGeom prst="rect">
              <a:avLst/>
            </a:prstGeom>
          </p:spPr>
          <p:txBody>
            <a:bodyPr anchor="t" rtlCol="false" tIns="0" lIns="0" bIns="0" rIns="0">
              <a:spAutoFit/>
            </a:bodyPr>
            <a:lstStyle/>
            <a:p>
              <a:pPr algn="l">
                <a:lnSpc>
                  <a:spcPts val="9575"/>
                </a:lnSpc>
                <a:spcBef>
                  <a:spcPct val="0"/>
                </a:spcBef>
              </a:pPr>
              <a:r>
                <a:rPr lang="en-US" b="true" sz="6839">
                  <a:solidFill>
                    <a:srgbClr val="0F28EC"/>
                  </a:solidFill>
                  <a:latin typeface="Agrandir Bold"/>
                  <a:ea typeface="Agrandir Bold"/>
                  <a:cs typeface="Agrandir Bold"/>
                  <a:sym typeface="Agrandir Bold"/>
                </a:rPr>
                <a:t>Huấn luyện mô hình</a:t>
              </a:r>
            </a:p>
          </p:txBody>
        </p:sp>
        <p:sp>
          <p:nvSpPr>
            <p:cNvPr name="TextBox 15" id="15"/>
            <p:cNvSpPr txBox="true"/>
            <p:nvPr/>
          </p:nvSpPr>
          <p:spPr>
            <a:xfrm rot="0">
              <a:off x="0" y="-1390650"/>
              <a:ext cx="3098161" cy="7270992"/>
            </a:xfrm>
            <a:prstGeom prst="rect">
              <a:avLst/>
            </a:prstGeom>
          </p:spPr>
          <p:txBody>
            <a:bodyPr anchor="t" rtlCol="false" tIns="0" lIns="0" bIns="0" rIns="0">
              <a:spAutoFit/>
            </a:bodyPr>
            <a:lstStyle/>
            <a:p>
              <a:pPr algn="l">
                <a:lnSpc>
                  <a:spcPts val="40655"/>
                </a:lnSpc>
                <a:spcBef>
                  <a:spcPct val="0"/>
                </a:spcBef>
              </a:pPr>
              <a:r>
                <a:rPr lang="en-US" b="true" sz="29039">
                  <a:solidFill>
                    <a:srgbClr val="0F28EC"/>
                  </a:solidFill>
                  <a:latin typeface="Agrandir Bold"/>
                  <a:ea typeface="Agrandir Bold"/>
                  <a:cs typeface="Agrandir Bold"/>
                  <a:sym typeface="Agrandir Bold"/>
                </a:rPr>
                <a:t>5</a:t>
              </a:r>
            </a:p>
          </p:txBody>
        </p:sp>
      </p:grpSp>
      <p:sp>
        <p:nvSpPr>
          <p:cNvPr name="Freeform 16" id="16"/>
          <p:cNvSpPr/>
          <p:nvPr/>
        </p:nvSpPr>
        <p:spPr>
          <a:xfrm flipH="false" flipV="false" rot="0">
            <a:off x="11712575" y="2744214"/>
            <a:ext cx="4666454" cy="6514086"/>
          </a:xfrm>
          <a:custGeom>
            <a:avLst/>
            <a:gdLst/>
            <a:ahLst/>
            <a:cxnLst/>
            <a:rect r="r" b="b" t="t" l="l"/>
            <a:pathLst>
              <a:path h="6514086" w="4666454">
                <a:moveTo>
                  <a:pt x="0" y="0"/>
                </a:moveTo>
                <a:lnTo>
                  <a:pt x="4666455" y="0"/>
                </a:lnTo>
                <a:lnTo>
                  <a:pt x="4666455" y="6514086"/>
                </a:lnTo>
                <a:lnTo>
                  <a:pt x="0" y="6514086"/>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Tree>
  </p:cSld>
  <p:clrMapOvr>
    <a:masterClrMapping/>
  </p:clrMapOvr>
</p:sld>
</file>

<file path=ppt/slides/slide24.xml><?xml version="1.0" encoding="utf-8"?>
<p:sld xmlns:p="http://schemas.openxmlformats.org/presentationml/2006/main" xmlns:a="http://schemas.openxmlformats.org/drawingml/2006/main" xmlns:r="http://schemas.openxmlformats.org/officeDocument/2006/relationships">
  <p:cSld>
    <p:bg>
      <p:bgPr>
        <a:solidFill>
          <a:srgbClr val="C7D3FF"/>
        </a:solidFill>
      </p:bgPr>
    </p:bg>
    <p:spTree>
      <p:nvGrpSpPr>
        <p:cNvPr id="1" name=""/>
        <p:cNvGrpSpPr/>
        <p:nvPr/>
      </p:nvGrpSpPr>
      <p:grpSpPr>
        <a:xfrm>
          <a:off x="0" y="0"/>
          <a:ext cx="0" cy="0"/>
          <a:chOff x="0" y="0"/>
          <a:chExt cx="0" cy="0"/>
        </a:xfrm>
      </p:grpSpPr>
      <p:grpSp>
        <p:nvGrpSpPr>
          <p:cNvPr name="Group 2" id="2"/>
          <p:cNvGrpSpPr/>
          <p:nvPr/>
        </p:nvGrpSpPr>
        <p:grpSpPr>
          <a:xfrm rot="0">
            <a:off x="-217699" y="525326"/>
            <a:ext cx="17904046" cy="1338906"/>
            <a:chOff x="0" y="0"/>
            <a:chExt cx="4715469" cy="352634"/>
          </a:xfrm>
        </p:grpSpPr>
        <p:sp>
          <p:nvSpPr>
            <p:cNvPr name="Freeform 3" id="3"/>
            <p:cNvSpPr/>
            <p:nvPr/>
          </p:nvSpPr>
          <p:spPr>
            <a:xfrm flipH="false" flipV="false" rot="0">
              <a:off x="0" y="0"/>
              <a:ext cx="4715469" cy="352634"/>
            </a:xfrm>
            <a:custGeom>
              <a:avLst/>
              <a:gdLst/>
              <a:ahLst/>
              <a:cxnLst/>
              <a:rect r="r" b="b" t="t" l="l"/>
              <a:pathLst>
                <a:path h="352634" w="4715469">
                  <a:moveTo>
                    <a:pt x="0" y="0"/>
                  </a:moveTo>
                  <a:lnTo>
                    <a:pt x="4715469" y="0"/>
                  </a:lnTo>
                  <a:lnTo>
                    <a:pt x="4715469" y="352634"/>
                  </a:lnTo>
                  <a:lnTo>
                    <a:pt x="0" y="352634"/>
                  </a:lnTo>
                  <a:close/>
                </a:path>
              </a:pathLst>
            </a:custGeom>
            <a:solidFill>
              <a:srgbClr val="1022B1"/>
            </a:solidFill>
          </p:spPr>
        </p:sp>
        <p:sp>
          <p:nvSpPr>
            <p:cNvPr name="TextBox 4" id="4"/>
            <p:cNvSpPr txBox="true"/>
            <p:nvPr/>
          </p:nvSpPr>
          <p:spPr>
            <a:xfrm>
              <a:off x="0" y="-85725"/>
              <a:ext cx="4715469" cy="438359"/>
            </a:xfrm>
            <a:prstGeom prst="rect">
              <a:avLst/>
            </a:prstGeom>
          </p:spPr>
          <p:txBody>
            <a:bodyPr anchor="ctr" rtlCol="false" tIns="50800" lIns="50800" bIns="50800" rIns="50800"/>
            <a:lstStyle/>
            <a:p>
              <a:pPr algn="ctr">
                <a:lnSpc>
                  <a:spcPts val="2659"/>
                </a:lnSpc>
              </a:pPr>
            </a:p>
          </p:txBody>
        </p:sp>
      </p:grpSp>
      <p:grpSp>
        <p:nvGrpSpPr>
          <p:cNvPr name="Group 5" id="5"/>
          <p:cNvGrpSpPr/>
          <p:nvPr/>
        </p:nvGrpSpPr>
        <p:grpSpPr>
          <a:xfrm rot="0">
            <a:off x="15958661" y="-1019379"/>
            <a:ext cx="3853113" cy="3853113"/>
            <a:chOff x="0" y="0"/>
            <a:chExt cx="812800" cy="812800"/>
          </a:xfrm>
        </p:grpSpPr>
        <p:sp>
          <p:nvSpPr>
            <p:cNvPr name="Freeform 6" id="6"/>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F28EC"/>
            </a:solidFill>
          </p:spPr>
        </p:sp>
        <p:sp>
          <p:nvSpPr>
            <p:cNvPr name="TextBox 7" id="7"/>
            <p:cNvSpPr txBox="true"/>
            <p:nvPr/>
          </p:nvSpPr>
          <p:spPr>
            <a:xfrm>
              <a:off x="76200" y="38100"/>
              <a:ext cx="660400" cy="698500"/>
            </a:xfrm>
            <a:prstGeom prst="rect">
              <a:avLst/>
            </a:prstGeom>
          </p:spPr>
          <p:txBody>
            <a:bodyPr anchor="ctr" rtlCol="false" tIns="50800" lIns="50800" bIns="50800" rIns="50800"/>
            <a:lstStyle/>
            <a:p>
              <a:pPr algn="ctr">
                <a:lnSpc>
                  <a:spcPts val="2659"/>
                </a:lnSpc>
                <a:spcBef>
                  <a:spcPct val="0"/>
                </a:spcBef>
              </a:pPr>
            </a:p>
          </p:txBody>
        </p:sp>
      </p:grpSp>
      <p:sp>
        <p:nvSpPr>
          <p:cNvPr name="Freeform 8" id="8"/>
          <p:cNvSpPr/>
          <p:nvPr/>
        </p:nvSpPr>
        <p:spPr>
          <a:xfrm flipH="false" flipV="false" rot="0">
            <a:off x="17259300" y="1052847"/>
            <a:ext cx="427047" cy="427047"/>
          </a:xfrm>
          <a:custGeom>
            <a:avLst/>
            <a:gdLst/>
            <a:ahLst/>
            <a:cxnLst/>
            <a:rect r="r" b="b" t="t" l="l"/>
            <a:pathLst>
              <a:path h="427047" w="427047">
                <a:moveTo>
                  <a:pt x="0" y="0"/>
                </a:moveTo>
                <a:lnTo>
                  <a:pt x="427047" y="0"/>
                </a:lnTo>
                <a:lnTo>
                  <a:pt x="427047" y="427047"/>
                </a:lnTo>
                <a:lnTo>
                  <a:pt x="0" y="427047"/>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9" id="9"/>
          <p:cNvGrpSpPr/>
          <p:nvPr/>
        </p:nvGrpSpPr>
        <p:grpSpPr>
          <a:xfrm rot="0">
            <a:off x="17509719" y="9508719"/>
            <a:ext cx="778281" cy="778281"/>
            <a:chOff x="0" y="0"/>
            <a:chExt cx="204979" cy="204979"/>
          </a:xfrm>
        </p:grpSpPr>
        <p:sp>
          <p:nvSpPr>
            <p:cNvPr name="Freeform 10" id="10"/>
            <p:cNvSpPr/>
            <p:nvPr/>
          </p:nvSpPr>
          <p:spPr>
            <a:xfrm flipH="false" flipV="false" rot="0">
              <a:off x="0" y="0"/>
              <a:ext cx="204979" cy="204979"/>
            </a:xfrm>
            <a:custGeom>
              <a:avLst/>
              <a:gdLst/>
              <a:ahLst/>
              <a:cxnLst/>
              <a:rect r="r" b="b" t="t" l="l"/>
              <a:pathLst>
                <a:path h="204979" w="204979">
                  <a:moveTo>
                    <a:pt x="0" y="0"/>
                  </a:moveTo>
                  <a:lnTo>
                    <a:pt x="204979" y="0"/>
                  </a:lnTo>
                  <a:lnTo>
                    <a:pt x="204979" y="204979"/>
                  </a:lnTo>
                  <a:lnTo>
                    <a:pt x="0" y="204979"/>
                  </a:lnTo>
                  <a:close/>
                </a:path>
              </a:pathLst>
            </a:custGeom>
            <a:solidFill>
              <a:srgbClr val="0F28EC"/>
            </a:solidFill>
          </p:spPr>
        </p:sp>
        <p:sp>
          <p:nvSpPr>
            <p:cNvPr name="TextBox 11" id="11"/>
            <p:cNvSpPr txBox="true"/>
            <p:nvPr/>
          </p:nvSpPr>
          <p:spPr>
            <a:xfrm>
              <a:off x="0" y="-85725"/>
              <a:ext cx="204979" cy="290704"/>
            </a:xfrm>
            <a:prstGeom prst="rect">
              <a:avLst/>
            </a:prstGeom>
          </p:spPr>
          <p:txBody>
            <a:bodyPr anchor="ctr" rtlCol="false" tIns="50800" lIns="50800" bIns="50800" rIns="50800"/>
            <a:lstStyle/>
            <a:p>
              <a:pPr algn="ctr">
                <a:lnSpc>
                  <a:spcPts val="2659"/>
                </a:lnSpc>
              </a:pPr>
            </a:p>
          </p:txBody>
        </p:sp>
      </p:grpSp>
      <p:sp>
        <p:nvSpPr>
          <p:cNvPr name="TextBox 12" id="12"/>
          <p:cNvSpPr txBox="true"/>
          <p:nvPr/>
        </p:nvSpPr>
        <p:spPr>
          <a:xfrm rot="0">
            <a:off x="17736317" y="9669577"/>
            <a:ext cx="382236" cy="370840"/>
          </a:xfrm>
          <a:prstGeom prst="rect">
            <a:avLst/>
          </a:prstGeom>
        </p:spPr>
        <p:txBody>
          <a:bodyPr anchor="t" rtlCol="false" tIns="0" lIns="0" bIns="0" rIns="0">
            <a:spAutoFit/>
          </a:bodyPr>
          <a:lstStyle/>
          <a:p>
            <a:pPr algn="l">
              <a:lnSpc>
                <a:spcPts val="2659"/>
              </a:lnSpc>
              <a:spcBef>
                <a:spcPct val="0"/>
              </a:spcBef>
            </a:pPr>
            <a:r>
              <a:rPr lang="en-US" b="true" sz="1899">
                <a:solidFill>
                  <a:srgbClr val="FFFFFF"/>
                </a:solidFill>
                <a:latin typeface="Agrandir Bold"/>
                <a:ea typeface="Agrandir Bold"/>
                <a:cs typeface="Agrandir Bold"/>
                <a:sym typeface="Agrandir Bold"/>
              </a:rPr>
              <a:t>05</a:t>
            </a:r>
          </a:p>
        </p:txBody>
      </p:sp>
      <p:sp>
        <p:nvSpPr>
          <p:cNvPr name="TextBox 13" id="13"/>
          <p:cNvSpPr txBox="true"/>
          <p:nvPr/>
        </p:nvSpPr>
        <p:spPr>
          <a:xfrm rot="0">
            <a:off x="561398" y="397611"/>
            <a:ext cx="14179543" cy="1350274"/>
          </a:xfrm>
          <a:prstGeom prst="rect">
            <a:avLst/>
          </a:prstGeom>
        </p:spPr>
        <p:txBody>
          <a:bodyPr anchor="t" rtlCol="false" tIns="0" lIns="0" bIns="0" rIns="0">
            <a:spAutoFit/>
          </a:bodyPr>
          <a:lstStyle/>
          <a:p>
            <a:pPr algn="l">
              <a:lnSpc>
                <a:spcPts val="9575"/>
              </a:lnSpc>
              <a:spcBef>
                <a:spcPct val="0"/>
              </a:spcBef>
            </a:pPr>
            <a:r>
              <a:rPr lang="en-US" b="true" sz="6839">
                <a:solidFill>
                  <a:srgbClr val="FFFFFF"/>
                </a:solidFill>
                <a:latin typeface="Agrandir Bold"/>
                <a:ea typeface="Agrandir Bold"/>
                <a:cs typeface="Agrandir Bold"/>
                <a:sym typeface="Agrandir Bold"/>
              </a:rPr>
              <a:t>4. Backend</a:t>
            </a:r>
          </a:p>
        </p:txBody>
      </p:sp>
    </p:spTree>
  </p:cSld>
  <p:clrMapOvr>
    <a:masterClrMapping/>
  </p:clrMapOvr>
</p:sld>
</file>

<file path=ppt/slides/slide25.xml><?xml version="1.0" encoding="utf-8"?>
<p:sld xmlns:p="http://schemas.openxmlformats.org/presentationml/2006/main" xmlns:a="http://schemas.openxmlformats.org/drawingml/2006/main" xmlns:r="http://schemas.openxmlformats.org/officeDocument/2006/relationships">
  <p:cSld>
    <p:bg>
      <p:bgPr>
        <a:solidFill>
          <a:srgbClr val="C7D3FF"/>
        </a:solidFill>
      </p:bgPr>
    </p:bg>
    <p:spTree>
      <p:nvGrpSpPr>
        <p:cNvPr id="1" name=""/>
        <p:cNvGrpSpPr/>
        <p:nvPr/>
      </p:nvGrpSpPr>
      <p:grpSpPr>
        <a:xfrm>
          <a:off x="0" y="0"/>
          <a:ext cx="0" cy="0"/>
          <a:chOff x="0" y="0"/>
          <a:chExt cx="0" cy="0"/>
        </a:xfrm>
      </p:grpSpPr>
      <p:grpSp>
        <p:nvGrpSpPr>
          <p:cNvPr name="Group 2" id="2"/>
          <p:cNvGrpSpPr/>
          <p:nvPr/>
        </p:nvGrpSpPr>
        <p:grpSpPr>
          <a:xfrm rot="0">
            <a:off x="-217699" y="525326"/>
            <a:ext cx="17904046" cy="1338906"/>
            <a:chOff x="0" y="0"/>
            <a:chExt cx="4715469" cy="352634"/>
          </a:xfrm>
        </p:grpSpPr>
        <p:sp>
          <p:nvSpPr>
            <p:cNvPr name="Freeform 3" id="3"/>
            <p:cNvSpPr/>
            <p:nvPr/>
          </p:nvSpPr>
          <p:spPr>
            <a:xfrm flipH="false" flipV="false" rot="0">
              <a:off x="0" y="0"/>
              <a:ext cx="4715469" cy="352634"/>
            </a:xfrm>
            <a:custGeom>
              <a:avLst/>
              <a:gdLst/>
              <a:ahLst/>
              <a:cxnLst/>
              <a:rect r="r" b="b" t="t" l="l"/>
              <a:pathLst>
                <a:path h="352634" w="4715469">
                  <a:moveTo>
                    <a:pt x="0" y="0"/>
                  </a:moveTo>
                  <a:lnTo>
                    <a:pt x="4715469" y="0"/>
                  </a:lnTo>
                  <a:lnTo>
                    <a:pt x="4715469" y="352634"/>
                  </a:lnTo>
                  <a:lnTo>
                    <a:pt x="0" y="352634"/>
                  </a:lnTo>
                  <a:close/>
                </a:path>
              </a:pathLst>
            </a:custGeom>
            <a:solidFill>
              <a:srgbClr val="1022B1"/>
            </a:solidFill>
          </p:spPr>
        </p:sp>
        <p:sp>
          <p:nvSpPr>
            <p:cNvPr name="TextBox 4" id="4"/>
            <p:cNvSpPr txBox="true"/>
            <p:nvPr/>
          </p:nvSpPr>
          <p:spPr>
            <a:xfrm>
              <a:off x="0" y="-85725"/>
              <a:ext cx="4715469" cy="438359"/>
            </a:xfrm>
            <a:prstGeom prst="rect">
              <a:avLst/>
            </a:prstGeom>
          </p:spPr>
          <p:txBody>
            <a:bodyPr anchor="ctr" rtlCol="false" tIns="50800" lIns="50800" bIns="50800" rIns="50800"/>
            <a:lstStyle/>
            <a:p>
              <a:pPr algn="ctr">
                <a:lnSpc>
                  <a:spcPts val="2659"/>
                </a:lnSpc>
              </a:pPr>
            </a:p>
          </p:txBody>
        </p:sp>
      </p:grpSp>
      <p:grpSp>
        <p:nvGrpSpPr>
          <p:cNvPr name="Group 5" id="5"/>
          <p:cNvGrpSpPr/>
          <p:nvPr/>
        </p:nvGrpSpPr>
        <p:grpSpPr>
          <a:xfrm rot="0">
            <a:off x="15958661" y="-1019379"/>
            <a:ext cx="3853113" cy="3853113"/>
            <a:chOff x="0" y="0"/>
            <a:chExt cx="812800" cy="812800"/>
          </a:xfrm>
        </p:grpSpPr>
        <p:sp>
          <p:nvSpPr>
            <p:cNvPr name="Freeform 6" id="6"/>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F28EC"/>
            </a:solidFill>
          </p:spPr>
        </p:sp>
        <p:sp>
          <p:nvSpPr>
            <p:cNvPr name="TextBox 7" id="7"/>
            <p:cNvSpPr txBox="true"/>
            <p:nvPr/>
          </p:nvSpPr>
          <p:spPr>
            <a:xfrm>
              <a:off x="76200" y="38100"/>
              <a:ext cx="660400" cy="698500"/>
            </a:xfrm>
            <a:prstGeom prst="rect">
              <a:avLst/>
            </a:prstGeom>
          </p:spPr>
          <p:txBody>
            <a:bodyPr anchor="ctr" rtlCol="false" tIns="50800" lIns="50800" bIns="50800" rIns="50800"/>
            <a:lstStyle/>
            <a:p>
              <a:pPr algn="ctr">
                <a:lnSpc>
                  <a:spcPts val="2659"/>
                </a:lnSpc>
                <a:spcBef>
                  <a:spcPct val="0"/>
                </a:spcBef>
              </a:pPr>
            </a:p>
          </p:txBody>
        </p:sp>
      </p:grpSp>
      <p:sp>
        <p:nvSpPr>
          <p:cNvPr name="Freeform 8" id="8"/>
          <p:cNvSpPr/>
          <p:nvPr/>
        </p:nvSpPr>
        <p:spPr>
          <a:xfrm flipH="false" flipV="false" rot="0">
            <a:off x="17259300" y="1052847"/>
            <a:ext cx="427047" cy="427047"/>
          </a:xfrm>
          <a:custGeom>
            <a:avLst/>
            <a:gdLst/>
            <a:ahLst/>
            <a:cxnLst/>
            <a:rect r="r" b="b" t="t" l="l"/>
            <a:pathLst>
              <a:path h="427047" w="427047">
                <a:moveTo>
                  <a:pt x="0" y="0"/>
                </a:moveTo>
                <a:lnTo>
                  <a:pt x="427047" y="0"/>
                </a:lnTo>
                <a:lnTo>
                  <a:pt x="427047" y="427047"/>
                </a:lnTo>
                <a:lnTo>
                  <a:pt x="0" y="427047"/>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9" id="9"/>
          <p:cNvGrpSpPr/>
          <p:nvPr/>
        </p:nvGrpSpPr>
        <p:grpSpPr>
          <a:xfrm rot="0">
            <a:off x="17509719" y="9508719"/>
            <a:ext cx="778281" cy="778281"/>
            <a:chOff x="0" y="0"/>
            <a:chExt cx="204979" cy="204979"/>
          </a:xfrm>
        </p:grpSpPr>
        <p:sp>
          <p:nvSpPr>
            <p:cNvPr name="Freeform 10" id="10"/>
            <p:cNvSpPr/>
            <p:nvPr/>
          </p:nvSpPr>
          <p:spPr>
            <a:xfrm flipH="false" flipV="false" rot="0">
              <a:off x="0" y="0"/>
              <a:ext cx="204979" cy="204979"/>
            </a:xfrm>
            <a:custGeom>
              <a:avLst/>
              <a:gdLst/>
              <a:ahLst/>
              <a:cxnLst/>
              <a:rect r="r" b="b" t="t" l="l"/>
              <a:pathLst>
                <a:path h="204979" w="204979">
                  <a:moveTo>
                    <a:pt x="0" y="0"/>
                  </a:moveTo>
                  <a:lnTo>
                    <a:pt x="204979" y="0"/>
                  </a:lnTo>
                  <a:lnTo>
                    <a:pt x="204979" y="204979"/>
                  </a:lnTo>
                  <a:lnTo>
                    <a:pt x="0" y="204979"/>
                  </a:lnTo>
                  <a:close/>
                </a:path>
              </a:pathLst>
            </a:custGeom>
            <a:solidFill>
              <a:srgbClr val="0F28EC"/>
            </a:solidFill>
          </p:spPr>
        </p:sp>
        <p:sp>
          <p:nvSpPr>
            <p:cNvPr name="TextBox 11" id="11"/>
            <p:cNvSpPr txBox="true"/>
            <p:nvPr/>
          </p:nvSpPr>
          <p:spPr>
            <a:xfrm>
              <a:off x="0" y="-85725"/>
              <a:ext cx="204979" cy="290704"/>
            </a:xfrm>
            <a:prstGeom prst="rect">
              <a:avLst/>
            </a:prstGeom>
          </p:spPr>
          <p:txBody>
            <a:bodyPr anchor="ctr" rtlCol="false" tIns="50800" lIns="50800" bIns="50800" rIns="50800"/>
            <a:lstStyle/>
            <a:p>
              <a:pPr algn="ctr">
                <a:lnSpc>
                  <a:spcPts val="2659"/>
                </a:lnSpc>
              </a:pPr>
            </a:p>
          </p:txBody>
        </p:sp>
      </p:grpSp>
      <p:sp>
        <p:nvSpPr>
          <p:cNvPr name="TextBox 12" id="12"/>
          <p:cNvSpPr txBox="true"/>
          <p:nvPr/>
        </p:nvSpPr>
        <p:spPr>
          <a:xfrm rot="0">
            <a:off x="17736317" y="9669577"/>
            <a:ext cx="382236" cy="370840"/>
          </a:xfrm>
          <a:prstGeom prst="rect">
            <a:avLst/>
          </a:prstGeom>
        </p:spPr>
        <p:txBody>
          <a:bodyPr anchor="t" rtlCol="false" tIns="0" lIns="0" bIns="0" rIns="0">
            <a:spAutoFit/>
          </a:bodyPr>
          <a:lstStyle/>
          <a:p>
            <a:pPr algn="l">
              <a:lnSpc>
                <a:spcPts val="2659"/>
              </a:lnSpc>
              <a:spcBef>
                <a:spcPct val="0"/>
              </a:spcBef>
            </a:pPr>
            <a:r>
              <a:rPr lang="en-US" b="true" sz="1899">
                <a:solidFill>
                  <a:srgbClr val="FFFFFF"/>
                </a:solidFill>
                <a:latin typeface="Agrandir Bold"/>
                <a:ea typeface="Agrandir Bold"/>
                <a:cs typeface="Agrandir Bold"/>
                <a:sym typeface="Agrandir Bold"/>
              </a:rPr>
              <a:t>06</a:t>
            </a:r>
          </a:p>
        </p:txBody>
      </p:sp>
      <p:sp>
        <p:nvSpPr>
          <p:cNvPr name="TextBox 13" id="13"/>
          <p:cNvSpPr txBox="true"/>
          <p:nvPr/>
        </p:nvSpPr>
        <p:spPr>
          <a:xfrm rot="0">
            <a:off x="1566711" y="6779638"/>
            <a:ext cx="8342165" cy="1350274"/>
          </a:xfrm>
          <a:prstGeom prst="rect">
            <a:avLst/>
          </a:prstGeom>
        </p:spPr>
        <p:txBody>
          <a:bodyPr anchor="t" rtlCol="false" tIns="0" lIns="0" bIns="0" rIns="0">
            <a:spAutoFit/>
          </a:bodyPr>
          <a:lstStyle/>
          <a:p>
            <a:pPr algn="l">
              <a:lnSpc>
                <a:spcPts val="9575"/>
              </a:lnSpc>
              <a:spcBef>
                <a:spcPct val="0"/>
              </a:spcBef>
            </a:pPr>
            <a:r>
              <a:rPr lang="en-US" b="true" sz="6839">
                <a:solidFill>
                  <a:srgbClr val="0F28EC"/>
                </a:solidFill>
                <a:latin typeface="Agrandir Bold"/>
                <a:ea typeface="Agrandir Bold"/>
                <a:cs typeface="Agrandir Bold"/>
                <a:sym typeface="Agrandir Bold"/>
              </a:rPr>
              <a:t>Demo</a:t>
            </a:r>
          </a:p>
        </p:txBody>
      </p:sp>
      <p:sp>
        <p:nvSpPr>
          <p:cNvPr name="TextBox 14" id="14"/>
          <p:cNvSpPr txBox="true"/>
          <p:nvPr/>
        </p:nvSpPr>
        <p:spPr>
          <a:xfrm rot="0">
            <a:off x="1566711" y="2034071"/>
            <a:ext cx="1492305" cy="5800907"/>
          </a:xfrm>
          <a:prstGeom prst="rect">
            <a:avLst/>
          </a:prstGeom>
        </p:spPr>
        <p:txBody>
          <a:bodyPr anchor="t" rtlCol="false" tIns="0" lIns="0" bIns="0" rIns="0">
            <a:spAutoFit/>
          </a:bodyPr>
          <a:lstStyle/>
          <a:p>
            <a:pPr algn="l">
              <a:lnSpc>
                <a:spcPts val="40655"/>
              </a:lnSpc>
              <a:spcBef>
                <a:spcPct val="0"/>
              </a:spcBef>
            </a:pPr>
            <a:r>
              <a:rPr lang="en-US" b="true" sz="29039">
                <a:solidFill>
                  <a:srgbClr val="0F28EC"/>
                </a:solidFill>
                <a:latin typeface="Agrandir Bold"/>
                <a:ea typeface="Agrandir Bold"/>
                <a:cs typeface="Agrandir Bold"/>
                <a:sym typeface="Agrandir Bold"/>
              </a:rPr>
              <a:t>6</a:t>
            </a:r>
          </a:p>
        </p:txBody>
      </p:sp>
      <p:sp>
        <p:nvSpPr>
          <p:cNvPr name="Freeform 15" id="15"/>
          <p:cNvSpPr/>
          <p:nvPr/>
        </p:nvSpPr>
        <p:spPr>
          <a:xfrm flipH="false" flipV="false" rot="0">
            <a:off x="10655746" y="2045913"/>
            <a:ext cx="7462806" cy="7462806"/>
          </a:xfrm>
          <a:custGeom>
            <a:avLst/>
            <a:gdLst/>
            <a:ahLst/>
            <a:cxnLst/>
            <a:rect r="r" b="b" t="t" l="l"/>
            <a:pathLst>
              <a:path h="7462806" w="7462806">
                <a:moveTo>
                  <a:pt x="0" y="0"/>
                </a:moveTo>
                <a:lnTo>
                  <a:pt x="7462807" y="0"/>
                </a:lnTo>
                <a:lnTo>
                  <a:pt x="7462807" y="7462806"/>
                </a:lnTo>
                <a:lnTo>
                  <a:pt x="0" y="7462806"/>
                </a:lnTo>
                <a:lnTo>
                  <a:pt x="0" y="0"/>
                </a:lnTo>
                <a:close/>
              </a:path>
            </a:pathLst>
          </a:custGeom>
          <a:blipFill>
            <a:blip r:embed="rId4"/>
            <a:stretch>
              <a:fillRect l="0" t="0" r="0" b="0"/>
            </a:stretch>
          </a:blipFill>
        </p:spPr>
      </p:sp>
    </p:spTree>
  </p:cSld>
  <p:clrMapOvr>
    <a:masterClrMapping/>
  </p:clrMapOvr>
</p:sld>
</file>

<file path=ppt/slides/slide26.xml><?xml version="1.0" encoding="utf-8"?>
<p:sld xmlns:p="http://schemas.openxmlformats.org/presentationml/2006/main" xmlns:a="http://schemas.openxmlformats.org/drawingml/2006/main" xmlns:r="http://schemas.openxmlformats.org/officeDocument/2006/relationships">
  <p:cSld>
    <p:bg>
      <p:bgPr>
        <a:solidFill>
          <a:srgbClr val="C7D3FF"/>
        </a:solidFill>
      </p:bgPr>
    </p:bg>
    <p:spTree>
      <p:nvGrpSpPr>
        <p:cNvPr id="1" name=""/>
        <p:cNvGrpSpPr/>
        <p:nvPr/>
      </p:nvGrpSpPr>
      <p:grpSpPr>
        <a:xfrm>
          <a:off x="0" y="0"/>
          <a:ext cx="0" cy="0"/>
          <a:chOff x="0" y="0"/>
          <a:chExt cx="0" cy="0"/>
        </a:xfrm>
      </p:grpSpPr>
      <p:sp>
        <p:nvSpPr>
          <p:cNvPr name="Freeform 2" id="2"/>
          <p:cNvSpPr/>
          <p:nvPr/>
        </p:nvSpPr>
        <p:spPr>
          <a:xfrm flipH="false" flipV="false" rot="0">
            <a:off x="1028700" y="1748835"/>
            <a:ext cx="7304293" cy="7144927"/>
          </a:xfrm>
          <a:custGeom>
            <a:avLst/>
            <a:gdLst/>
            <a:ahLst/>
            <a:cxnLst/>
            <a:rect r="r" b="b" t="t" l="l"/>
            <a:pathLst>
              <a:path h="7144927" w="7304293">
                <a:moveTo>
                  <a:pt x="0" y="0"/>
                </a:moveTo>
                <a:lnTo>
                  <a:pt x="7304293" y="0"/>
                </a:lnTo>
                <a:lnTo>
                  <a:pt x="7304293" y="7144927"/>
                </a:lnTo>
                <a:lnTo>
                  <a:pt x="0" y="7144927"/>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3" id="3"/>
          <p:cNvGrpSpPr/>
          <p:nvPr/>
        </p:nvGrpSpPr>
        <p:grpSpPr>
          <a:xfrm rot="0">
            <a:off x="8403671" y="-835634"/>
            <a:ext cx="12825835" cy="12825835"/>
            <a:chOff x="0" y="0"/>
            <a:chExt cx="812800" cy="812800"/>
          </a:xfrm>
        </p:grpSpPr>
        <p:sp>
          <p:nvSpPr>
            <p:cNvPr name="Freeform 4" id="4"/>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F28EC"/>
            </a:solidFill>
          </p:spPr>
        </p:sp>
        <p:sp>
          <p:nvSpPr>
            <p:cNvPr name="TextBox 5" id="5"/>
            <p:cNvSpPr txBox="true"/>
            <p:nvPr/>
          </p:nvSpPr>
          <p:spPr>
            <a:xfrm>
              <a:off x="76200" y="38100"/>
              <a:ext cx="660400" cy="698500"/>
            </a:xfrm>
            <a:prstGeom prst="rect">
              <a:avLst/>
            </a:prstGeom>
          </p:spPr>
          <p:txBody>
            <a:bodyPr anchor="ctr" rtlCol="false" tIns="50800" lIns="50800" bIns="50800" rIns="50800"/>
            <a:lstStyle/>
            <a:p>
              <a:pPr algn="ctr">
                <a:lnSpc>
                  <a:spcPts val="2659"/>
                </a:lnSpc>
                <a:spcBef>
                  <a:spcPct val="0"/>
                </a:spcBef>
              </a:pPr>
            </a:p>
          </p:txBody>
        </p:sp>
      </p:grpSp>
      <p:grpSp>
        <p:nvGrpSpPr>
          <p:cNvPr name="Group 6" id="6"/>
          <p:cNvGrpSpPr/>
          <p:nvPr/>
        </p:nvGrpSpPr>
        <p:grpSpPr>
          <a:xfrm rot="0">
            <a:off x="9657727" y="-772695"/>
            <a:ext cx="12825835" cy="12825835"/>
            <a:chOff x="0" y="0"/>
            <a:chExt cx="812800" cy="812800"/>
          </a:xfrm>
        </p:grpSpPr>
        <p:sp>
          <p:nvSpPr>
            <p:cNvPr name="Freeform 7" id="7"/>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1022B1"/>
            </a:solidFill>
          </p:spPr>
        </p:sp>
        <p:sp>
          <p:nvSpPr>
            <p:cNvPr name="TextBox 8" id="8"/>
            <p:cNvSpPr txBox="true"/>
            <p:nvPr/>
          </p:nvSpPr>
          <p:spPr>
            <a:xfrm>
              <a:off x="76200" y="38100"/>
              <a:ext cx="660400" cy="698500"/>
            </a:xfrm>
            <a:prstGeom prst="rect">
              <a:avLst/>
            </a:prstGeom>
          </p:spPr>
          <p:txBody>
            <a:bodyPr anchor="ctr" rtlCol="false" tIns="50800" lIns="50800" bIns="50800" rIns="50800"/>
            <a:lstStyle/>
            <a:p>
              <a:pPr algn="ctr">
                <a:lnSpc>
                  <a:spcPts val="2659"/>
                </a:lnSpc>
                <a:spcBef>
                  <a:spcPct val="0"/>
                </a:spcBef>
              </a:pPr>
            </a:p>
          </p:txBody>
        </p:sp>
      </p:grpSp>
      <p:sp>
        <p:nvSpPr>
          <p:cNvPr name="TextBox 9" id="9"/>
          <p:cNvSpPr txBox="true"/>
          <p:nvPr/>
        </p:nvSpPr>
        <p:spPr>
          <a:xfrm rot="0">
            <a:off x="11269240" y="3770174"/>
            <a:ext cx="5380488" cy="1807109"/>
          </a:xfrm>
          <a:prstGeom prst="rect">
            <a:avLst/>
          </a:prstGeom>
        </p:spPr>
        <p:txBody>
          <a:bodyPr anchor="t" rtlCol="false" tIns="0" lIns="0" bIns="0" rIns="0">
            <a:spAutoFit/>
          </a:bodyPr>
          <a:lstStyle/>
          <a:p>
            <a:pPr algn="l">
              <a:lnSpc>
                <a:spcPts val="12771"/>
              </a:lnSpc>
              <a:spcBef>
                <a:spcPct val="0"/>
              </a:spcBef>
            </a:pPr>
            <a:r>
              <a:rPr lang="en-US" sz="9122">
                <a:solidFill>
                  <a:srgbClr val="FFFFFF"/>
                </a:solidFill>
                <a:latin typeface="Agrandir Grand"/>
                <a:ea typeface="Agrandir Grand"/>
                <a:cs typeface="Agrandir Grand"/>
                <a:sym typeface="Agrandir Grand"/>
              </a:rPr>
              <a:t>Thank</a:t>
            </a:r>
          </a:p>
        </p:txBody>
      </p:sp>
      <p:sp>
        <p:nvSpPr>
          <p:cNvPr name="TextBox 10" id="10"/>
          <p:cNvSpPr txBox="true"/>
          <p:nvPr/>
        </p:nvSpPr>
        <p:spPr>
          <a:xfrm rot="0">
            <a:off x="11269240" y="4883148"/>
            <a:ext cx="5380488" cy="1819859"/>
          </a:xfrm>
          <a:prstGeom prst="rect">
            <a:avLst/>
          </a:prstGeom>
        </p:spPr>
        <p:txBody>
          <a:bodyPr anchor="t" rtlCol="false" tIns="0" lIns="0" bIns="0" rIns="0">
            <a:spAutoFit/>
          </a:bodyPr>
          <a:lstStyle/>
          <a:p>
            <a:pPr algn="l">
              <a:lnSpc>
                <a:spcPts val="12771"/>
              </a:lnSpc>
              <a:spcBef>
                <a:spcPct val="0"/>
              </a:spcBef>
            </a:pPr>
            <a:r>
              <a:rPr lang="en-US" b="true" sz="9122">
                <a:solidFill>
                  <a:srgbClr val="FFFFFF"/>
                </a:solidFill>
                <a:latin typeface="Agrandir Grand Bold"/>
                <a:ea typeface="Agrandir Grand Bold"/>
                <a:cs typeface="Agrandir Grand Bold"/>
                <a:sym typeface="Agrandir Grand Bold"/>
              </a:rPr>
              <a:t>You.</a:t>
            </a:r>
          </a:p>
        </p:txBody>
      </p:sp>
      <p:grpSp>
        <p:nvGrpSpPr>
          <p:cNvPr name="Group 11" id="11"/>
          <p:cNvGrpSpPr/>
          <p:nvPr/>
        </p:nvGrpSpPr>
        <p:grpSpPr>
          <a:xfrm rot="0">
            <a:off x="17509719" y="9508719"/>
            <a:ext cx="778281" cy="778281"/>
            <a:chOff x="0" y="0"/>
            <a:chExt cx="204979" cy="204979"/>
          </a:xfrm>
        </p:grpSpPr>
        <p:sp>
          <p:nvSpPr>
            <p:cNvPr name="Freeform 12" id="12"/>
            <p:cNvSpPr/>
            <p:nvPr/>
          </p:nvSpPr>
          <p:spPr>
            <a:xfrm flipH="false" flipV="false" rot="0">
              <a:off x="0" y="0"/>
              <a:ext cx="204979" cy="204979"/>
            </a:xfrm>
            <a:custGeom>
              <a:avLst/>
              <a:gdLst/>
              <a:ahLst/>
              <a:cxnLst/>
              <a:rect r="r" b="b" t="t" l="l"/>
              <a:pathLst>
                <a:path h="204979" w="204979">
                  <a:moveTo>
                    <a:pt x="0" y="0"/>
                  </a:moveTo>
                  <a:lnTo>
                    <a:pt x="204979" y="0"/>
                  </a:lnTo>
                  <a:lnTo>
                    <a:pt x="204979" y="204979"/>
                  </a:lnTo>
                  <a:lnTo>
                    <a:pt x="0" y="204979"/>
                  </a:lnTo>
                  <a:close/>
                </a:path>
              </a:pathLst>
            </a:custGeom>
            <a:solidFill>
              <a:srgbClr val="C7D3FF"/>
            </a:solidFill>
          </p:spPr>
        </p:sp>
        <p:sp>
          <p:nvSpPr>
            <p:cNvPr name="TextBox 13" id="13"/>
            <p:cNvSpPr txBox="true"/>
            <p:nvPr/>
          </p:nvSpPr>
          <p:spPr>
            <a:xfrm>
              <a:off x="0" y="-85725"/>
              <a:ext cx="204979" cy="290704"/>
            </a:xfrm>
            <a:prstGeom prst="rect">
              <a:avLst/>
            </a:prstGeom>
          </p:spPr>
          <p:txBody>
            <a:bodyPr anchor="ctr" rtlCol="false" tIns="50800" lIns="50800" bIns="50800" rIns="50800"/>
            <a:lstStyle/>
            <a:p>
              <a:pPr algn="ctr">
                <a:lnSpc>
                  <a:spcPts val="2659"/>
                </a:lnSpc>
              </a:pPr>
            </a:p>
          </p:txBody>
        </p:sp>
      </p:grpSp>
      <p:sp>
        <p:nvSpPr>
          <p:cNvPr name="TextBox 14" id="14"/>
          <p:cNvSpPr txBox="true"/>
          <p:nvPr/>
        </p:nvSpPr>
        <p:spPr>
          <a:xfrm rot="0">
            <a:off x="17736317" y="9669577"/>
            <a:ext cx="382236" cy="370840"/>
          </a:xfrm>
          <a:prstGeom prst="rect">
            <a:avLst/>
          </a:prstGeom>
        </p:spPr>
        <p:txBody>
          <a:bodyPr anchor="t" rtlCol="false" tIns="0" lIns="0" bIns="0" rIns="0">
            <a:spAutoFit/>
          </a:bodyPr>
          <a:lstStyle/>
          <a:p>
            <a:pPr algn="l">
              <a:lnSpc>
                <a:spcPts val="2659"/>
              </a:lnSpc>
              <a:spcBef>
                <a:spcPct val="0"/>
              </a:spcBef>
            </a:pPr>
            <a:r>
              <a:rPr lang="en-US" b="true" sz="1899">
                <a:solidFill>
                  <a:srgbClr val="0F28EC"/>
                </a:solidFill>
                <a:latin typeface="Agrandir Bold"/>
                <a:ea typeface="Agrandir Bold"/>
                <a:cs typeface="Agrandir Bold"/>
                <a:sym typeface="Agrandir Bold"/>
              </a:rPr>
              <a:t>15</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DAHCSsF7fPQ</dc:identifier>
  <dcterms:modified xsi:type="dcterms:W3CDTF">2011-08-01T06:04:30Z</dcterms:modified>
  <cp:revision>1</cp:revision>
  <dc:title>GangnamSign</dc:title>
</cp:coreProperties>
</file>